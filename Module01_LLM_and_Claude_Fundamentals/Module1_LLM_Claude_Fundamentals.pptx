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1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notesMasterIdLst>
    <p:notesMasterId r:id="rId5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notesMaster" Target="notesMasters/notesMaster1.xml"/><Relationship Id="rId51" Type="http://schemas.openxmlformats.org/officeDocument/2006/relationships/presProps" Target="presProps.xml"/><Relationship Id="rId52" Type="http://schemas.openxmlformats.org/officeDocument/2006/relationships/viewProps" Target="viewProps.xml"/><Relationship Id="rId53" Type="http://schemas.openxmlformats.org/officeDocument/2006/relationships/theme" Target="theme/theme1.xml"/><Relationship Id="rId5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A44"/>
                </a:solidFill>
                <a:latin typeface="Cambria"/>
              </a:defRPr>
            </a:pPr>
            <a:r>
              <a:rPr sz="1400" b="0" i="0" u="none" strike="noStrike">
                <a:solidFill>
                  <a:srgbClr val="1F2A44"/>
                </a:solidFill>
                <a:latin typeface="Cambria"/>
              </a:rPr>
              <a:t>Price per million tokens (USD), Sep 2026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Input</c:v>
                </c:pt>
              </c:strCache>
            </c:strRef>
          </c:tx>
          <c:spPr>
            <a:solidFill>
              <a:srgbClr val="1F2A44"/>
            </a:solidFill>
            <a:effectLst/>
          </c:spPr>
          <c:invertIfNegative val="0"/>
          <c:dLbls>
            <c:numFmt formatCode="$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A44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Haiku 4.5</c:v>
                  </c:pt>
                  <c:pt idx="1">
                    <c:v>Sonnet 5.5</c:v>
                  </c:pt>
                  <c:pt idx="2">
                    <c:v>Opus 5.5</c:v>
                  </c:pt>
                  <c:pt idx="3">
                    <c:v>Fable 5.1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Output</c:v>
                </c:pt>
              </c:strCache>
            </c:strRef>
          </c:tx>
          <c:spPr>
            <a:solidFill>
              <a:srgbClr val="E07A5F"/>
            </a:solidFill>
            <a:effectLst/>
          </c:spPr>
          <c:invertIfNegative val="0"/>
          <c:dLbls>
            <c:numFmt formatCode="$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A44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Haiku 4.5</c:v>
                  </c:pt>
                  <c:pt idx="1">
                    <c:v>Sonnet 5.5</c:v>
                  </c:pt>
                  <c:pt idx="2">
                    <c:v>Opus 5.5</c:v>
                  </c:pt>
                  <c:pt idx="3">
                    <c:v>Fable 5.1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</c:v>
                </c:pt>
                <c:pt idx="1">
                  <c:v>10</c:v>
                </c:pt>
                <c:pt idx="2">
                  <c:v>20</c:v>
                </c:pt>
                <c:pt idx="3">
                  <c:v>50</c:v>
                </c:pt>
              </c:numCache>
            </c:numRef>
          </c:val>
        </c:ser>
        <c:dLbls>
          <c:numFmt formatCode="$0" sourceLinked="0"/>
          <c:txPr>
            <a:bodyPr/>
            <a:lstStyle/>
            <a:p>
              <a:pPr>
                <a:defRPr b="0" i="0" strike="noStrike" sz="1100" u="none">
                  <a:solidFill>
                    <a:srgbClr val="1F2A44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A4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</c:scaling>
        <c:delete val="0"/>
        <c:axPos val="l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numFmt formatCode="$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6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F2A44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1: Title — LLM and Claude Fundamentals.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2: Learning outcomes.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3: Agenda and timings.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4: Section 1 — What is an LLM?.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5: An LLM in one sentence.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6: Next-token prediction.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7: The generation loop (autoregressive generation).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8: Training vs inference.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9: What LLMs are good and bad at.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10: Section 2 — Your first Claude API call.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11: Setup in 3 steps.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12: CODE — hello_claude.py (live demo).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13: Anatomy of the response.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14: Section 3 — Tokens.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15: What is a token?.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16: Why tokens matter — cost, speed, limits.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17: Input vs output token prices.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18: CODE — count tokens before you send.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19: CODE — estimate the cost of a call.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20: Section 4 — The context window.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21: The context window = working memory.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22: The API is stateless.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23: CODE — chat loop showing context growth.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24: Bigger isn't always better — context rot, cost, latency.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25: When you hit the limits — stop_reason table.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26: Section 5 — Sampling and non-determinism.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27: How a token gets picked — temperature, top_p, top_k.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28: 2026 update — sampling knobs deprecated.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29: Non-determinism — design for it.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30: CODE — see sampling on Haiku 4.5.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31: Section 6 — Claude models and options.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32: The Claude family today.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33: Picking a model — decision tree.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34: Model IDs and pinning.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35: Thinking — extended vs adaptive.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36: Effort levels spectrum.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37: CODE — adaptive thinking + effort.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38: CODE — extended thinking on Haiku 4.5.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39: Fast mode.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40: Quality / latency / cost triangle.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41: Section 7 — Prompting basics.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42: Zero, one and few-shot prompting.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43: CODE — few-shot classifier.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44: Exam traps — wrong instinct vs better answer.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45: Key takeaways.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46: Lab exercises.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47: Quick check quiz — answers are in the speaker guide only.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48: Next up — Module 2 and homework.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image" Target="../media/image-3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image" Target="../media/image-39-3.png"/><Relationship Id="rId4" Type="http://schemas.openxmlformats.org/officeDocument/2006/relationships/image" Target="../media/image-39-4.png"/><Relationship Id="rId5" Type="http://schemas.openxmlformats.org/officeDocument/2006/relationships/image" Target="../media/image-39-5.png"/><Relationship Id="rId6" Type="http://schemas.openxmlformats.org/officeDocument/2006/relationships/image" Target="../media/image-3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45-2.png"/><Relationship Id="rId3" Type="http://schemas.openxmlformats.org/officeDocument/2006/relationships/image" Target="../media/image-45-3.png"/><Relationship Id="rId4" Type="http://schemas.openxmlformats.org/officeDocument/2006/relationships/image" Target="../media/image-45-4.png"/><Relationship Id="rId5" Type="http://schemas.openxmlformats.org/officeDocument/2006/relationships/image" Target="../media/image-45-5.png"/><Relationship Id="rId6" Type="http://schemas.openxmlformats.org/officeDocument/2006/relationships/image" Target="../media/image-4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97280"/>
            <a:ext cx="5394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and Claude Fundamentals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743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Claude Certified Developer – Foundations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3383280"/>
            <a:ext cx="3200400" cy="420624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19050">
            <a:solidFill>
              <a:srgbClr val="E07A5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3383280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— Foundations · 3 hours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355080" y="1234440"/>
            <a:ext cx="2286000" cy="228600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55080" y="123444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you'll be able to do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3977640" cy="731520"/>
          </a:xfrm>
          <a:prstGeom prst="roundRect">
            <a:avLst>
              <a:gd name="adj" fmla="val 125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12648" y="1280160"/>
            <a:ext cx="457200" cy="45720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18872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how an LLM generates text, one token at a time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709160" y="1143000"/>
            <a:ext cx="3977640" cy="731520"/>
          </a:xfrm>
          <a:prstGeom prst="roundRect">
            <a:avLst>
              <a:gd name="adj" fmla="val 125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64608" y="1280160"/>
            <a:ext cx="457200" cy="45720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64608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486400" y="118872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tokens and estimate cost of a request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2039112"/>
            <a:ext cx="3977640" cy="731520"/>
          </a:xfrm>
          <a:prstGeom prst="roundRect">
            <a:avLst>
              <a:gd name="adj" fmla="val 125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2648" y="2176272"/>
            <a:ext cx="457200" cy="45720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2648" y="2176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2084832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and manage a context window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709160" y="2039112"/>
            <a:ext cx="3977640" cy="731520"/>
          </a:xfrm>
          <a:prstGeom prst="roundRect">
            <a:avLst>
              <a:gd name="adj" fmla="val 125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64608" y="2176272"/>
            <a:ext cx="457200" cy="45720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64608" y="2176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0" y="2084832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sampling and why outputs vary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7200" y="2935224"/>
            <a:ext cx="3977640" cy="731520"/>
          </a:xfrm>
          <a:prstGeom prst="roundRect">
            <a:avLst>
              <a:gd name="adj" fmla="val 125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2648" y="3072384"/>
            <a:ext cx="457200" cy="45720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12648" y="3072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2980944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right Claude model and options (thinking, effort, fast mode)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709160" y="2935224"/>
            <a:ext cx="3977640" cy="731520"/>
          </a:xfrm>
          <a:prstGeom prst="roundRect">
            <a:avLst>
              <a:gd name="adj" fmla="val 125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64608" y="3072384"/>
            <a:ext cx="457200" cy="45720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64608" y="3072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0" y="2980944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zero-, one- and few-shot prompting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57200" y="3931920"/>
            <a:ext cx="8229600" cy="566928"/>
          </a:xfrm>
          <a:prstGeom prst="roundRect">
            <a:avLst>
              <a:gd name="adj" fmla="val 16129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4360" y="4014216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967" y="4118823"/>
            <a:ext cx="193121" cy="193121"/>
          </a:xfrm>
          <a:prstGeom prst="rect">
            <a:avLst/>
          </a:prstGeom>
        </p:spPr>
      </p:pic>
      <p:sp>
        <p:nvSpPr>
          <p:cNvPr id="30" name="Text 27"/>
          <p:cNvSpPr txBox="1"/>
          <p:nvPr/>
        </p:nvSpPr>
        <p:spPr>
          <a:xfrm>
            <a:off x="1143000" y="393192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Exam: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5 — LLM Fundamentals 5.2% + Model Selection 2.7%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2560320" cy="914400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1344168"/>
            <a:ext cx="512064" cy="51206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3441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1430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LLM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91840" y="1143000"/>
            <a:ext cx="2560320" cy="914400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56432" y="1344168"/>
            <a:ext cx="512064" cy="51206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56432" y="13441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114800" y="11430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+ first API call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15m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26480" y="1143000"/>
            <a:ext cx="2560320" cy="914400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91072" y="1344168"/>
            <a:ext cx="512064" cy="51206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91072" y="13441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11430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25m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286000"/>
            <a:ext cx="25603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8A9CC0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621792" y="2487168"/>
            <a:ext cx="512064" cy="512064"/>
          </a:xfrm>
          <a:prstGeom prst="ellipse">
            <a:avLst/>
          </a:prstGeom>
          <a:solidFill>
            <a:srgbClr val="4F6390"/>
          </a:solidFill>
          <a:ln w="6350">
            <a:solidFill>
              <a:srgbClr val="4F6390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929" y="2620305"/>
            <a:ext cx="245791" cy="245791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280160" y="22860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</a:t>
            </a:r>
            <a:endParaRPr lang="en-US" sz="1400" dirty="0"/>
          </a:p>
          <a:p>
            <a:pPr indent="0" marL="0">
              <a:buNone/>
            </a:pPr>
            <a:r>
              <a:rPr lang="en-US" sz="130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10m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3291840" y="2286000"/>
            <a:ext cx="2560320" cy="914400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456432" y="2487168"/>
            <a:ext cx="512064" cy="51206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456432" y="24871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4114800" y="22860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25m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6126480" y="2286000"/>
            <a:ext cx="2560320" cy="914400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291072" y="2487168"/>
            <a:ext cx="512064" cy="51206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291072" y="24871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6949440" y="22860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&amp; non-determinism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20m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457200" y="3429000"/>
            <a:ext cx="2560320" cy="914400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21792" y="3630168"/>
            <a:ext cx="512064" cy="51206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21792" y="36301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30" name="Text 27"/>
          <p:cNvSpPr txBox="1"/>
          <p:nvPr/>
        </p:nvSpPr>
        <p:spPr>
          <a:xfrm>
            <a:off x="1280160" y="34290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models &amp; options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30m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3291840" y="3429000"/>
            <a:ext cx="2560320" cy="914400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456432" y="3630168"/>
            <a:ext cx="512064" cy="51206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3456432" y="36301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800" dirty="0"/>
          </a:p>
        </p:txBody>
      </p:sp>
      <p:sp>
        <p:nvSpPr>
          <p:cNvPr id="34" name="Text 31"/>
          <p:cNvSpPr txBox="1"/>
          <p:nvPr/>
        </p:nvSpPr>
        <p:spPr>
          <a:xfrm>
            <a:off x="4114800" y="34290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 basics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15m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6126480" y="3429000"/>
            <a:ext cx="2560320" cy="914400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291072" y="3630168"/>
            <a:ext cx="512064" cy="51206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291072" y="36301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8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34290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traps + quiz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15m</a:t>
            </a:r>
            <a:endParaRPr lang="en-US" sz="1400" dirty="0"/>
          </a:p>
        </p:txBody>
      </p:sp>
      <p:sp>
        <p:nvSpPr>
          <p:cNvPr id="39" name="Text 36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6868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6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37744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an LLM?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4160520"/>
            <a:ext cx="182880" cy="18288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4984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44168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73352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02536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31720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60904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90088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LLM in one sentence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566928" cy="56692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601" y="1336121"/>
            <a:ext cx="272125" cy="27212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34440" y="1097280"/>
            <a:ext cx="7452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Large Language Model predicts the next token, given all the tokens before it.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457200" y="2286000"/>
            <a:ext cx="2560320" cy="2194560"/>
          </a:xfrm>
          <a:prstGeom prst="roundRect">
            <a:avLst>
              <a:gd name="adj" fmla="val 4167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85800" y="2514600"/>
            <a:ext cx="603504" cy="60350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711" y="2671511"/>
            <a:ext cx="289682" cy="28968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85800" y="32461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Large</a:t>
            </a:r>
            <a:endParaRPr lang="en-US" sz="2200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365760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billions of parameters, trained on huge text + code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3291840" y="2286000"/>
            <a:ext cx="2560320" cy="2194560"/>
          </a:xfrm>
          <a:prstGeom prst="roundRect">
            <a:avLst>
              <a:gd name="adj" fmla="val 4167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520440" y="2514600"/>
            <a:ext cx="603504" cy="60350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7351" y="2671511"/>
            <a:ext cx="289682" cy="28968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520440" y="32461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Language</a:t>
            </a:r>
            <a:endParaRPr lang="en-US" sz="2200" dirty="0"/>
          </a:p>
        </p:txBody>
      </p:sp>
      <p:sp>
        <p:nvSpPr>
          <p:cNvPr id="15" name="Text 10"/>
          <p:cNvSpPr txBox="1"/>
          <p:nvPr/>
        </p:nvSpPr>
        <p:spPr>
          <a:xfrm>
            <a:off x="3520440" y="365760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in, text out (plus images/PDFs for Claude)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6126480" y="2286000"/>
            <a:ext cx="2560320" cy="2194560"/>
          </a:xfrm>
          <a:prstGeom prst="roundRect">
            <a:avLst>
              <a:gd name="adj" fmla="val 4167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355080" y="2514600"/>
            <a:ext cx="603504" cy="60350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1991" y="2671511"/>
            <a:ext cx="289682" cy="28968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355080" y="32461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2200" dirty="0"/>
          </a:p>
        </p:txBody>
      </p:sp>
      <p:sp>
        <p:nvSpPr>
          <p:cNvPr id="20" name="Text 14"/>
          <p:cNvSpPr txBox="1"/>
          <p:nvPr/>
        </p:nvSpPr>
        <p:spPr>
          <a:xfrm>
            <a:off x="6355080" y="365760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learned function, not a database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Next-token prediction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82880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965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24028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capital of France is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91840" y="2514600"/>
            <a:ext cx="548640" cy="0"/>
          </a:xfrm>
          <a:prstGeom prst="line">
            <a:avLst/>
          </a:prstGeom>
          <a:noFill/>
          <a:ln w="31750">
            <a:solidFill>
              <a:srgbClr val="E07A5F"/>
            </a:solidFill>
            <a:prstDash val="solid"/>
            <a:tailEnd type="triangle"/>
          </a:ln>
        </p:spPr>
      </p:sp>
      <p:sp>
        <p:nvSpPr>
          <p:cNvPr id="7" name="Text 5"/>
          <p:cNvSpPr txBox="1"/>
          <p:nvPr/>
        </p:nvSpPr>
        <p:spPr>
          <a:xfrm>
            <a:off x="3931920" y="123444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Paris"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257800" y="1261872"/>
            <a:ext cx="2523744" cy="329184"/>
          </a:xfrm>
          <a:prstGeom prst="roundRect">
            <a:avLst>
              <a:gd name="adj" fmla="val 16667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872984" y="123444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931920" y="178308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a"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257800" y="1810512"/>
            <a:ext cx="82296" cy="329184"/>
          </a:xfrm>
          <a:prstGeom prst="roundRect">
            <a:avLst>
              <a:gd name="adj" fmla="val 50000"/>
            </a:avLst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31536" y="178308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931920" y="233172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the"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257800" y="2359152"/>
            <a:ext cx="54864" cy="329184"/>
          </a:xfrm>
          <a:prstGeom prst="roundRect">
            <a:avLst>
              <a:gd name="adj" fmla="val 50000"/>
            </a:avLst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04104" y="23317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931920" y="288036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located"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257800" y="2907792"/>
            <a:ext cx="36576" cy="329184"/>
          </a:xfrm>
          <a:prstGeom prst="roundRect">
            <a:avLst>
              <a:gd name="adj" fmla="val 50000"/>
            </a:avLst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385816" y="288036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931920" y="342900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(other)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257800" y="3456432"/>
            <a:ext cx="54864" cy="329184"/>
          </a:xfrm>
          <a:prstGeom prst="roundRect">
            <a:avLst>
              <a:gd name="adj" fmla="val 50000"/>
            </a:avLst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04104" y="342900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outputs a probability for every token in its vocabulary. Numbers are illustrative.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generation loop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194560" cy="868680"/>
          </a:xfrm>
          <a:prstGeom prst="roundRect">
            <a:avLst>
              <a:gd name="adj" fmla="val 10526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389888"/>
            <a:ext cx="457200" cy="45720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89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18872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in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(prompt so far)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83280" y="1188720"/>
            <a:ext cx="2194560" cy="868680"/>
          </a:xfrm>
          <a:prstGeom prst="roundRect">
            <a:avLst>
              <a:gd name="adj" fmla="val 10526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20440" y="1389888"/>
            <a:ext cx="457200" cy="45720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20440" y="1389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114800" y="118872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computes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probabilities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383280" y="2788920"/>
            <a:ext cx="2194560" cy="868680"/>
          </a:xfrm>
          <a:prstGeom prst="roundRect">
            <a:avLst>
              <a:gd name="adj" fmla="val 10526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20440" y="2990088"/>
            <a:ext cx="457200" cy="45720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20440" y="2990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114800" y="278892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token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(sampling)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788920"/>
            <a:ext cx="2194560" cy="868680"/>
          </a:xfrm>
          <a:prstGeom prst="roundRect">
            <a:avLst>
              <a:gd name="adj" fmla="val 10526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2990088"/>
            <a:ext cx="457200" cy="45720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" y="2990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278892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it to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text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697480" y="1623060"/>
            <a:ext cx="640080" cy="0"/>
          </a:xfrm>
          <a:prstGeom prst="line">
            <a:avLst/>
          </a:prstGeom>
          <a:noFill/>
          <a:ln w="25400">
            <a:solidFill>
              <a:srgbClr val="1F2A44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480560" y="2103120"/>
            <a:ext cx="0" cy="640080"/>
          </a:xfrm>
          <a:prstGeom prst="line">
            <a:avLst/>
          </a:prstGeom>
          <a:noFill/>
          <a:ln w="25400">
            <a:solidFill>
              <a:srgbClr val="1F2A44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 flipH="1">
            <a:off x="2697480" y="3223260"/>
            <a:ext cx="640080" cy="0"/>
          </a:xfrm>
          <a:prstGeom prst="line">
            <a:avLst/>
          </a:prstGeom>
          <a:noFill/>
          <a:ln w="25400">
            <a:solidFill>
              <a:srgbClr val="1F2A44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 flipV="1">
            <a:off x="1554480" y="2103120"/>
            <a:ext cx="0" cy="640080"/>
          </a:xfrm>
          <a:prstGeom prst="line">
            <a:avLst/>
          </a:prstGeom>
          <a:noFill/>
          <a:ln w="25400">
            <a:solidFill>
              <a:srgbClr val="1F2A44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2788920" y="2212848"/>
            <a:ext cx="457200" cy="457200"/>
          </a:xfrm>
          <a:prstGeom prst="ellipse">
            <a:avLst/>
          </a:prstGeom>
          <a:solidFill>
            <a:srgbClr val="4F6390"/>
          </a:solidFill>
          <a:ln w="6350">
            <a:solidFill>
              <a:srgbClr val="4F6390"/>
            </a:solidFill>
            <a:prstDash val="solid"/>
          </a:ln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07792" y="2331720"/>
            <a:ext cx="219456" cy="219456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5623560" y="3223260"/>
            <a:ext cx="411480" cy="0"/>
          </a:xfrm>
          <a:prstGeom prst="line">
            <a:avLst/>
          </a:prstGeom>
          <a:noFill/>
          <a:ln w="31750">
            <a:solidFill>
              <a:srgbClr val="E07A5F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6080760" y="2468880"/>
            <a:ext cx="260604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22225">
            <a:solidFill>
              <a:srgbClr val="E07A5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263640" y="2542032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when: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turn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max_tokens reached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sequence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457200" y="4023360"/>
            <a:ext cx="8229600" cy="566928"/>
          </a:xfrm>
          <a:prstGeom prst="roundRect">
            <a:avLst>
              <a:gd name="adj" fmla="val 16129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85800" y="402336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called </a:t>
            </a:r>
            <a:pPr indent="0" marL="0">
              <a:buNone/>
            </a:pPr>
            <a:r>
              <a:rPr lang="en-US" sz="15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autoregressive generation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every output token becomes input for the next.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vs inference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77640" cy="2743200"/>
          </a:xfrm>
          <a:prstGeom prst="roundRect">
            <a:avLst>
              <a:gd name="adj" fmla="val 3333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280160"/>
            <a:ext cx="530352" cy="530352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3692" y="1418052"/>
            <a:ext cx="254569" cy="25456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26187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15819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by Anthropic, once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011680"/>
            <a:ext cx="3520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Pre-training on large text/code corpus → learns language, facts, reasoning patterns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Post-training (RLHF, Constitutional AI) → helpful, honest, harmless assistant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Ends at a knowledge cutoff date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709160" y="1097280"/>
            <a:ext cx="3977640" cy="2743200"/>
          </a:xfrm>
          <a:prstGeom prst="roundRect">
            <a:avLst>
              <a:gd name="adj" fmla="val 3333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937760" y="1280160"/>
            <a:ext cx="530352" cy="530352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5652" y="141805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623560" y="126187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INFERENCE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5623560" y="15819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you, every API call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4983480" y="2011680"/>
            <a:ext cx="3520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frozen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uses only its training + what's in the context window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pay per token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457200" y="4023360"/>
            <a:ext cx="822960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22225">
            <a:solidFill>
              <a:srgbClr val="E07A5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94360" y="4105656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967" y="4210263"/>
            <a:ext cx="193121" cy="193121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143000" y="402336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does not learn from your API calls. To give it new knowledge, put it in the prompt.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LLMs are good and bad at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77640" cy="2971800"/>
          </a:xfrm>
          <a:prstGeom prst="roundRect">
            <a:avLst>
              <a:gd name="adj" fmla="val 3077"/>
            </a:avLst>
          </a:prstGeom>
          <a:solidFill>
            <a:srgbClr val="E6F4EC"/>
          </a:solidFill>
          <a:ln w="6350">
            <a:solidFill>
              <a:srgbClr val="E6F4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709160" y="1097280"/>
            <a:ext cx="3977640" cy="2971800"/>
          </a:xfrm>
          <a:prstGeom prst="roundRect">
            <a:avLst>
              <a:gd name="adj" fmla="val 3077"/>
            </a:avLst>
          </a:prstGeom>
          <a:solidFill>
            <a:srgbClr val="FBE9E7"/>
          </a:solidFill>
          <a:ln w="6350">
            <a:solidFill>
              <a:srgbClr val="FBE9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252728"/>
            <a:ext cx="420624" cy="420624"/>
          </a:xfrm>
          <a:prstGeom prst="ellipse">
            <a:avLst/>
          </a:prstGeom>
          <a:solidFill>
            <a:srgbClr val="2E8B57"/>
          </a:solidFill>
          <a:ln w="6350">
            <a:solidFill>
              <a:srgbClr val="2E8B5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7730" y="1362090"/>
            <a:ext cx="201900" cy="2019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910328" y="1252728"/>
            <a:ext cx="420624" cy="420624"/>
          </a:xfrm>
          <a:prstGeom prst="ellipse">
            <a:avLst/>
          </a:prstGeom>
          <a:solidFill>
            <a:srgbClr val="C0392B"/>
          </a:solidFill>
          <a:ln w="6350">
            <a:solidFill>
              <a:srgbClr val="C0392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9690" y="1362090"/>
            <a:ext cx="201900" cy="2019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07008" y="125272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8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Good at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5458968" y="125272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Weak at</a:t>
            </a:r>
            <a:endParaRPr lang="en-US" sz="20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901952"/>
            <a:ext cx="182880" cy="18288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097280" y="182880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&amp; summarising</a:t>
            </a:r>
            <a:endParaRPr lang="en-US" sz="15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2258568"/>
            <a:ext cx="182880" cy="18288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097280" y="218541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5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2615184"/>
            <a:ext cx="182880" cy="18288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97280" y="254203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over provided docs</a:t>
            </a:r>
            <a:endParaRPr lang="en-US" sz="150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" y="2971800"/>
            <a:ext cx="182880" cy="182880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1097280" y="289864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&amp; classification</a:t>
            </a:r>
            <a:endParaRPr lang="en-US" sz="1500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808" y="3328416"/>
            <a:ext cx="182880" cy="182880"/>
          </a:xfrm>
          <a:prstGeom prst="rect">
            <a:avLst/>
          </a:prstGeom>
        </p:spPr>
      </p:pic>
      <p:sp>
        <p:nvSpPr>
          <p:cNvPr id="20" name="Text 11"/>
          <p:cNvSpPr txBox="1"/>
          <p:nvPr/>
        </p:nvSpPr>
        <p:spPr>
          <a:xfrm>
            <a:off x="1097280" y="325526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</a:t>
            </a:r>
            <a:endParaRPr lang="en-US" sz="1500" dirty="0"/>
          </a:p>
        </p:txBody>
      </p:sp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9808" y="3685032"/>
            <a:ext cx="182880" cy="182880"/>
          </a:xfrm>
          <a:prstGeom prst="rect">
            <a:avLst/>
          </a:prstGeom>
        </p:spPr>
      </p:pic>
      <p:sp>
        <p:nvSpPr>
          <p:cNvPr id="22" name="Text 12"/>
          <p:cNvSpPr txBox="1"/>
          <p:nvPr/>
        </p:nvSpPr>
        <p:spPr>
          <a:xfrm>
            <a:off x="1097280" y="361188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following instructions</a:t>
            </a:r>
            <a:endParaRPr lang="en-US" sz="1500" dirty="0"/>
          </a:p>
        </p:txBody>
      </p:sp>
      <p:pic>
        <p:nvPicPr>
          <p:cNvPr id="2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01768" y="1975104"/>
            <a:ext cx="182880" cy="182880"/>
          </a:xfrm>
          <a:prstGeom prst="rect">
            <a:avLst/>
          </a:prstGeom>
        </p:spPr>
      </p:pic>
      <p:sp>
        <p:nvSpPr>
          <p:cNvPr id="24" name="Text 13"/>
          <p:cNvSpPr txBox="1"/>
          <p:nvPr/>
        </p:nvSpPr>
        <p:spPr>
          <a:xfrm>
            <a:off x="5349240" y="182880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arithmetic on huge numbers without tools</a:t>
            </a:r>
            <a:endParaRPr lang="en-US" sz="1500" dirty="0"/>
          </a:p>
        </p:txBody>
      </p:sp>
      <p:pic>
        <p:nvPicPr>
          <p:cNvPr id="2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01768" y="2505456"/>
            <a:ext cx="182880" cy="182880"/>
          </a:xfrm>
          <a:prstGeom prst="rect">
            <a:avLst/>
          </a:prstGeom>
        </p:spPr>
      </p:pic>
      <p:sp>
        <p:nvSpPr>
          <p:cNvPr id="26" name="Text 14"/>
          <p:cNvSpPr txBox="1"/>
          <p:nvPr/>
        </p:nvSpPr>
        <p:spPr>
          <a:xfrm>
            <a:off x="5349240" y="2359152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 after cutoff</a:t>
            </a:r>
            <a:endParaRPr lang="en-US" sz="1500" dirty="0"/>
          </a:p>
        </p:txBody>
      </p:sp>
      <p:pic>
        <p:nvPicPr>
          <p:cNvPr id="2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01768" y="3035808"/>
            <a:ext cx="182880" cy="182880"/>
          </a:xfrm>
          <a:prstGeom prst="rect">
            <a:avLst/>
          </a:prstGeom>
        </p:spPr>
      </p:pic>
      <p:sp>
        <p:nvSpPr>
          <p:cNvPr id="28" name="Text 15"/>
          <p:cNvSpPr txBox="1"/>
          <p:nvPr/>
        </p:nvSpPr>
        <p:spPr>
          <a:xfrm>
            <a:off x="5349240" y="2889504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guaranteed determinism</a:t>
            </a:r>
            <a:endParaRPr lang="en-US" sz="1500" dirty="0"/>
          </a:p>
        </p:txBody>
      </p:sp>
      <p:pic>
        <p:nvPicPr>
          <p:cNvPr id="2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01768" y="3566160"/>
            <a:ext cx="182880" cy="182880"/>
          </a:xfrm>
          <a:prstGeom prst="rect">
            <a:avLst/>
          </a:prstGeom>
        </p:spPr>
      </p:pic>
      <p:sp>
        <p:nvSpPr>
          <p:cNvPr id="30" name="Text 16"/>
          <p:cNvSpPr txBox="1"/>
          <p:nvPr/>
        </p:nvSpPr>
        <p:spPr>
          <a:xfrm>
            <a:off x="5349240" y="3419856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what it doesn't know (hallucination)</a:t>
            </a:r>
            <a:endParaRPr lang="en-US" sz="1500" dirty="0"/>
          </a:p>
        </p:txBody>
      </p:sp>
      <p:sp>
        <p:nvSpPr>
          <p:cNvPr id="31" name="Shape 17"/>
          <p:cNvSpPr/>
          <p:nvPr/>
        </p:nvSpPr>
        <p:spPr>
          <a:xfrm>
            <a:off x="457200" y="4206240"/>
            <a:ext cx="8229600" cy="502920"/>
          </a:xfrm>
          <a:prstGeom prst="roundRect">
            <a:avLst>
              <a:gd name="adj" fmla="val 18182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32" name="Shape 18"/>
          <p:cNvSpPr/>
          <p:nvPr/>
        </p:nvSpPr>
        <p:spPr>
          <a:xfrm>
            <a:off x="576072" y="4256532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33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0679" y="4361139"/>
            <a:ext cx="193121" cy="193121"/>
          </a:xfrm>
          <a:prstGeom prst="rect">
            <a:avLst/>
          </a:prstGeom>
        </p:spPr>
      </p:pic>
      <p:sp>
        <p:nvSpPr>
          <p:cNvPr id="34" name="Text 19"/>
          <p:cNvSpPr txBox="1"/>
          <p:nvPr/>
        </p:nvSpPr>
        <p:spPr>
          <a:xfrm>
            <a:off x="1143000" y="420624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weaknesses with tools, retrieval and validation — not bigger models.</a:t>
            </a:r>
            <a:endParaRPr lang="en-US" sz="1500" dirty="0"/>
          </a:p>
        </p:txBody>
      </p:sp>
      <p:sp>
        <p:nvSpPr>
          <p:cNvPr id="35" name="Text 20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6868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6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37744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first Claude API call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4984" y="4160520"/>
            <a:ext cx="182880" cy="18288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44168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73352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02536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31720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60904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90088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Setup in 3 steps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271016"/>
            <a:ext cx="548640" cy="54864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2710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188720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an API key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2185416"/>
            <a:ext cx="548640" cy="54864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21854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103120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the SDK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57200" y="3200400"/>
            <a:ext cx="548640" cy="54864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30175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key as env var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474720" y="1188720"/>
            <a:ext cx="5212080" cy="713232"/>
          </a:xfrm>
          <a:prstGeom prst="roundRect">
            <a:avLst>
              <a:gd name="adj" fmla="val 12821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703320" y="1188720"/>
            <a:ext cx="4846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platform.claude.com</a:t>
            </a:r>
            <a:pPr indent="0" marL="0">
              <a:buNone/>
            </a:pPr>
            <a:r>
              <a:rPr lang="en-US" sz="16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API Keys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474720" y="2103120"/>
            <a:ext cx="5212080" cy="713232"/>
          </a:xfrm>
          <a:prstGeom prst="roundRect">
            <a:avLst>
              <a:gd name="adj" fmla="val 10256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474720" y="2103120"/>
            <a:ext cx="5212080" cy="713232"/>
          </a:xfrm>
          <a:prstGeom prst="rect">
            <a:avLst/>
          </a:prstGeom>
          <a:noFill/>
          <a:ln/>
        </p:spPr>
        <p:txBody>
          <a:bodyPr wrap="square" lIns="164592" tIns="228600" rIns="164592" bIns="22860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anthropic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474720" y="3017520"/>
            <a:ext cx="5212080" cy="9144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474720" y="3017520"/>
            <a:ext cx="5212080" cy="914400"/>
          </a:xfrm>
          <a:prstGeom prst="rect">
            <a:avLst/>
          </a:prstGeom>
          <a:noFill/>
          <a:ln/>
        </p:spPr>
        <p:txBody>
          <a:bodyPr wrap="square" lIns="164592" tIns="256032" rIns="164592" bIns="256032" rtlCol="0" anchor="t"/>
          <a:lstStyle/>
          <a:p>
            <a:pPr indent="0" marL="0">
              <a:lnSpc>
                <a:spcPts val="126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ANTHROPIC_API_KEY="sk-ant-..."</a:t>
            </a:r>
            <a:endParaRPr lang="en-US" sz="1050" dirty="0"/>
          </a:p>
          <a:p>
            <a:pPr indent="0" marL="0">
              <a:lnSpc>
                <a:spcPts val="126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setx ANTHROPIC_API_KEY "sk-ant-..."   </a:t>
            </a:r>
            <a:pPr indent="0" marL="0">
              <a:lnSpc>
                <a:spcPts val="1260"/>
              </a:lnSpc>
              <a:buNone/>
            </a:pPr>
            <a:r>
              <a:rPr lang="en-US" sz="10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Windows PowerShell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4160520"/>
            <a:ext cx="4937760" cy="502920"/>
          </a:xfrm>
          <a:prstGeom prst="roundRect">
            <a:avLst>
              <a:gd name="adj" fmla="val 49091"/>
            </a:avLst>
          </a:prstGeom>
          <a:solidFill>
            <a:srgbClr val="FBE9E7"/>
          </a:solidFill>
          <a:ln w="15875">
            <a:solidFill>
              <a:srgbClr val="C0392B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4265676"/>
            <a:ext cx="292608" cy="292608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1097280" y="41605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hard-code keys or commit them to Git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hello_claude.py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863840" y="429768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0" y="42976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6263640" cy="365760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1208" y="2023720"/>
            <a:ext cx="6135624" cy="670560"/>
          </a:xfrm>
          <a:prstGeom prst="roundRect">
            <a:avLst>
              <a:gd name="adj" fmla="val 5455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051560"/>
            <a:ext cx="6263640" cy="3657600"/>
          </a:xfrm>
          <a:prstGeom prst="rect">
            <a:avLst/>
          </a:prstGeom>
          <a:noFill/>
          <a:ln/>
        </p:spPr>
        <p:txBody>
          <a:bodyPr wrap="square" lIns="164592" tIns="128016" rIns="164592" bIns="128016" rtlCol="0" anchor="t"/>
          <a:lstStyle/>
          <a:p>
            <a:pPr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anthropic</a:t>
            </a:r>
            <a:endParaRPr lang="en-US" sz="11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= anthropic.Anthropic() </a:t>
            </a:r>
            <a:pPr indent="0" marL="0">
              <a:lnSpc>
                <a:spcPts val="1320"/>
              </a:lnSpc>
              <a:buNone/>
            </a:pPr>
            <a:r>
              <a:rPr lang="en-US" sz="11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reads ANTHROPIC_API_KEY</a:t>
            </a:r>
            <a:endParaRPr lang="en-US" sz="11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 = client.messages.create(</a:t>
            </a:r>
            <a:endParaRPr lang="en-US" sz="11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model="claude-sonnet-5-5",</a:t>
            </a:r>
            <a:endParaRPr lang="en-US" sz="11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max_tokens=1024,</a:t>
            </a:r>
            <a:endParaRPr lang="en-US" sz="11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messages=[</a:t>
            </a:r>
            <a:endParaRPr lang="en-US" sz="11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{"role": "user", "content": "Explain an LLM in one sentence."}</a:t>
            </a:r>
            <a:endParaRPr lang="en-US" sz="11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],</a:t>
            </a:r>
            <a:endParaRPr lang="en-US" sz="11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block in response.content:     </a:t>
            </a:r>
            <a:pPr indent="0" marL="0">
              <a:lnSpc>
                <a:spcPts val="1320"/>
              </a:lnSpc>
              <a:buNone/>
            </a:pPr>
            <a:r>
              <a:rPr lang="en-US" sz="11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read blocks by type</a:t>
            </a:r>
            <a:endParaRPr lang="en-US" sz="11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block.type == "text":</a:t>
            </a:r>
            <a:endParaRPr lang="en-US" sz="11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print(block.text)</a:t>
            </a:r>
            <a:endParaRPr lang="en-US" sz="11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print(response.stop_reason) </a:t>
            </a:r>
            <a:pPr indent="0" marL="0">
              <a:lnSpc>
                <a:spcPts val="1320"/>
              </a:lnSpc>
              <a:buNone/>
            </a:pPr>
            <a:r>
              <a:rPr lang="en-US" sz="11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end_turn</a:t>
            </a:r>
            <a:endParaRPr lang="en-US" sz="11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print(response.usage)       </a:t>
            </a:r>
            <a:pPr indent="0" marL="0">
              <a:lnSpc>
                <a:spcPts val="1320"/>
              </a:lnSpc>
              <a:buNone/>
            </a:pPr>
            <a:r>
              <a:rPr lang="en-US" sz="11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input_tokens, output_tokens ...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949440" y="1188720"/>
            <a:ext cx="1737360" cy="777240"/>
          </a:xfrm>
          <a:prstGeom prst="roundRect">
            <a:avLst>
              <a:gd name="adj" fmla="val 11765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086600" y="118872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which Claude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949440" y="2121408"/>
            <a:ext cx="1737360" cy="777240"/>
          </a:xfrm>
          <a:prstGeom prst="roundRect">
            <a:avLst>
              <a:gd name="adj" fmla="val 11765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086600" y="2121408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max_tokens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output ceiling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949440" y="3054096"/>
            <a:ext cx="1737360" cy="777240"/>
          </a:xfrm>
          <a:prstGeom prst="roundRect">
            <a:avLst>
              <a:gd name="adj" fmla="val 11765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086600" y="3054096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the conversation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the response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5120640" cy="3429000"/>
          </a:xfrm>
          <a:prstGeom prst="roundRect">
            <a:avLst>
              <a:gd name="adj" fmla="val 2133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21208" y="2372762"/>
            <a:ext cx="4992624" cy="635318"/>
          </a:xfrm>
          <a:prstGeom prst="roundRect">
            <a:avLst>
              <a:gd name="adj" fmla="val 5757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21208" y="3008080"/>
            <a:ext cx="4992624" cy="211773"/>
          </a:xfrm>
          <a:prstGeom prst="roundRect">
            <a:avLst>
              <a:gd name="adj" fmla="val 17271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1208" y="3219852"/>
            <a:ext cx="4992624" cy="211773"/>
          </a:xfrm>
          <a:prstGeom prst="roundRect">
            <a:avLst>
              <a:gd name="adj" fmla="val 17271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097280"/>
            <a:ext cx="5120640" cy="3429000"/>
          </a:xfrm>
          <a:prstGeom prst="rect">
            <a:avLst/>
          </a:prstGeom>
          <a:noFill/>
          <a:ln/>
        </p:spPr>
        <p:txBody>
          <a:bodyPr wrap="square" lIns="164592" tIns="182880" rIns="164592" bIns="182880" rtlCol="0" anchor="t"/>
          <a:lstStyle/>
          <a:p>
            <a:pPr indent="0" marL="0">
              <a:lnSpc>
                <a:spcPts val="1668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ts val="1668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"id": "msg_01...",</a:t>
            </a:r>
            <a:endParaRPr lang="en-US" sz="1150" dirty="0"/>
          </a:p>
          <a:p>
            <a:pPr indent="0" marL="0">
              <a:lnSpc>
                <a:spcPts val="1668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"type": "message",</a:t>
            </a:r>
            <a:endParaRPr lang="en-US" sz="1150" dirty="0"/>
          </a:p>
          <a:p>
            <a:pPr indent="0" marL="0">
              <a:lnSpc>
                <a:spcPts val="1668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"role": "assistant",</a:t>
            </a:r>
            <a:endParaRPr lang="en-US" sz="1150" dirty="0"/>
          </a:p>
          <a:p>
            <a:pPr indent="0" marL="0">
              <a:lnSpc>
                <a:spcPts val="1668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"model": "claude-sonnet-5-5",</a:t>
            </a:r>
            <a:endParaRPr lang="en-US" sz="1150" dirty="0"/>
          </a:p>
          <a:p>
            <a:pPr indent="0" marL="0">
              <a:lnSpc>
                <a:spcPts val="1668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"content": [</a:t>
            </a:r>
            <a:endParaRPr lang="en-US" sz="1150" dirty="0"/>
          </a:p>
          <a:p>
            <a:pPr indent="0" marL="0">
              <a:lnSpc>
                <a:spcPts val="1668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{"type": "text", "text": "An LLM is..."}</a:t>
            </a:r>
            <a:endParaRPr lang="en-US" sz="1150" dirty="0"/>
          </a:p>
          <a:p>
            <a:pPr indent="0" marL="0">
              <a:lnSpc>
                <a:spcPts val="1668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],</a:t>
            </a:r>
            <a:endParaRPr lang="en-US" sz="1150" dirty="0"/>
          </a:p>
          <a:p>
            <a:pPr indent="0" marL="0">
              <a:lnSpc>
                <a:spcPts val="1668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"stop_reason": "end_turn",</a:t>
            </a:r>
            <a:endParaRPr lang="en-US" sz="1150" dirty="0"/>
          </a:p>
          <a:p>
            <a:pPr indent="0" marL="0">
              <a:lnSpc>
                <a:spcPts val="1668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"usage": {"input_tokens": 15, "output_tokens": 38}</a:t>
            </a:r>
            <a:endParaRPr lang="en-US" sz="1150" dirty="0"/>
          </a:p>
          <a:p>
            <a:pPr indent="0" marL="0">
              <a:lnSpc>
                <a:spcPts val="1668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080760" y="114300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5577840" y="1600200"/>
            <a:ext cx="502920" cy="1099365"/>
          </a:xfrm>
          <a:prstGeom prst="line">
            <a:avLst/>
          </a:prstGeom>
          <a:noFill/>
          <a:ln w="22225">
            <a:solidFill>
              <a:srgbClr val="E07A5F"/>
            </a:solidFill>
            <a:prstDash val="solid"/>
            <a:tailEnd type="oval"/>
          </a:ln>
        </p:spPr>
      </p:sp>
      <p:sp>
        <p:nvSpPr>
          <p:cNvPr id="10" name="Text 8"/>
          <p:cNvSpPr txBox="1"/>
          <p:nvPr/>
        </p:nvSpPr>
        <p:spPr>
          <a:xfrm>
            <a:off x="6263640" y="114300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of blocks (may include "thinking" first)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80760" y="233172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5577840" y="2788920"/>
            <a:ext cx="502920" cy="334190"/>
          </a:xfrm>
          <a:prstGeom prst="line">
            <a:avLst/>
          </a:prstGeom>
          <a:noFill/>
          <a:ln w="22225">
            <a:solidFill>
              <a:srgbClr val="E07A5F"/>
            </a:solidFill>
            <a:prstDash val="solid"/>
            <a:tailEnd type="oval"/>
          </a:ln>
        </p:spPr>
      </p:sp>
      <p:sp>
        <p:nvSpPr>
          <p:cNvPr id="13" name="Text 11"/>
          <p:cNvSpPr txBox="1"/>
          <p:nvPr/>
        </p:nvSpPr>
        <p:spPr>
          <a:xfrm>
            <a:off x="6263640" y="233172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stop_reason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stopped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80760" y="352044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577840" y="3334883"/>
            <a:ext cx="502920" cy="642757"/>
          </a:xfrm>
          <a:prstGeom prst="line">
            <a:avLst/>
          </a:prstGeom>
          <a:noFill/>
          <a:ln w="22225">
            <a:solidFill>
              <a:srgbClr val="E07A5F"/>
            </a:solidFill>
            <a:prstDash val="solid"/>
            <a:tailEnd type="oval"/>
          </a:ln>
        </p:spPr>
      </p:sp>
      <p:sp>
        <p:nvSpPr>
          <p:cNvPr id="16" name="Text 14"/>
          <p:cNvSpPr txBox="1"/>
          <p:nvPr/>
        </p:nvSpPr>
        <p:spPr>
          <a:xfrm>
            <a:off x="6263640" y="35204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usage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pay for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6868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6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37744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4984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44168" y="4160520"/>
            <a:ext cx="182880" cy="18288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73352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02536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31720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60904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90088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token?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874520"/>
          </a:xfrm>
          <a:prstGeom prst="roundRect">
            <a:avLst>
              <a:gd name="adj" fmla="val 4878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Tokenization isn't magic!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0" y="1691640"/>
            <a:ext cx="0" cy="228600"/>
          </a:xfrm>
          <a:prstGeom prst="line">
            <a:avLst/>
          </a:prstGeom>
          <a:noFill/>
          <a:ln w="19050">
            <a:solidFill>
              <a:srgbClr val="4F6390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1173480" y="1993392"/>
            <a:ext cx="1127760" cy="512064"/>
          </a:xfrm>
          <a:prstGeom prst="roundRect">
            <a:avLst>
              <a:gd name="adj" fmla="val 25000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73480" y="1993392"/>
            <a:ext cx="112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"Token"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429256" y="1993392"/>
            <a:ext cx="1371600" cy="512064"/>
          </a:xfrm>
          <a:prstGeom prst="roundRect">
            <a:avLst>
              <a:gd name="adj" fmla="val 25000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429256" y="1993392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"ization"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928872" y="1993392"/>
            <a:ext cx="1005840" cy="512064"/>
          </a:xfrm>
          <a:prstGeom prst="roundRect">
            <a:avLst>
              <a:gd name="adj" fmla="val 25000"/>
            </a:avLst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928872" y="1993392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isn"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62728" y="1993392"/>
            <a:ext cx="762000" cy="512064"/>
          </a:xfrm>
          <a:prstGeom prst="roundRect">
            <a:avLst>
              <a:gd name="adj" fmla="val 25000"/>
            </a:avLst>
          </a:prstGeom>
          <a:solidFill>
            <a:srgbClr val="F6D3C8"/>
          </a:solidFill>
          <a:ln w="6350">
            <a:solidFill>
              <a:srgbClr val="F6D3C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62728" y="1993392"/>
            <a:ext cx="76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"'t"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52744" y="1993392"/>
            <a:ext cx="1249680" cy="512064"/>
          </a:xfrm>
          <a:prstGeom prst="roundRect">
            <a:avLst>
              <a:gd name="adj" fmla="val 25000"/>
            </a:avLst>
          </a:prstGeom>
          <a:solidFill>
            <a:srgbClr val="4F6390"/>
          </a:solidFill>
          <a:ln w="6350">
            <a:solidFill>
              <a:srgbClr val="4F639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52744" y="1993392"/>
            <a:ext cx="1249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magic"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30440" y="1993392"/>
            <a:ext cx="640080" cy="512064"/>
          </a:xfrm>
          <a:prstGeom prst="roundRect">
            <a:avLst>
              <a:gd name="adj" fmla="val 25000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30440" y="1993392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"!"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2578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split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200400"/>
            <a:ext cx="365760" cy="36576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3738" y="3295498"/>
            <a:ext cx="175565" cy="175565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1097280" y="320040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token is a chunk of text: a word, part of a word, a symbol or a space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48640" y="3675888"/>
            <a:ext cx="365760" cy="36576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738" y="3770986"/>
            <a:ext cx="175565" cy="175565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1097280" y="367588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read and write tokens, not characters or words</a:t>
            </a:r>
            <a:endParaRPr lang="en-US" sz="1600" dirty="0"/>
          </a:p>
        </p:txBody>
      </p:sp>
      <p:sp>
        <p:nvSpPr>
          <p:cNvPr id="25" name="Shape 21"/>
          <p:cNvSpPr/>
          <p:nvPr/>
        </p:nvSpPr>
        <p:spPr>
          <a:xfrm>
            <a:off x="548640" y="4151376"/>
            <a:ext cx="365760" cy="36576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38" y="4246474"/>
            <a:ext cx="175565" cy="175565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1097280" y="4151376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JSON and non-English text often use more tokens per word</a:t>
            </a:r>
            <a:endParaRPr lang="en-US" sz="1600" dirty="0"/>
          </a:p>
        </p:txBody>
      </p:sp>
      <p:sp>
        <p:nvSpPr>
          <p:cNvPr id="28" name="Text 23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tokens matter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560320" cy="3200400"/>
          </a:xfrm>
          <a:prstGeom prst="roundRect">
            <a:avLst>
              <a:gd name="adj" fmla="val 3571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80160" y="1463040"/>
            <a:ext cx="914400" cy="91440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7904" y="1700784"/>
            <a:ext cx="438912" cy="4389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26060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32004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pay per token, input and output priced separately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291840" y="1188720"/>
            <a:ext cx="2560320" cy="3200400"/>
          </a:xfrm>
          <a:prstGeom prst="roundRect">
            <a:avLst>
              <a:gd name="adj" fmla="val 3571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114800" y="1463040"/>
            <a:ext cx="914400" cy="91440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2544" y="1700784"/>
            <a:ext cx="438912" cy="43891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474720" y="26060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Speed</a:t>
            </a:r>
            <a:endParaRPr lang="en-US" sz="3000" dirty="0"/>
          </a:p>
        </p:txBody>
      </p:sp>
      <p:sp>
        <p:nvSpPr>
          <p:cNvPr id="12" name="Text 8"/>
          <p:cNvSpPr txBox="1"/>
          <p:nvPr/>
        </p:nvSpPr>
        <p:spPr>
          <a:xfrm>
            <a:off x="3520440" y="32004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output tokens = longer wait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6126480" y="1188720"/>
            <a:ext cx="2560320" cy="3200400"/>
          </a:xfrm>
          <a:prstGeom prst="roundRect">
            <a:avLst>
              <a:gd name="adj" fmla="val 3571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949440" y="1463040"/>
            <a:ext cx="914400" cy="91440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7184" y="1700784"/>
            <a:ext cx="438912" cy="43891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309360" y="26060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Limits</a:t>
            </a:r>
            <a:endParaRPr lang="en-US" sz="3000" dirty="0"/>
          </a:p>
        </p:txBody>
      </p:sp>
      <p:sp>
        <p:nvSpPr>
          <p:cNvPr id="17" name="Text 12"/>
          <p:cNvSpPr txBox="1"/>
          <p:nvPr/>
        </p:nvSpPr>
        <p:spPr>
          <a:xfrm>
            <a:off x="6355080" y="32004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 and max_tokens are measured in tokens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vs output tokens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05840"/>
          <a:ext cx="557784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6309360" y="1188720"/>
            <a:ext cx="2377440" cy="2651760"/>
          </a:xfrm>
          <a:prstGeom prst="roundRect">
            <a:avLst>
              <a:gd name="adj" fmla="val 3846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309360" y="128016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5×</a:t>
            </a:r>
            <a:endParaRPr lang="en-US" sz="6000" dirty="0"/>
          </a:p>
        </p:txBody>
      </p:sp>
      <p:sp>
        <p:nvSpPr>
          <p:cNvPr id="6" name="Text 3"/>
          <p:cNvSpPr txBox="1"/>
          <p:nvPr/>
        </p:nvSpPr>
        <p:spPr>
          <a:xfrm>
            <a:off x="6492240" y="233172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costs 5× input on every model → long answers are the expensive part.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5262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platform.claude.com pricing before quoting to clients.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 tokens before you send (free)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863840" y="429768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0" y="42976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5394960" cy="2926080"/>
          </a:xfrm>
          <a:prstGeom prst="roundRect">
            <a:avLst>
              <a:gd name="adj" fmla="val 2500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097280"/>
            <a:ext cx="5394960" cy="2926080"/>
          </a:xfrm>
          <a:prstGeom prst="rect">
            <a:avLst/>
          </a:prstGeom>
          <a:noFill/>
          <a:ln/>
        </p:spPr>
        <p:txBody>
          <a:bodyPr wrap="square" lIns="164592" tIns="128016" rIns="164592" bIns="128016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anthropic</a:t>
            </a:r>
            <a:endParaRPr lang="en-US" sz="1200" dirty="0"/>
          </a:p>
          <a:p>
            <a:pPr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= anthropic.Anthropic()</a:t>
            </a:r>
            <a:endParaRPr lang="en-US" sz="1200" dirty="0"/>
          </a:p>
          <a:p>
            <a:pPr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 = "Tokenization isn't magic!"</a:t>
            </a:r>
            <a:endParaRPr lang="en-US" sz="1200" dirty="0"/>
          </a:p>
          <a:p>
            <a:pPr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model in ["claude-haiku-4-5-20251001",</a:t>
            </a:r>
            <a:endParaRPr lang="en-US" sz="1200" dirty="0"/>
          </a:p>
          <a:p>
            <a:pPr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"claude-sonnet-5-5",</a:t>
            </a:r>
            <a:endParaRPr lang="en-US" sz="1200" dirty="0"/>
          </a:p>
          <a:p>
            <a:pPr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"claude-opus-5-5"]:</a:t>
            </a:r>
            <a:endParaRPr lang="en-US" sz="1200" dirty="0"/>
          </a:p>
          <a:p>
            <a:pPr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 = client.messages.count_tokens(</a:t>
            </a:r>
            <a:endParaRPr lang="en-US" sz="1200" dirty="0"/>
          </a:p>
          <a:p>
            <a:pPr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model=model,</a:t>
            </a:r>
            <a:endParaRPr lang="en-US" sz="1200" dirty="0"/>
          </a:p>
          <a:p>
            <a:pPr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messages=[{"role": "user", "content": text}],</a:t>
            </a:r>
            <a:endParaRPr lang="en-US" sz="1200" dirty="0"/>
          </a:p>
          <a:p>
            <a:pPr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1200" dirty="0"/>
          </a:p>
          <a:p>
            <a:pPr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print(model, count.input_tokens)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26480" y="1097280"/>
            <a:ext cx="2560320" cy="2926080"/>
          </a:xfrm>
          <a:prstGeom prst="roundRect">
            <a:avLst>
              <a:gd name="adj" fmla="val 3571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0" y="1280160"/>
            <a:ext cx="502920" cy="50292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0119" y="1410919"/>
            <a:ext cx="241402" cy="24140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309360" y="1920240"/>
            <a:ext cx="2240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Tokenizers differ: </a:t>
            </a:r>
            <a:pPr indent="0" marL="0"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Opus 4.7+ uses a newer tokenizer (~1–1.35× more tokens for the same text). </a:t>
            </a:r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count per model.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Estimate the cost of a call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863840" y="429768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0" y="42976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5760720" cy="2743200"/>
          </a:xfrm>
          <a:prstGeom prst="roundRect">
            <a:avLst>
              <a:gd name="adj" fmla="val 2667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097280"/>
            <a:ext cx="5760720" cy="2743200"/>
          </a:xfrm>
          <a:prstGeom prst="rect">
            <a:avLst/>
          </a:prstGeom>
          <a:noFill/>
          <a:ln/>
        </p:spPr>
        <p:txBody>
          <a:bodyPr wrap="square" lIns="164592" tIns="128016" rIns="164592" bIns="128016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PRICES = { </a:t>
            </a:r>
            <a:pPr indent="0" marL="0">
              <a:lnSpc>
                <a:spcPts val="144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USD per 1M tokens (input, output)</a:t>
            </a:r>
            <a:endParaRPr lang="en-US" sz="1200" dirty="0"/>
          </a:p>
          <a:p>
            <a:pPr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"claude-haiku-4-5-20251001": (1, 5),</a:t>
            </a:r>
            <a:endParaRPr lang="en-US" sz="1200" dirty="0"/>
          </a:p>
          <a:p>
            <a:pPr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"claude-sonnet-5-5": (2, 10),</a:t>
            </a:r>
            <a:endParaRPr lang="en-US" sz="1200" dirty="0"/>
          </a:p>
          <a:p>
            <a:pPr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"claude-opus-5-5": (4, 20),</a:t>
            </a:r>
            <a:endParaRPr lang="en-US" sz="1200" dirty="0"/>
          </a:p>
          <a:p>
            <a:pPr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cost_usd(model, usage):</a:t>
            </a:r>
            <a:endParaRPr lang="en-US" sz="1200" dirty="0"/>
          </a:p>
          <a:p>
            <a:pPr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p_in, p_out = PRICES[model]</a:t>
            </a:r>
            <a:endParaRPr lang="en-US" sz="1200" dirty="0"/>
          </a:p>
          <a:p>
            <a:pPr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(usage.input_tokens * p_in +</a:t>
            </a:r>
            <a:endParaRPr lang="en-US" sz="1200" dirty="0"/>
          </a:p>
          <a:p>
            <a:pPr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usage.output_tokens * p_out) / 1_000_000</a:t>
            </a:r>
            <a:endParaRPr lang="en-US" sz="1200" dirty="0"/>
          </a:p>
          <a:p>
            <a:pPr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print(f"${cost_usd(response.model, response.usage):.6f}")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92240" y="1097280"/>
            <a:ext cx="2194560" cy="2743200"/>
          </a:xfrm>
          <a:prstGeom prst="roundRect">
            <a:avLst>
              <a:gd name="adj" fmla="val 4167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75120" y="1280160"/>
            <a:ext cx="502920" cy="50292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5879" y="1410919"/>
            <a:ext cx="241402" cy="24140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675120" y="1965960"/>
            <a:ext cx="1874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=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× price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÷ 1,000,000</a:t>
            </a:r>
            <a:endParaRPr lang="en-US" sz="1500" dirty="0"/>
          </a:p>
          <a:p>
            <a:pPr indent="0" marL="0"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and output are priced separately.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6868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6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37744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context window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4984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44168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73352" y="4160520"/>
            <a:ext cx="182880" cy="18288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02536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31720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60904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90088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context window = working memory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the model can see in ONE request — including its own answer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1143000" cy="1005840"/>
          </a:xfrm>
          <a:prstGeom prst="rect">
            <a:avLst/>
          </a:prstGeom>
          <a:solidFill>
            <a:srgbClr val="1F2A4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30352" y="1600200"/>
            <a:ext cx="9966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600200" y="1600200"/>
            <a:ext cx="1234440" cy="1005840"/>
          </a:xfrm>
          <a:prstGeom prst="rect">
            <a:avLst/>
          </a:prstGeom>
          <a:solidFill>
            <a:srgbClr val="34466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673352" y="1600200"/>
            <a:ext cx="10881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definitions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834640" y="1600200"/>
            <a:ext cx="1737360" cy="1005840"/>
          </a:xfrm>
          <a:prstGeom prst="rect">
            <a:avLst/>
          </a:prstGeom>
          <a:solidFill>
            <a:srgbClr val="4F639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07792" y="1600200"/>
            <a:ext cx="1591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history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0" y="1600200"/>
            <a:ext cx="1508760" cy="1005840"/>
          </a:xfrm>
          <a:prstGeom prst="rect">
            <a:avLst/>
          </a:prstGeom>
          <a:solidFill>
            <a:srgbClr val="8A9CC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45152" y="1600200"/>
            <a:ext cx="13624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/ images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80760" y="1600200"/>
            <a:ext cx="1234440" cy="1005840"/>
          </a:xfrm>
          <a:prstGeom prst="rect">
            <a:avLst/>
          </a:prstGeom>
          <a:solidFill>
            <a:srgbClr val="C9D5E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53912" y="1600200"/>
            <a:ext cx="10881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message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0" y="1600200"/>
            <a:ext cx="1371600" cy="1005840"/>
          </a:xfrm>
          <a:prstGeom prst="rect">
            <a:avLst/>
          </a:prstGeom>
          <a:solidFill>
            <a:srgbClr val="E07A5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88352" y="1600200"/>
            <a:ext cx="12252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Claude's output (incl. thinking)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2743200"/>
            <a:ext cx="6766560" cy="0"/>
          </a:xfrm>
          <a:prstGeom prst="line">
            <a:avLst/>
          </a:prstGeom>
          <a:noFill/>
          <a:ln w="15875">
            <a:solidFill>
              <a:srgbClr val="4F6390"/>
            </a:solidFill>
            <a:prstDash val="solid"/>
            <a:headEnd type="oval"/>
            <a:tailEnd type="oval"/>
          </a:ln>
        </p:spPr>
      </p:sp>
      <p:sp>
        <p:nvSpPr>
          <p:cNvPr id="17" name="Shape 15"/>
          <p:cNvSpPr/>
          <p:nvPr/>
        </p:nvSpPr>
        <p:spPr>
          <a:xfrm>
            <a:off x="7360920" y="2743200"/>
            <a:ext cx="1280160" cy="0"/>
          </a:xfrm>
          <a:prstGeom prst="line">
            <a:avLst/>
          </a:prstGeom>
          <a:noFill/>
          <a:ln w="15875">
            <a:solidFill>
              <a:srgbClr val="E07A5F"/>
            </a:solidFill>
            <a:prstDash val="solid"/>
            <a:headEnd type="oval"/>
            <a:tailEnd type="oval"/>
          </a:ln>
        </p:spPr>
      </p:sp>
      <p:sp>
        <p:nvSpPr>
          <p:cNvPr id="18" name="Text 16"/>
          <p:cNvSpPr txBox="1"/>
          <p:nvPr/>
        </p:nvSpPr>
        <p:spPr>
          <a:xfrm>
            <a:off x="457200" y="27889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0" y="2788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246120"/>
            <a:ext cx="2560320" cy="1325880"/>
          </a:xfrm>
          <a:prstGeom prst="roundRect">
            <a:avLst>
              <a:gd name="adj" fmla="val 6897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331012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1M</a:t>
            </a:r>
            <a:pPr indent="0" marL="0"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tokens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9319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Fable 5.1 · Opus 5.5 · Sonnet 5.5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291840" y="3246120"/>
            <a:ext cx="2560320" cy="1325880"/>
          </a:xfrm>
          <a:prstGeom prst="roundRect">
            <a:avLst>
              <a:gd name="adj" fmla="val 6897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474720" y="331012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200K</a:t>
            </a:r>
            <a:pPr indent="0" marL="0"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tokens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3474720" y="39319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Haiku 4.5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126480" y="3246120"/>
            <a:ext cx="2560320" cy="1325880"/>
          </a:xfrm>
          <a:prstGeom prst="roundRect">
            <a:avLst>
              <a:gd name="adj" fmla="val 6897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309360" y="331012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128K</a:t>
            </a:r>
            <a:pPr indent="0" marL="0"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max output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309360" y="39319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64K on Haiku 4.5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API is stateless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 1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371600" y="1234440"/>
            <a:ext cx="914400" cy="475488"/>
          </a:xfrm>
          <a:prstGeom prst="roundRect">
            <a:avLst>
              <a:gd name="adj" fmla="val 19231"/>
            </a:avLst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71600" y="123444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404872" y="1472184"/>
            <a:ext cx="4498848" cy="0"/>
          </a:xfrm>
          <a:prstGeom prst="line">
            <a:avLst/>
          </a:prstGeom>
          <a:noFill/>
          <a:ln w="22225">
            <a:solidFill>
              <a:srgbClr val="4F6390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995160" y="1234440"/>
            <a:ext cx="169164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995160" y="1234440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965960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 2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371600" y="1965960"/>
            <a:ext cx="914400" cy="475488"/>
          </a:xfrm>
          <a:prstGeom prst="roundRect">
            <a:avLst>
              <a:gd name="adj" fmla="val 19231"/>
            </a:avLst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371600" y="196596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1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359152" y="1965960"/>
            <a:ext cx="914400" cy="475488"/>
          </a:xfrm>
          <a:prstGeom prst="roundRect">
            <a:avLst>
              <a:gd name="adj" fmla="val 19231"/>
            </a:avLst>
          </a:prstGeom>
          <a:solidFill>
            <a:srgbClr val="F6D3C8"/>
          </a:solidFill>
          <a:ln w="6350">
            <a:solidFill>
              <a:srgbClr val="F6D3C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359152" y="196596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1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346704" y="1965960"/>
            <a:ext cx="914400" cy="475488"/>
          </a:xfrm>
          <a:prstGeom prst="roundRect">
            <a:avLst>
              <a:gd name="adj" fmla="val 19231"/>
            </a:avLst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346704" y="196596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2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79976" y="2203704"/>
            <a:ext cx="2523744" cy="0"/>
          </a:xfrm>
          <a:prstGeom prst="line">
            <a:avLst/>
          </a:prstGeom>
          <a:noFill/>
          <a:ln w="22225">
            <a:solidFill>
              <a:srgbClr val="4F639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995160" y="1965960"/>
            <a:ext cx="169164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95160" y="1965960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2697480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 3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371600" y="2697480"/>
            <a:ext cx="914400" cy="475488"/>
          </a:xfrm>
          <a:prstGeom prst="roundRect">
            <a:avLst>
              <a:gd name="adj" fmla="val 19231"/>
            </a:avLst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371600" y="269748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1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359152" y="2697480"/>
            <a:ext cx="914400" cy="475488"/>
          </a:xfrm>
          <a:prstGeom prst="roundRect">
            <a:avLst>
              <a:gd name="adj" fmla="val 19231"/>
            </a:avLst>
          </a:prstGeom>
          <a:solidFill>
            <a:srgbClr val="F6D3C8"/>
          </a:solidFill>
          <a:ln w="6350">
            <a:solidFill>
              <a:srgbClr val="F6D3C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359152" y="269748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1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346704" y="2697480"/>
            <a:ext cx="914400" cy="475488"/>
          </a:xfrm>
          <a:prstGeom prst="roundRect">
            <a:avLst>
              <a:gd name="adj" fmla="val 19231"/>
            </a:avLst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346704" y="269748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2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334256" y="2697480"/>
            <a:ext cx="914400" cy="475488"/>
          </a:xfrm>
          <a:prstGeom prst="roundRect">
            <a:avLst>
              <a:gd name="adj" fmla="val 19231"/>
            </a:avLst>
          </a:prstGeom>
          <a:solidFill>
            <a:srgbClr val="F6D3C8"/>
          </a:solidFill>
          <a:ln w="6350">
            <a:solidFill>
              <a:srgbClr val="F6D3C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334256" y="269748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2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321808" y="2697480"/>
            <a:ext cx="914400" cy="475488"/>
          </a:xfrm>
          <a:prstGeom prst="roundRect">
            <a:avLst>
              <a:gd name="adj" fmla="val 19231"/>
            </a:avLst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321808" y="269748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3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355080" y="2935224"/>
            <a:ext cx="548640" cy="0"/>
          </a:xfrm>
          <a:prstGeom prst="line">
            <a:avLst/>
          </a:prstGeom>
          <a:noFill/>
          <a:ln w="22225">
            <a:solidFill>
              <a:srgbClr val="4F6390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995160" y="2697480"/>
            <a:ext cx="169164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995160" y="2697480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1371600" y="3474720"/>
            <a:ext cx="274320" cy="201168"/>
          </a:xfrm>
          <a:prstGeom prst="roundRect">
            <a:avLst>
              <a:gd name="adj" fmla="val 22727"/>
            </a:avLst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719072" y="343814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(user)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017520" y="3474720"/>
            <a:ext cx="274320" cy="201168"/>
          </a:xfrm>
          <a:prstGeom prst="roundRect">
            <a:avLst>
              <a:gd name="adj" fmla="val 22727"/>
            </a:avLst>
          </a:prstGeom>
          <a:solidFill>
            <a:srgbClr val="F6D3C8"/>
          </a:solidFill>
          <a:ln w="6350">
            <a:solidFill>
              <a:srgbClr val="F6D3C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364992" y="343814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Claude's earlier replies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57200" y="393192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1792" y="4069080"/>
            <a:ext cx="411480" cy="41148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3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8777" y="4176065"/>
            <a:ext cx="197510" cy="197510"/>
          </a:xfrm>
          <a:prstGeom prst="rect">
            <a:avLst/>
          </a:prstGeom>
        </p:spPr>
      </p:pic>
      <p:sp>
        <p:nvSpPr>
          <p:cNvPr id="40" name="Text 37"/>
          <p:cNvSpPr txBox="1"/>
          <p:nvPr/>
        </p:nvSpPr>
        <p:spPr>
          <a:xfrm>
            <a:off x="1188720" y="3931920"/>
            <a:ext cx="7360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remembers nothing between calls. You resend the whole history — so input tokens grow every turn.</a:t>
            </a:r>
            <a:endParaRPr lang="en-US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chat loop that shows context growth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863840" y="429768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0" y="42976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6172200" cy="3154680"/>
          </a:xfrm>
          <a:prstGeom prst="roundRect">
            <a:avLst>
              <a:gd name="adj" fmla="val 2319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1208" y="2984525"/>
            <a:ext cx="6044184" cy="175260"/>
          </a:xfrm>
          <a:prstGeom prst="roundRect">
            <a:avLst>
              <a:gd name="adj" fmla="val 20870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097280"/>
            <a:ext cx="6172200" cy="3154680"/>
          </a:xfrm>
          <a:prstGeom prst="rect">
            <a:avLst/>
          </a:prstGeom>
          <a:noFill/>
          <a:ln/>
        </p:spPr>
        <p:txBody>
          <a:bodyPr wrap="square" lIns="164592" tIns="128016" rIns="164592" bIns="128016" rtlCol="0" anchor="t"/>
          <a:lstStyle/>
          <a:p>
            <a:pPr indent="0" marL="0">
              <a:lnSpc>
                <a:spcPts val="138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history = []</a:t>
            </a:r>
            <a:endParaRPr lang="en-US" sz="1150" dirty="0"/>
          </a:p>
          <a:p>
            <a:pPr indent="0" marL="0">
              <a:lnSpc>
                <a:spcPts val="138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ts val="138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chat(user_msg):</a:t>
            </a:r>
            <a:endParaRPr lang="en-US" sz="1150" dirty="0"/>
          </a:p>
          <a:p>
            <a:pPr indent="0" marL="0">
              <a:lnSpc>
                <a:spcPts val="138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history.append({"role": "user", "content": user_msg})</a:t>
            </a:r>
            <a:endParaRPr lang="en-US" sz="1150" dirty="0"/>
          </a:p>
          <a:p>
            <a:pPr indent="0" marL="0">
              <a:lnSpc>
                <a:spcPts val="138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 = client.messages.create(</a:t>
            </a:r>
            <a:endParaRPr lang="en-US" sz="1150" dirty="0"/>
          </a:p>
          <a:p>
            <a:pPr indent="0" marL="0">
              <a:lnSpc>
                <a:spcPts val="138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model="claude-sonnet-5-5",</a:t>
            </a:r>
            <a:endParaRPr lang="en-US" sz="1150" dirty="0"/>
          </a:p>
          <a:p>
            <a:pPr indent="0" marL="0">
              <a:lnSpc>
                <a:spcPts val="138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max_tokens=1024,</a:t>
            </a:r>
            <a:endParaRPr lang="en-US" sz="1150" dirty="0"/>
          </a:p>
          <a:p>
            <a:pPr indent="0" marL="0">
              <a:lnSpc>
                <a:spcPts val="138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messages=history,</a:t>
            </a:r>
            <a:endParaRPr lang="en-US" sz="1150" dirty="0"/>
          </a:p>
          <a:p>
            <a:pPr indent="0" marL="0">
              <a:lnSpc>
                <a:spcPts val="138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1150" dirty="0"/>
          </a:p>
          <a:p>
            <a:pPr indent="0" marL="0">
              <a:lnSpc>
                <a:spcPts val="138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history.append({"role": "assistant", "content": r.content})</a:t>
            </a:r>
            <a:endParaRPr lang="en-US" sz="1150" dirty="0"/>
          </a:p>
          <a:p>
            <a:pPr indent="0" marL="0">
              <a:lnSpc>
                <a:spcPts val="138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print(f"[input tokens this turn: {r.usage.input_tokens}]")</a:t>
            </a:r>
            <a:endParaRPr lang="en-US" sz="1150" dirty="0"/>
          </a:p>
          <a:p>
            <a:pPr indent="0" marL="0">
              <a:lnSpc>
                <a:spcPts val="138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"".join(b.text for b in r.content if b.type == "text")</a:t>
            </a:r>
            <a:endParaRPr lang="en-US" sz="1150" dirty="0"/>
          </a:p>
          <a:p>
            <a:pPr indent="0" marL="0">
              <a:lnSpc>
                <a:spcPts val="138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ts val="138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print(chat("My name is Priya and I teach Python."))</a:t>
            </a:r>
            <a:endParaRPr lang="en-US" sz="1150" dirty="0"/>
          </a:p>
          <a:p>
            <a:pPr indent="0" marL="0">
              <a:lnSpc>
                <a:spcPts val="138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print(chat("What's my name and what do I teach?"))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858000" y="1097280"/>
            <a:ext cx="1828800" cy="1005840"/>
          </a:xfrm>
          <a:prstGeom prst="roundRect">
            <a:avLst>
              <a:gd name="adj" fmla="val 9091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995160" y="109728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history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message — resent on each call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0" y="2286000"/>
            <a:ext cx="1828800" cy="1005840"/>
          </a:xfrm>
          <a:prstGeom prst="roundRect">
            <a:avLst>
              <a:gd name="adj" fmla="val 9091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995160" y="22860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input_tokens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grows every turn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Bigger isn't always better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560320" cy="2240280"/>
          </a:xfrm>
          <a:prstGeom prst="roundRect">
            <a:avLst>
              <a:gd name="adj" fmla="val 408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371600"/>
            <a:ext cx="548640" cy="54864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8446" y="1514246"/>
            <a:ext cx="263347" cy="26334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3716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rot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14884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and recall degrade as the context grows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291840" y="1188720"/>
            <a:ext cx="2560320" cy="2240280"/>
          </a:xfrm>
          <a:prstGeom prst="roundRect">
            <a:avLst>
              <a:gd name="adj" fmla="val 408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520440" y="1371600"/>
            <a:ext cx="548640" cy="54864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3086" y="1514246"/>
            <a:ext cx="263347" cy="26334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206240" y="13716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3520440" y="214884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token in context is billed on every call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6126480" y="1188720"/>
            <a:ext cx="2560320" cy="2240280"/>
          </a:xfrm>
          <a:prstGeom prst="roundRect">
            <a:avLst>
              <a:gd name="adj" fmla="val 408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355080" y="1371600"/>
            <a:ext cx="548640" cy="54864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7726" y="1514246"/>
            <a:ext cx="263347" cy="263347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040880" y="13716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Latency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6355080" y="214884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input = slower first token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457200" y="370332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731520" y="370332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 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 context. Put in what the task needs, not everything you have.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you hit the limits</a:t>
            </a:r>
            <a:endParaRPr lang="en-US" sz="34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52120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Situation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alone &gt; context window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 error </a:t>
                      </a:r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446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"prompt is too long"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+ max_tokens &gt; window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Runs, stops with stop_reason = </a:t>
                      </a:r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446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model_context_window_exceeded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 longer than max_tokens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Cut off, stop_reason = </a:t>
                      </a:r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446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max_tokens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Hit a stop sequence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stop_reason = </a:t>
                      </a:r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446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stop_sequence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Finished naturally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stop_reason = </a:t>
                      </a:r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446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end_turn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4069080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>
            <a:solidFill>
              <a:srgbClr val="E07A5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94360" y="4142232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967" y="4246839"/>
            <a:ext cx="193121" cy="193121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43000" y="406908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Cut-off answer? Check </a:t>
            </a:r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stop_reason</a:t>
            </a:r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first.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6868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6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37744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Sampling and non-determinism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4984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44168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73352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02536" y="4160520"/>
            <a:ext cx="182880" cy="18288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31720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60904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90088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token gets picked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3977640" cy="2377440"/>
          </a:xfrm>
          <a:prstGeom prst="roundRect">
            <a:avLst>
              <a:gd name="adj" fmla="val 3846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143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 temperature (sharp)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937260" y="1737360"/>
            <a:ext cx="457200" cy="1097280"/>
          </a:xfrm>
          <a:prstGeom prst="rect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77340" y="2724912"/>
            <a:ext cx="457200" cy="109728"/>
          </a:xfrm>
          <a:prstGeom prst="rect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17420" y="2766060"/>
            <a:ext cx="457200" cy="68580"/>
          </a:xfrm>
          <a:prstGeom prst="rect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857500" y="2779776"/>
            <a:ext cx="457200" cy="54864"/>
          </a:xfrm>
          <a:prstGeom prst="rect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97580" y="2793492"/>
            <a:ext cx="457200" cy="41148"/>
          </a:xfrm>
          <a:prstGeom prst="rect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" y="2834640"/>
            <a:ext cx="3291840" cy="0"/>
          </a:xfrm>
          <a:prstGeom prst="line">
            <a:avLst/>
          </a:prstGeom>
          <a:noFill/>
          <a:ln w="15875">
            <a:solidFill>
              <a:srgbClr val="4F639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29260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4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safe, repetitive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709160" y="1051560"/>
            <a:ext cx="3977640" cy="2377440"/>
          </a:xfrm>
          <a:prstGeom prst="roundRect">
            <a:avLst>
              <a:gd name="adj" fmla="val 3846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937760" y="1143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temperature (flat)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189220" y="2423160"/>
            <a:ext cx="457200" cy="411480"/>
          </a:xfrm>
          <a:prstGeom prst="rect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29300" y="2505456"/>
            <a:ext cx="457200" cy="329184"/>
          </a:xfrm>
          <a:prstGeom prst="rect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69380" y="2560320"/>
            <a:ext cx="457200" cy="274320"/>
          </a:xfrm>
          <a:prstGeom prst="rect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09460" y="2628900"/>
            <a:ext cx="457200" cy="205740"/>
          </a:xfrm>
          <a:prstGeom prst="rect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49540" y="2683764"/>
            <a:ext cx="457200" cy="150876"/>
          </a:xfrm>
          <a:prstGeom prst="rect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52060" y="2834640"/>
            <a:ext cx="3291840" cy="0"/>
          </a:xfrm>
          <a:prstGeom prst="line">
            <a:avLst/>
          </a:prstGeom>
          <a:noFill/>
          <a:ln w="15875">
            <a:solidFill>
              <a:srgbClr val="4F639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937760" y="29260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4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varied, creative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57200" y="3611880"/>
            <a:ext cx="25603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C9D5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3730752"/>
            <a:ext cx="310896" cy="31089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94360" y="3730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005840" y="370332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temperature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594360" y="40690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sharpen/flatten the distribution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291840" y="3611880"/>
            <a:ext cx="25603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C9D5E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29000" y="3730752"/>
            <a:ext cx="310896" cy="31089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429000" y="3730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3840480" y="370332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top_p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3429000" y="40690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smallest set of tokens covering p probability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126480" y="3611880"/>
            <a:ext cx="25603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C9D5E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63640" y="3730752"/>
            <a:ext cx="310896" cy="31089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263640" y="3730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6675120" y="370332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top_k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6263640" y="40690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only the k most likely tokens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 update: sampling knobs are deprecated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5303520" cy="822960"/>
          </a:xfrm>
          <a:prstGeom prst="roundRect">
            <a:avLst>
              <a:gd name="adj" fmla="val 11111"/>
            </a:avLst>
          </a:prstGeom>
          <a:solidFill>
            <a:srgbClr val="FBE9E7"/>
          </a:solidFill>
          <a:ln w="6350">
            <a:solidFill>
              <a:srgbClr val="FBE9E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12648" y="1307592"/>
            <a:ext cx="402336" cy="402336"/>
          </a:xfrm>
          <a:prstGeom prst="ellipse">
            <a:avLst/>
          </a:prstGeom>
          <a:solidFill>
            <a:srgbClr val="C0392B"/>
          </a:solidFill>
          <a:ln w="6350">
            <a:solidFill>
              <a:srgbClr val="C0392B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255" y="1412199"/>
            <a:ext cx="193121" cy="19312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88720" y="1097280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released after Claude Opus 4.6 reject non-default temperature, top_p, top_k with a 400 error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57200" y="2057400"/>
            <a:ext cx="5303520" cy="566928"/>
          </a:xfrm>
          <a:prstGeom prst="roundRect">
            <a:avLst>
              <a:gd name="adj" fmla="val 16129"/>
            </a:avLst>
          </a:prstGeom>
          <a:solidFill>
            <a:srgbClr val="FBE9E7"/>
          </a:solidFill>
          <a:ln w="6350">
            <a:solidFill>
              <a:srgbClr val="FBE9E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12648" y="2139696"/>
            <a:ext cx="402336" cy="402336"/>
          </a:xfrm>
          <a:prstGeom prst="ellipse">
            <a:avLst/>
          </a:prstGeom>
          <a:solidFill>
            <a:srgbClr val="C0392B"/>
          </a:solidFill>
          <a:ln w="6350">
            <a:solidFill>
              <a:srgbClr val="C0392B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255" y="2244303"/>
            <a:ext cx="193121" cy="193121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88720" y="2057400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SDK 1.x doesn't expose them at all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457200" y="2761488"/>
            <a:ext cx="5303520" cy="566928"/>
          </a:xfrm>
          <a:prstGeom prst="roundRect">
            <a:avLst>
              <a:gd name="adj" fmla="val 16129"/>
            </a:avLst>
          </a:prstGeom>
          <a:solidFill>
            <a:srgbClr val="E6F4EC"/>
          </a:solidFill>
          <a:ln w="6350">
            <a:solidFill>
              <a:srgbClr val="E6F4EC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12648" y="2843784"/>
            <a:ext cx="402336" cy="402336"/>
          </a:xfrm>
          <a:prstGeom prst="ellipse">
            <a:avLst/>
          </a:prstGeom>
          <a:solidFill>
            <a:srgbClr val="2E8B57"/>
          </a:solidFill>
          <a:ln w="6350">
            <a:solidFill>
              <a:srgbClr val="2E8B57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255" y="2948391"/>
            <a:ext cx="193121" cy="193121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88720" y="2761488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 behaviour with prompting (and effort) instead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457200" y="3465576"/>
            <a:ext cx="5303520" cy="566928"/>
          </a:xfrm>
          <a:prstGeom prst="roundRect">
            <a:avLst>
              <a:gd name="adj" fmla="val 16129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12648" y="3547872"/>
            <a:ext cx="402336" cy="402336"/>
          </a:xfrm>
          <a:prstGeom prst="ellipse">
            <a:avLst/>
          </a:prstGeom>
          <a:solidFill>
            <a:srgbClr val="4F6390"/>
          </a:solidFill>
          <a:ln w="6350">
            <a:solidFill>
              <a:srgbClr val="4F6390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255" y="3652479"/>
            <a:ext cx="193121" cy="193121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188720" y="3465576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models (e.g. Haiku 4.5) still accept them</a:t>
            </a:r>
            <a:endParaRPr lang="en-US" sz="1500" dirty="0"/>
          </a:p>
        </p:txBody>
      </p:sp>
      <p:sp>
        <p:nvSpPr>
          <p:cNvPr id="19" name="Shape 13"/>
          <p:cNvSpPr/>
          <p:nvPr/>
        </p:nvSpPr>
        <p:spPr>
          <a:xfrm>
            <a:off x="6035040" y="1097280"/>
            <a:ext cx="2651760" cy="2935224"/>
          </a:xfrm>
          <a:prstGeom prst="roundRect">
            <a:avLst>
              <a:gd name="adj" fmla="val 3448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6236208" y="1280160"/>
            <a:ext cx="457200" cy="45720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1399032"/>
            <a:ext cx="219456" cy="219456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6812280" y="12801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ANGLE</a:t>
            </a:r>
            <a:endParaRPr lang="en-US" sz="1400" dirty="0"/>
          </a:p>
        </p:txBody>
      </p:sp>
      <p:sp>
        <p:nvSpPr>
          <p:cNvPr id="23" name="Text 16"/>
          <p:cNvSpPr txBox="1"/>
          <p:nvPr/>
        </p:nvSpPr>
        <p:spPr>
          <a:xfrm>
            <a:off x="6236208" y="1874520"/>
            <a:ext cx="22860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still need to know what they do — and that lowering temperature does NOT fix hallucinations or prompt injection.</a:t>
            </a:r>
            <a:endParaRPr lang="en-US" sz="1500" dirty="0"/>
          </a:p>
        </p:txBody>
      </p:sp>
      <p:sp>
        <p:nvSpPr>
          <p:cNvPr id="24" name="Text 17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Non-determinism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2148840"/>
            <a:ext cx="1417320" cy="685800"/>
          </a:xfrm>
          <a:prstGeom prst="roundRect">
            <a:avLst>
              <a:gd name="adj" fmla="val 13333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14884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prompt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 flipV="1">
            <a:off x="1920240" y="1508760"/>
            <a:ext cx="594360" cy="982980"/>
          </a:xfrm>
          <a:prstGeom prst="line">
            <a:avLst/>
          </a:prstGeom>
          <a:noFill/>
          <a:ln w="22225">
            <a:solidFill>
              <a:srgbClr val="E07A5F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560320" y="1234440"/>
            <a:ext cx="1371600" cy="548640"/>
          </a:xfrm>
          <a:prstGeom prst="roundRect">
            <a:avLst>
              <a:gd name="adj" fmla="val 16667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560320" y="12344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 flipV="1">
            <a:off x="1920240" y="2423160"/>
            <a:ext cx="594360" cy="68580"/>
          </a:xfrm>
          <a:prstGeom prst="line">
            <a:avLst/>
          </a:prstGeom>
          <a:noFill/>
          <a:ln w="22225">
            <a:solidFill>
              <a:srgbClr val="E07A5F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560320" y="2148840"/>
            <a:ext cx="1371600" cy="548640"/>
          </a:xfrm>
          <a:prstGeom prst="roundRect">
            <a:avLst>
              <a:gd name="adj" fmla="val 16667"/>
            </a:avLst>
          </a:prstGeom>
          <a:solidFill>
            <a:srgbClr val="F6D3C8"/>
          </a:solidFill>
          <a:ln w="6350">
            <a:solidFill>
              <a:srgbClr val="F6D3C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60320" y="21488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B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920240" y="2491740"/>
            <a:ext cx="594360" cy="845820"/>
          </a:xfrm>
          <a:prstGeom prst="line">
            <a:avLst/>
          </a:prstGeom>
          <a:noFill/>
          <a:ln w="22225">
            <a:solidFill>
              <a:srgbClr val="E07A5F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560320" y="3063240"/>
            <a:ext cx="1371600" cy="548640"/>
          </a:xfrm>
          <a:prstGeom prst="roundRect">
            <a:avLst>
              <a:gd name="adj" fmla="val 16667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560320" y="30632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C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389120" y="1188720"/>
            <a:ext cx="438912" cy="438912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03237" y="1302837"/>
            <a:ext cx="210678" cy="210678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4983480" y="1188720"/>
            <a:ext cx="3703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prompt ≠ same answer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4389120" y="1828800"/>
            <a:ext cx="438912" cy="438912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3237" y="1942917"/>
            <a:ext cx="210678" cy="210678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4983480" y="1828800"/>
            <a:ext cx="3703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temperature 0 is not fully deterministic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4389120" y="2468880"/>
            <a:ext cx="438912" cy="438912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3237" y="2582997"/>
            <a:ext cx="210678" cy="210678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4983480" y="2468880"/>
            <a:ext cx="3703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for it:</a:t>
            </a:r>
            <a:endParaRPr lang="en-US" sz="1600" dirty="0"/>
          </a:p>
        </p:txBody>
      </p:sp>
      <p:sp>
        <p:nvSpPr>
          <p:cNvPr id="23" name="Text 18"/>
          <p:cNvSpPr txBox="1"/>
          <p:nvPr/>
        </p:nvSpPr>
        <p:spPr>
          <a:xfrm>
            <a:off x="5029200" y="297180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outputs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with many samples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evals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assume one lucky run is "correct"</a:t>
            </a:r>
            <a:endParaRPr lang="en-US" sz="1500" dirty="0"/>
          </a:p>
        </p:txBody>
      </p:sp>
      <p:sp>
        <p:nvSpPr>
          <p:cNvPr id="24" name="Text 19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sampling on Haiku 4.5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863840" y="429768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0" y="42976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2697480"/>
          </a:xfrm>
          <a:prstGeom prst="roundRect">
            <a:avLst>
              <a:gd name="adj" fmla="val 2712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1208" y="2832811"/>
            <a:ext cx="8101584" cy="182880"/>
          </a:xfrm>
          <a:prstGeom prst="roundRect">
            <a:avLst>
              <a:gd name="adj" fmla="val 20000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051560"/>
            <a:ext cx="8229600" cy="2697480"/>
          </a:xfrm>
          <a:prstGeom prst="rect">
            <a:avLst/>
          </a:prstGeom>
          <a:noFill/>
          <a:ln/>
        </p:spPr>
        <p:txBody>
          <a:bodyPr wrap="square" lIns="164592" tIns="128016" rIns="164592" bIns="128016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 = "Suggest a name for a coffee shop. Reply with the name only."</a:t>
            </a:r>
            <a:endParaRPr lang="en-US" sz="1200" dirty="0"/>
          </a:p>
          <a:p>
            <a:pPr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temp in (0.0, 1.0):</a:t>
            </a:r>
            <a:endParaRPr lang="en-US" sz="1200" dirty="0"/>
          </a:p>
          <a:p>
            <a:pPr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print(f"--- temperature = {temp}")</a:t>
            </a:r>
            <a:endParaRPr lang="en-US" sz="1200" dirty="0"/>
          </a:p>
          <a:p>
            <a:pPr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_ in range(5):</a:t>
            </a:r>
            <a:endParaRPr lang="en-US" sz="1200" dirty="0"/>
          </a:p>
          <a:p>
            <a:pPr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 = client.messages.create(</a:t>
            </a:r>
            <a:endParaRPr lang="en-US" sz="1200" dirty="0"/>
          </a:p>
          <a:p>
            <a:pPr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model="claude-haiku-4-5-20251001",</a:t>
            </a:r>
            <a:endParaRPr lang="en-US" sz="1200" dirty="0"/>
          </a:p>
          <a:p>
            <a:pPr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max_tokens=20,</a:t>
            </a:r>
            <a:endParaRPr lang="en-US" sz="1200" dirty="0"/>
          </a:p>
          <a:p>
            <a:pPr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messages=[{"role": "user", "content": prompt}],</a:t>
            </a:r>
            <a:endParaRPr lang="en-US" sz="1200" dirty="0"/>
          </a:p>
          <a:p>
            <a:pPr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extra_body={"temperature": temp}, </a:t>
            </a:r>
            <a:pPr indent="0" marL="0">
              <a:lnSpc>
                <a:spcPts val="144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not in SDK 1.x</a:t>
            </a:r>
            <a:endParaRPr lang="en-US" sz="1200" dirty="0"/>
          </a:p>
          <a:p>
            <a:pPr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</a:t>
            </a:r>
            <a:endParaRPr lang="en-US" sz="1200" dirty="0"/>
          </a:p>
          <a:p>
            <a:pPr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 ", r.content[0].text)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931920"/>
            <a:ext cx="8229600" cy="658368"/>
          </a:xfrm>
          <a:prstGeom prst="roundRect">
            <a:avLst>
              <a:gd name="adj" fmla="val 13889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3504" y="4050792"/>
            <a:ext cx="420624" cy="42062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2866" y="4160154"/>
            <a:ext cx="201900" cy="20190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188720" y="393192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it: </a:t>
            </a:r>
            <a:pPr indent="0" marL="0">
              <a:buNone/>
            </a:pPr>
            <a:r>
              <a:rPr lang="en-US" sz="16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same thing on </a:t>
            </a:r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claude-opus-5-5</a:t>
            </a:r>
            <a:pPr indent="0" marL="0">
              <a:buNone/>
            </a:pPr>
            <a:r>
              <a:rPr lang="en-US" sz="16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error.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6868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6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37744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models and options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4984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44168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73352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02536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31720" y="4160520"/>
            <a:ext cx="182880" cy="18288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60904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90088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Claude family today</a:t>
            </a:r>
            <a:endParaRPr lang="en-US" sz="34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Haiku 4.5</a:t>
                      </a:r>
                      <a:endParaRPr lang="en-US" sz="15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Sonnet 5.5</a:t>
                      </a:r>
                      <a:endParaRPr lang="en-US" sz="15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Opus 5.5</a:t>
                      </a:r>
                      <a:endParaRPr lang="en-US" sz="15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Fable 5.1</a:t>
                      </a:r>
                      <a:endParaRPr lang="en-US" sz="15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Fast, cheap, high volume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 + intelligence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 workloads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Hardest reasoning &amp; long agentic work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output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in/out ($/MTok)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/ 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/ 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/ 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/ 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Thinking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Extended (budget)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Adaptive (always on)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Adaptive (always on)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25196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blueprint still says 'Opus vs Sonnet vs Haiku' — learn the tier logic, not just names.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Picking a model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2125980"/>
            <a:ext cx="1920240" cy="914400"/>
          </a:xfrm>
          <a:prstGeom prst="roundRect">
            <a:avLst>
              <a:gd name="adj" fmla="val 10000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212598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the task need?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377440" y="2583180"/>
            <a:ext cx="320040" cy="0"/>
          </a:xfrm>
          <a:prstGeom prst="line">
            <a:avLst/>
          </a:prstGeom>
          <a:noFill/>
          <a:ln w="22225">
            <a:solidFill>
              <a:srgbClr val="4F63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97480" y="1444752"/>
            <a:ext cx="0" cy="2276856"/>
          </a:xfrm>
          <a:prstGeom prst="line">
            <a:avLst/>
          </a:prstGeom>
          <a:noFill/>
          <a:ln w="22225">
            <a:solidFill>
              <a:srgbClr val="4F63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97480" y="1444752"/>
            <a:ext cx="320040" cy="0"/>
          </a:xfrm>
          <a:prstGeom prst="line">
            <a:avLst/>
          </a:prstGeom>
          <a:noFill/>
          <a:ln w="22225">
            <a:solidFill>
              <a:srgbClr val="4F6390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063240" y="1143000"/>
            <a:ext cx="3840480" cy="603504"/>
          </a:xfrm>
          <a:prstGeom prst="roundRect">
            <a:avLst>
              <a:gd name="adj" fmla="val 1515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46120" y="1143000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volume, simple (classify, extract, route)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949440" y="1444752"/>
            <a:ext cx="274320" cy="0"/>
          </a:xfrm>
          <a:prstGeom prst="line">
            <a:avLst/>
          </a:prstGeom>
          <a:noFill/>
          <a:ln w="25400">
            <a:solidFill>
              <a:srgbClr val="E07A5F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269480" y="1143000"/>
            <a:ext cx="1417320" cy="603504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269480" y="1143000"/>
            <a:ext cx="1417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Haiku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2697480" y="2203704"/>
            <a:ext cx="320040" cy="0"/>
          </a:xfrm>
          <a:prstGeom prst="line">
            <a:avLst/>
          </a:prstGeom>
          <a:noFill/>
          <a:ln w="22225">
            <a:solidFill>
              <a:srgbClr val="4F639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063240" y="1901952"/>
            <a:ext cx="3840480" cy="603504"/>
          </a:xfrm>
          <a:prstGeom prst="roundRect">
            <a:avLst>
              <a:gd name="adj" fmla="val 1515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246120" y="1901952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coding, chat, balanced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949440" y="2203704"/>
            <a:ext cx="274320" cy="0"/>
          </a:xfrm>
          <a:prstGeom prst="line">
            <a:avLst/>
          </a:prstGeom>
          <a:noFill/>
          <a:ln w="25400">
            <a:solidFill>
              <a:srgbClr val="E07A5F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269480" y="1901952"/>
            <a:ext cx="1417320" cy="603504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269480" y="1901952"/>
            <a:ext cx="1417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Sonnet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2697480" y="2962656"/>
            <a:ext cx="320040" cy="0"/>
          </a:xfrm>
          <a:prstGeom prst="line">
            <a:avLst/>
          </a:prstGeom>
          <a:noFill/>
          <a:ln w="22225">
            <a:solidFill>
              <a:srgbClr val="4F639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063240" y="2660904"/>
            <a:ext cx="3840480" cy="603504"/>
          </a:xfrm>
          <a:prstGeom prst="roundRect">
            <a:avLst>
              <a:gd name="adj" fmla="val 1515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246120" y="2660904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production work, complex agents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949440" y="2962656"/>
            <a:ext cx="274320" cy="0"/>
          </a:xfrm>
          <a:prstGeom prst="line">
            <a:avLst/>
          </a:prstGeom>
          <a:noFill/>
          <a:ln w="25400">
            <a:solidFill>
              <a:srgbClr val="E07A5F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269480" y="2660904"/>
            <a:ext cx="1417320" cy="603504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269480" y="2660904"/>
            <a:ext cx="1417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Opus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2697480" y="3721608"/>
            <a:ext cx="320040" cy="0"/>
          </a:xfrm>
          <a:prstGeom prst="line">
            <a:avLst/>
          </a:prstGeom>
          <a:noFill/>
          <a:ln w="22225">
            <a:solidFill>
              <a:srgbClr val="4F6390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3063240" y="3419856"/>
            <a:ext cx="3840480" cy="603504"/>
          </a:xfrm>
          <a:prstGeom prst="roundRect">
            <a:avLst>
              <a:gd name="adj" fmla="val 1515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246120" y="3419856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reasoning, very long agentic runs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949440" y="3721608"/>
            <a:ext cx="274320" cy="0"/>
          </a:xfrm>
          <a:prstGeom prst="line">
            <a:avLst/>
          </a:prstGeom>
          <a:noFill/>
          <a:ln w="25400">
            <a:solidFill>
              <a:srgbClr val="E07A5F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269480" y="3419856"/>
            <a:ext cx="1417320" cy="603504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269480" y="3419856"/>
            <a:ext cx="1417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Fable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457200" y="4206240"/>
            <a:ext cx="822960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9050">
            <a:solidFill>
              <a:srgbClr val="E07A5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40080" y="420624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the smallest model that passes your evals. </a:t>
            </a:r>
            <a:pPr algn="ctr" indent="0" marL="0"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up only if quality fails.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IDs and pinning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3977640" cy="1508760"/>
          </a:xfrm>
          <a:prstGeom prst="roundRect">
            <a:avLst>
              <a:gd name="adj" fmla="val 6061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371600"/>
            <a:ext cx="502920" cy="50292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559" y="1502359"/>
            <a:ext cx="241402" cy="24140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32588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full model IDs in production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85800" y="2057400"/>
            <a:ext cx="3520440" cy="411480"/>
          </a:xfrm>
          <a:prstGeom prst="roundRect">
            <a:avLst>
              <a:gd name="adj" fmla="val 17778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20574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claude-haiku-4-5-20251001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709160" y="1143000"/>
            <a:ext cx="3977640" cy="1508760"/>
          </a:xfrm>
          <a:prstGeom prst="roundRect">
            <a:avLst>
              <a:gd name="adj" fmla="val 6061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937760" y="1371600"/>
            <a:ext cx="502920" cy="50292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8519" y="150235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623560" y="1325880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releases can change behaviour and even break requests (e.g. temperature, prefill now rejected on newer models)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457200" y="2880360"/>
            <a:ext cx="3977640" cy="1508760"/>
          </a:xfrm>
          <a:prstGeom prst="roundRect">
            <a:avLst>
              <a:gd name="adj" fmla="val 6061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85800" y="3108960"/>
            <a:ext cx="502920" cy="50292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559" y="3239719"/>
            <a:ext cx="241402" cy="24140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371600" y="3063240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a version, re-run your evals, then upgrade on purpose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4709160" y="2880360"/>
            <a:ext cx="3977640" cy="1508760"/>
          </a:xfrm>
          <a:prstGeom prst="roundRect">
            <a:avLst>
              <a:gd name="adj" fmla="val 6061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4937760" y="3108960"/>
            <a:ext cx="502920" cy="50292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8519" y="3239719"/>
            <a:ext cx="241402" cy="241402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623560" y="3063240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deprecations page for retirement dates</a:t>
            </a:r>
            <a:endParaRPr lang="en-US" sz="1600" dirty="0"/>
          </a:p>
        </p:txBody>
      </p:sp>
      <p:sp>
        <p:nvSpPr>
          <p:cNvPr id="21" name="Text 15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Thinking: extended vs adaptive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2697480"/>
          </a:xfrm>
          <a:prstGeom prst="roundRect">
            <a:avLst>
              <a:gd name="adj" fmla="val 339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420624" cy="42062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234440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Extended (manual)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94360" y="1810512"/>
            <a:ext cx="3749040" cy="420624"/>
          </a:xfrm>
          <a:prstGeom prst="roundRect">
            <a:avLst>
              <a:gd name="adj" fmla="val 17391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1810512"/>
            <a:ext cx="3749040" cy="4206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thinking={"type":"enabled","budget_tokens":N}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377440"/>
            <a:ext cx="3611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set a budget (min 1,024, less than max_tokens)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thinks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Haiku 4.5 &amp; older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4023360" cy="2697480"/>
          </a:xfrm>
          <a:prstGeom prst="roundRect">
            <a:avLst>
              <a:gd name="adj" fmla="val 339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234440"/>
            <a:ext cx="420624" cy="42062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46320" y="12344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394960" y="1234440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Adaptive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800600" y="1810512"/>
            <a:ext cx="3749040" cy="420624"/>
          </a:xfrm>
          <a:prstGeom prst="roundRect">
            <a:avLst>
              <a:gd name="adj" fmla="val 17391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00600" y="1810512"/>
            <a:ext cx="3749040" cy="4206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thinking={"type":"adaptive"}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892040" y="2377440"/>
            <a:ext cx="3611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decides whether &amp; how much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 with effort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 5.5, Opus 5.5 (always on), Fable 5.1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7200" y="397764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39776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Shared: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thinking tokens are billed as output and count toward max_tokens and the context window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Effort levels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207008" y="1554480"/>
            <a:ext cx="6729984" cy="0"/>
          </a:xfrm>
          <a:prstGeom prst="line">
            <a:avLst/>
          </a:prstGeom>
          <a:noFill/>
          <a:ln w="38100">
            <a:solidFill>
              <a:srgbClr val="C9D5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4128" y="1371600"/>
            <a:ext cx="365760" cy="365760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128" y="1371600"/>
            <a:ext cx="365760" cy="365760"/>
          </a:xfrm>
          <a:prstGeom prst="ellipse">
            <a:avLst/>
          </a:prstGeom>
          <a:solidFill>
            <a:srgbClr val="E07A5F">
              <a:alpha val="36000"/>
            </a:srgbClr>
          </a:solidFill>
          <a:ln w="15875">
            <a:solidFill>
              <a:srgbClr val="E07A5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103120"/>
            <a:ext cx="1499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low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487168"/>
            <a:ext cx="1499616" cy="960120"/>
          </a:xfrm>
          <a:prstGeom prst="roundRect">
            <a:avLst>
              <a:gd name="adj" fmla="val 9524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487168"/>
            <a:ext cx="13167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high-volume, subagents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651760" y="1316736"/>
            <a:ext cx="475488" cy="475488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51760" y="1316736"/>
            <a:ext cx="475488" cy="475488"/>
          </a:xfrm>
          <a:prstGeom prst="ellipse">
            <a:avLst/>
          </a:prstGeom>
          <a:solidFill>
            <a:srgbClr val="E07A5F">
              <a:alpha val="52000"/>
            </a:srgbClr>
          </a:solidFill>
          <a:ln w="15875">
            <a:solidFill>
              <a:srgbClr val="E07A5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139696" y="2103120"/>
            <a:ext cx="1499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medium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139696" y="2487168"/>
            <a:ext cx="1499616" cy="960120"/>
          </a:xfrm>
          <a:prstGeom prst="roundRect">
            <a:avLst>
              <a:gd name="adj" fmla="val 9524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231136" y="2487168"/>
            <a:ext cx="13167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agentic work (Opus 5.5 default)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279392" y="1261872"/>
            <a:ext cx="585216" cy="585216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79392" y="1261872"/>
            <a:ext cx="585216" cy="585216"/>
          </a:xfrm>
          <a:prstGeom prst="ellipse">
            <a:avLst/>
          </a:prstGeom>
          <a:solidFill>
            <a:srgbClr val="E07A5F">
              <a:alpha val="68000"/>
            </a:srgbClr>
          </a:solidFill>
          <a:ln w="15875">
            <a:solidFill>
              <a:srgbClr val="E07A5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822192" y="2103120"/>
            <a:ext cx="1499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822192" y="2487168"/>
            <a:ext cx="1499616" cy="960120"/>
          </a:xfrm>
          <a:prstGeom prst="roundRect">
            <a:avLst>
              <a:gd name="adj" fmla="val 9524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913632" y="2487168"/>
            <a:ext cx="13167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reasoning &amp; coding (default elsewhere)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907024" y="1207008"/>
            <a:ext cx="694944" cy="694944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07024" y="1207008"/>
            <a:ext cx="694944" cy="694944"/>
          </a:xfrm>
          <a:prstGeom prst="ellipse">
            <a:avLst/>
          </a:prstGeom>
          <a:solidFill>
            <a:srgbClr val="E07A5F">
              <a:alpha val="84000"/>
            </a:srgbClr>
          </a:solidFill>
          <a:ln w="15875">
            <a:solidFill>
              <a:srgbClr val="E07A5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504688" y="2103120"/>
            <a:ext cx="1499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xhigh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504688" y="2487168"/>
            <a:ext cx="1499616" cy="960120"/>
          </a:xfrm>
          <a:prstGeom prst="roundRect">
            <a:avLst>
              <a:gd name="adj" fmla="val 9524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596128" y="2487168"/>
            <a:ext cx="13167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long-running agentic tasks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534656" y="1152144"/>
            <a:ext cx="804672" cy="804672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34656" y="1152144"/>
            <a:ext cx="804672" cy="804672"/>
          </a:xfrm>
          <a:prstGeom prst="ellipse">
            <a:avLst/>
          </a:prstGeom>
          <a:solidFill>
            <a:srgbClr val="E07A5F"/>
          </a:solidFill>
          <a:ln w="15875">
            <a:solidFill>
              <a:srgbClr val="E07A5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187184" y="2103120"/>
            <a:ext cx="1499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187184" y="2487168"/>
            <a:ext cx="1499616" cy="960120"/>
          </a:xfrm>
          <a:prstGeom prst="roundRect">
            <a:avLst>
              <a:gd name="adj" fmla="val 9524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278624" y="2487168"/>
            <a:ext cx="13167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problems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02920" y="3639312"/>
            <a:ext cx="8138160" cy="0"/>
          </a:xfrm>
          <a:prstGeom prst="line">
            <a:avLst/>
          </a:prstGeom>
          <a:noFill/>
          <a:ln w="25400">
            <a:solidFill>
              <a:srgbClr val="1F2A44"/>
            </a:solidFill>
            <a:prstDash val="solid"/>
            <a:headEnd type="triangle"/>
            <a:tailEnd type="triangle"/>
          </a:ln>
        </p:spPr>
      </p:sp>
      <p:sp>
        <p:nvSpPr>
          <p:cNvPr id="30" name="Text 28"/>
          <p:cNvSpPr txBox="1"/>
          <p:nvPr/>
        </p:nvSpPr>
        <p:spPr>
          <a:xfrm>
            <a:off x="457200" y="3703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34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tokens, faster, cheaper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5029200" y="3703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34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tokens, more thorough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57200" y="4114800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94360" y="4187952"/>
            <a:ext cx="402336" cy="402336"/>
          </a:xfrm>
          <a:prstGeom prst="ellipse">
            <a:avLst/>
          </a:prstGeom>
          <a:solidFill>
            <a:srgbClr val="4F6390"/>
          </a:solidFill>
          <a:ln w="6350">
            <a:solidFill>
              <a:srgbClr val="4F6390"/>
            </a:solidFill>
            <a:prstDash val="solid"/>
          </a:ln>
        </p:spPr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967" y="4292559"/>
            <a:ext cx="193121" cy="193121"/>
          </a:xfrm>
          <a:prstGeom prst="rect">
            <a:avLst/>
          </a:prstGeom>
        </p:spPr>
      </p:pic>
      <p:sp>
        <p:nvSpPr>
          <p:cNvPr id="35" name="Text 32"/>
          <p:cNvSpPr txBox="1"/>
          <p:nvPr/>
        </p:nvSpPr>
        <p:spPr>
          <a:xfrm>
            <a:off x="1143000" y="411480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affects ALL tokens — text, tool calls and thinking. </a:t>
            </a:r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signal, not a hard budget.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Adaptive thinking + effort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863840" y="429768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0" y="42976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760720" cy="3611880"/>
          </a:xfrm>
          <a:prstGeom prst="roundRect">
            <a:avLst>
              <a:gd name="adj" fmla="val 2025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1208" y="1688440"/>
            <a:ext cx="5632704" cy="335280"/>
          </a:xfrm>
          <a:prstGeom prst="roundRect">
            <a:avLst>
              <a:gd name="adj" fmla="val 10909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051560"/>
            <a:ext cx="5760720" cy="3611880"/>
          </a:xfrm>
          <a:prstGeom prst="rect">
            <a:avLst/>
          </a:prstGeom>
          <a:noFill/>
          <a:ln/>
        </p:spPr>
        <p:txBody>
          <a:bodyPr wrap="square" lIns="164592" tIns="128016" rIns="164592" bIns="128016" rtlCol="0" anchor="t"/>
          <a:lstStyle/>
          <a:p>
            <a:pPr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= client.messages.create(</a:t>
            </a:r>
            <a:endParaRPr lang="en-US" sz="11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model="claude-sonnet-5-5",</a:t>
            </a:r>
            <a:endParaRPr lang="en-US" sz="11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max_tokens=16000,</a:t>
            </a:r>
            <a:endParaRPr lang="en-US" sz="11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thinking={"type": "adaptive", "display": "summarized"},</a:t>
            </a:r>
            <a:endParaRPr lang="en-US" sz="11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output_config={"effort": "high"},</a:t>
            </a:r>
            <a:endParaRPr lang="en-US" sz="11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messages=[{"role": "user", "content":</a:t>
            </a:r>
            <a:endParaRPr lang="en-US" sz="11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"A bat and a ball cost $1.10 in total. The bat costs "</a:t>
            </a:r>
            <a:endParaRPr lang="en-US" sz="11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"$1.00 more than the ball. How much is the ball?"}],</a:t>
            </a:r>
            <a:endParaRPr lang="en-US" sz="11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block in r.content:</a:t>
            </a:r>
            <a:endParaRPr lang="en-US" sz="11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block.type == "thinking":</a:t>
            </a:r>
            <a:endParaRPr lang="en-US" sz="11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print("THINKING:", block.thinking)</a:t>
            </a:r>
            <a:endParaRPr lang="en-US" sz="11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elif block.type == "text":</a:t>
            </a:r>
            <a:endParaRPr lang="en-US" sz="11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print("ANSWER:", block.text)</a:t>
            </a:r>
            <a:endParaRPr lang="en-US" sz="11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print(r.usage.output_tokens)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46520" y="1051560"/>
            <a:ext cx="2240280" cy="1417320"/>
          </a:xfrm>
          <a:prstGeom prst="roundRect">
            <a:avLst>
              <a:gd name="adj" fmla="val 645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0" y="11155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r.content =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583680" y="1481328"/>
            <a:ext cx="1965960" cy="384048"/>
          </a:xfrm>
          <a:prstGeom prst="roundRect">
            <a:avLst>
              <a:gd name="adj" fmla="val 19048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0" y="148132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[0] thinking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583680" y="1956816"/>
            <a:ext cx="1965960" cy="384048"/>
          </a:xfrm>
          <a:prstGeom prst="roundRect">
            <a:avLst>
              <a:gd name="adj" fmla="val 19048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0" y="1956816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 text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46520" y="2651760"/>
            <a:ext cx="2240280" cy="2011680"/>
          </a:xfrm>
          <a:prstGeom prst="roundRect">
            <a:avLst>
              <a:gd name="adj" fmla="val 4545"/>
            </a:avLst>
          </a:prstGeom>
          <a:solidFill>
            <a:srgbClr val="FBE9E7"/>
          </a:solidFill>
          <a:ln w="15875">
            <a:solidFill>
              <a:srgbClr val="C0392B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1968" y="2788920"/>
            <a:ext cx="310896" cy="310896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6601968" y="3200400"/>
            <a:ext cx="1965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Responses can start with thinking blocks — never use </a:t>
            </a:r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content[0].text</a:t>
            </a:r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thinking models.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Extended thinking on Haiku 4.5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863840" y="429768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0" y="42976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2331720"/>
          </a:xfrm>
          <a:prstGeom prst="roundRect">
            <a:avLst>
              <a:gd name="adj" fmla="val 3137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1208" y="1781251"/>
            <a:ext cx="8101584" cy="182880"/>
          </a:xfrm>
          <a:prstGeom prst="roundRect">
            <a:avLst>
              <a:gd name="adj" fmla="val 20000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097280"/>
            <a:ext cx="8229600" cy="2331720"/>
          </a:xfrm>
          <a:prstGeom prst="rect">
            <a:avLst/>
          </a:prstGeom>
          <a:noFill/>
          <a:ln/>
        </p:spPr>
        <p:txBody>
          <a:bodyPr wrap="square" lIns="164592" tIns="128016" rIns="164592" bIns="128016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= client.messages.create(</a:t>
            </a:r>
            <a:endParaRPr lang="en-US" sz="1200" dirty="0"/>
          </a:p>
          <a:p>
            <a:pPr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model="claude-haiku-4-5-20251001",</a:t>
            </a:r>
            <a:endParaRPr lang="en-US" sz="1200" dirty="0"/>
          </a:p>
          <a:p>
            <a:pPr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max_tokens=4000,</a:t>
            </a:r>
            <a:endParaRPr lang="en-US" sz="1200" dirty="0"/>
          </a:p>
          <a:p>
            <a:pPr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thinking={"type": "enabled", "budget_tokens": 2000},</a:t>
            </a:r>
            <a:endParaRPr lang="en-US" sz="1200" dirty="0"/>
          </a:p>
          <a:p>
            <a:pPr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messages=[{"role": "user", "content":</a:t>
            </a:r>
            <a:endParaRPr lang="en-US" sz="1200" dirty="0"/>
          </a:p>
          <a:p>
            <a:pPr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"Is 3,599 a prime number? Explain briefly."}],</a:t>
            </a:r>
            <a:endParaRPr lang="en-US" sz="1200" dirty="0"/>
          </a:p>
          <a:p>
            <a:pPr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block in r.content:</a:t>
            </a:r>
            <a:endParaRPr lang="en-US" sz="1200" dirty="0"/>
          </a:p>
          <a:p>
            <a:pPr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print(block.type, "→", getattr(block, "thinking", None) or block.text)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703320"/>
            <a:ext cx="3977640" cy="777240"/>
          </a:xfrm>
          <a:prstGeom prst="roundRect">
            <a:avLst>
              <a:gd name="adj" fmla="val 11765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3881628"/>
            <a:ext cx="420624" cy="42062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442" y="3990990"/>
            <a:ext cx="201900" cy="20190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234440" y="370332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budget_tokens: min 1,024, less than max_tokens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709160" y="3703320"/>
            <a:ext cx="3977640" cy="777240"/>
          </a:xfrm>
          <a:prstGeom prst="roundRect">
            <a:avLst>
              <a:gd name="adj" fmla="val 11765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892040" y="3881628"/>
            <a:ext cx="420624" cy="42062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1402" y="3990990"/>
            <a:ext cx="201900" cy="20190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486400" y="370332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thinking = Haiku 4.5 &amp; older models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 mode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017520" cy="2560320"/>
          </a:xfrm>
          <a:prstGeom prst="roundRect">
            <a:avLst>
              <a:gd name="adj" fmla="val 3571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298448"/>
            <a:ext cx="457200" cy="45720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17320"/>
            <a:ext cx="219456" cy="2194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18288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1031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2.5×</a:t>
            </a:r>
            <a:endParaRPr lang="en-US" sz="64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063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tokens per second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749040" y="1143000"/>
            <a:ext cx="329184" cy="32918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4628" y="1228588"/>
            <a:ext cx="158008" cy="1580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206240" y="1097280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model, faster inference config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3749040" y="1655064"/>
            <a:ext cx="329184" cy="32918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4628" y="1740652"/>
            <a:ext cx="158008" cy="15800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206240" y="1609344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Opus 5.5 / 5 / 4.8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3749040" y="2167128"/>
            <a:ext cx="329184" cy="32918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4628" y="2252716"/>
            <a:ext cx="158008" cy="15800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4206240" y="2121408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price (Opus 5.5: $8 / $40 per MTok)</a:t>
            </a:r>
            <a:endParaRPr lang="en-US" sz="1500" dirty="0"/>
          </a:p>
        </p:txBody>
      </p:sp>
      <p:sp>
        <p:nvSpPr>
          <p:cNvPr id="18" name="Shape 12"/>
          <p:cNvSpPr/>
          <p:nvPr/>
        </p:nvSpPr>
        <p:spPr>
          <a:xfrm>
            <a:off x="3749040" y="2679192"/>
            <a:ext cx="329184" cy="32918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34628" y="2764780"/>
            <a:ext cx="158008" cy="158008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4206240" y="2633472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</a:t>
            </a:r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pPr indent="0" marL="0"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speed up time to first token</a:t>
            </a:r>
            <a:endParaRPr lang="en-US" sz="1500" dirty="0"/>
          </a:p>
        </p:txBody>
      </p:sp>
      <p:sp>
        <p:nvSpPr>
          <p:cNvPr id="21" name="Shape 14"/>
          <p:cNvSpPr/>
          <p:nvPr/>
        </p:nvSpPr>
        <p:spPr>
          <a:xfrm>
            <a:off x="3749040" y="3282696"/>
            <a:ext cx="329184" cy="32918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34628" y="3368284"/>
            <a:ext cx="158008" cy="158008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4206240" y="3145536"/>
            <a:ext cx="4480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preview (needs access); not on Batch API or cloud partners</a:t>
            </a:r>
            <a:endParaRPr lang="en-US" sz="1500" dirty="0"/>
          </a:p>
        </p:txBody>
      </p:sp>
      <p:sp>
        <p:nvSpPr>
          <p:cNvPr id="24" name="Shape 16"/>
          <p:cNvSpPr/>
          <p:nvPr/>
        </p:nvSpPr>
        <p:spPr>
          <a:xfrm>
            <a:off x="457200" y="393192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25" name="Text 17"/>
          <p:cNvSpPr txBox="1"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  <a:ln/>
        </p:spPr>
        <p:txBody>
          <a:bodyPr wrap="square" lIns="164592" tIns="146304" rIns="164592" bIns="146304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client.beta.messages.create(..., speed="fast", betas=["fast-mode-2026-02-01"])</a:t>
            </a:r>
            <a:endParaRPr lang="en-US" sz="1200" dirty="0"/>
          </a:p>
        </p:txBody>
      </p:sp>
      <p:sp>
        <p:nvSpPr>
          <p:cNvPr id="26" name="Text 18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quality / latency / cost triangle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017520" y="1463040"/>
            <a:ext cx="3108960" cy="2514600"/>
          </a:xfrm>
          <a:prstGeom prst="triangle">
            <a:avLst/>
          </a:prstGeom>
          <a:solidFill>
            <a:srgbClr val="E8EEF7"/>
          </a:solidFill>
          <a:ln w="19050">
            <a:solidFill>
              <a:srgbClr val="4F63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96512" y="987552"/>
            <a:ext cx="950976" cy="950976"/>
          </a:xfrm>
          <a:prstGeom prst="ellipse">
            <a:avLst/>
          </a:prstGeom>
          <a:solidFill>
            <a:srgbClr val="1F2A4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096512" y="987552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542032" y="3502152"/>
            <a:ext cx="950976" cy="950976"/>
          </a:xfrm>
          <a:prstGeom prst="ellipse">
            <a:avLst/>
          </a:prstGeom>
          <a:solidFill>
            <a:srgbClr val="1F2A4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542032" y="3502152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50992" y="3502152"/>
            <a:ext cx="950976" cy="950976"/>
          </a:xfrm>
          <a:prstGeom prst="ellipse">
            <a:avLst/>
          </a:prstGeom>
          <a:solidFill>
            <a:srgbClr val="1F2A4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50992" y="3502152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97680" y="2788920"/>
            <a:ext cx="548640" cy="54864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40326" y="2931566"/>
            <a:ext cx="263347" cy="263347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457200" y="1143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LEVERS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6675120" y="1143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1508760"/>
            <a:ext cx="2011680" cy="502920"/>
          </a:xfrm>
          <a:prstGeom prst="roundRect">
            <a:avLst>
              <a:gd name="adj" fmla="val 49091"/>
            </a:avLst>
          </a:prstGeom>
          <a:solidFill>
            <a:srgbClr val="F6D3C8"/>
          </a:solidFill>
          <a:ln w="6350">
            <a:solidFill>
              <a:srgbClr val="F6D3C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57200" y="15087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tier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457200" y="2194560"/>
            <a:ext cx="2011680" cy="502920"/>
          </a:xfrm>
          <a:prstGeom prst="roundRect">
            <a:avLst>
              <a:gd name="adj" fmla="val 49091"/>
            </a:avLst>
          </a:prstGeom>
          <a:solidFill>
            <a:srgbClr val="F6D3C8"/>
          </a:solidFill>
          <a:ln w="6350">
            <a:solidFill>
              <a:srgbClr val="F6D3C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57200" y="21945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level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457200" y="2880360"/>
            <a:ext cx="2011680" cy="502920"/>
          </a:xfrm>
          <a:prstGeom prst="roundRect">
            <a:avLst>
              <a:gd name="adj" fmla="val 49091"/>
            </a:avLst>
          </a:prstGeom>
          <a:solidFill>
            <a:srgbClr val="F6D3C8"/>
          </a:solidFill>
          <a:ln w="6350">
            <a:solidFill>
              <a:srgbClr val="F6D3C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57200" y="28803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thinking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6675120" y="1508760"/>
            <a:ext cx="2011680" cy="502920"/>
          </a:xfrm>
          <a:prstGeom prst="roundRect">
            <a:avLst>
              <a:gd name="adj" fmla="val 49091"/>
            </a:avLst>
          </a:prstGeom>
          <a:solidFill>
            <a:srgbClr val="F6D3C8"/>
          </a:solidFill>
          <a:ln w="6350">
            <a:solidFill>
              <a:srgbClr val="F6D3C8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675120" y="15087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mode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6675120" y="2194560"/>
            <a:ext cx="2011680" cy="502920"/>
          </a:xfrm>
          <a:prstGeom prst="roundRect">
            <a:avLst>
              <a:gd name="adj" fmla="val 49091"/>
            </a:avLst>
          </a:prstGeom>
          <a:solidFill>
            <a:srgbClr val="F6D3C8"/>
          </a:solidFill>
          <a:ln w="6350">
            <a:solidFill>
              <a:srgbClr val="F6D3C8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675120" y="21945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max_tokens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6675120" y="2880360"/>
            <a:ext cx="2011680" cy="502920"/>
          </a:xfrm>
          <a:prstGeom prst="roundRect">
            <a:avLst>
              <a:gd name="adj" fmla="val 49091"/>
            </a:avLst>
          </a:prstGeom>
          <a:solidFill>
            <a:srgbClr val="F6D3C8"/>
          </a:solidFill>
          <a:ln w="6350">
            <a:solidFill>
              <a:srgbClr val="F6D3C8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675120" y="28803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length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457200" y="4553712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34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option moves you around this triangle. Pick based on the stated constraint.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6868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6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37744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Prompting basics: zero, one, few-shot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4984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44168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73352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02536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31720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60904" y="4160520"/>
            <a:ext cx="182880" cy="18288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90088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Zero, one, few-shot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560320" cy="2743200"/>
          </a:xfrm>
          <a:prstGeom prst="roundRect">
            <a:avLst>
              <a:gd name="adj" fmla="val 3571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457200" cy="45720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2344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Zero-shot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830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4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only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2194560"/>
            <a:ext cx="22860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240280"/>
            <a:ext cx="2011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the sentiment: 'The delivery was late again.'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91840" y="1097280"/>
            <a:ext cx="2560320" cy="2743200"/>
          </a:xfrm>
          <a:prstGeom prst="roundRect">
            <a:avLst>
              <a:gd name="adj" fmla="val 3571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0" y="1234440"/>
            <a:ext cx="457200" cy="45720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7472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069080" y="12344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One-shot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17830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4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one example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429000" y="2194560"/>
            <a:ext cx="22860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566160" y="2240280"/>
            <a:ext cx="2011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'Loved it!' → positive. Now: 'The delivery was late again.'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126480" y="1097280"/>
            <a:ext cx="2560320" cy="2743200"/>
          </a:xfrm>
          <a:prstGeom prst="roundRect">
            <a:avLst>
              <a:gd name="adj" fmla="val 3571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1234440"/>
            <a:ext cx="457200" cy="45720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0936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903720" y="12344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Few-shot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6309360" y="17830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4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several diverse examples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263640" y="2194560"/>
            <a:ext cx="22860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0" y="2286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0" y="2651760"/>
            <a:ext cx="950976" cy="365760"/>
          </a:xfrm>
          <a:prstGeom prst="roundRect">
            <a:avLst>
              <a:gd name="adj" fmla="val 50000"/>
            </a:avLst>
          </a:prstGeom>
          <a:solidFill>
            <a:srgbClr val="E6F4EC"/>
          </a:solidFill>
          <a:ln w="9525">
            <a:solidFill>
              <a:srgbClr val="C9D5E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0" y="2651760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424928" y="2651760"/>
            <a:ext cx="950976" cy="365760"/>
          </a:xfrm>
          <a:prstGeom prst="roundRect">
            <a:avLst>
              <a:gd name="adj" fmla="val 50000"/>
            </a:avLst>
          </a:prstGeom>
          <a:solidFill>
            <a:srgbClr val="FBE9E7"/>
          </a:solidFill>
          <a:ln w="9525">
            <a:solidFill>
              <a:srgbClr val="C9D5E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424928" y="2651760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0" y="3127248"/>
            <a:ext cx="950976" cy="365760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 w="9525">
            <a:solidFill>
              <a:srgbClr val="C9D5E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00800" y="3127248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424928" y="3127248"/>
            <a:ext cx="950976" cy="365760"/>
          </a:xfrm>
          <a:prstGeom prst="roundRect">
            <a:avLst>
              <a:gd name="adj" fmla="val 50000"/>
            </a:avLst>
          </a:prstGeom>
          <a:solidFill>
            <a:srgbClr val="F6D3C8"/>
          </a:solidFill>
          <a:ln w="9525">
            <a:solidFill>
              <a:srgbClr val="C9D5E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424928" y="3127248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57200" y="402336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85800" y="40233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When: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for simple, well-known tasks  ·  few-shot when format or edge cases matter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Few-shot classifier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863840" y="429768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0" y="42976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3401568"/>
          </a:xfrm>
          <a:prstGeom prst="roundRect">
            <a:avLst>
              <a:gd name="adj" fmla="val 2151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1208" y="1459154"/>
            <a:ext cx="8101584" cy="800100"/>
          </a:xfrm>
          <a:prstGeom prst="roundRect">
            <a:avLst>
              <a:gd name="adj" fmla="val 4571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005840"/>
            <a:ext cx="8229600" cy="3401568"/>
          </a:xfrm>
          <a:prstGeom prst="rect">
            <a:avLst/>
          </a:prstGeom>
          <a:noFill/>
          <a:ln/>
        </p:spPr>
        <p:txBody>
          <a:bodyPr wrap="square" lIns="164592" tIns="128016" rIns="164592" bIns="128016" rtlCol="0" anchor="t"/>
          <a:lstStyle/>
          <a:p>
            <a:pPr indent="0" marL="0">
              <a:lnSpc>
                <a:spcPts val="126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= "Classify customer messages as positive, negative or neutral. Reply with one word."</a:t>
            </a:r>
            <a:endParaRPr lang="en-US" sz="1050" dirty="0"/>
          </a:p>
          <a:p>
            <a:pPr indent="0" marL="0">
              <a:lnSpc>
                <a:spcPts val="126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ts val="126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EXAMPLES = """&lt;examples&gt;</a:t>
            </a:r>
            <a:endParaRPr lang="en-US" sz="1050" dirty="0"/>
          </a:p>
          <a:p>
            <a:pPr indent="0" marL="0">
              <a:lnSpc>
                <a:spcPts val="126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&lt;example&gt;&lt;input&gt;Loved the new update!&lt;/input&gt;&lt;label&gt;positive&lt;/label&gt;&lt;/example&gt;</a:t>
            </a:r>
            <a:endParaRPr lang="en-US" sz="1050" dirty="0"/>
          </a:p>
          <a:p>
            <a:pPr indent="0" marL="0">
              <a:lnSpc>
                <a:spcPts val="126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&lt;example&gt;&lt;input&gt;App crashes every time I log in.&lt;/input&gt;&lt;label&gt;negative&lt;/label&gt;&lt;/example&gt;</a:t>
            </a:r>
            <a:endParaRPr lang="en-US" sz="1050" dirty="0"/>
          </a:p>
          <a:p>
            <a:pPr indent="0" marL="0">
              <a:lnSpc>
                <a:spcPts val="126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&lt;example&gt;&lt;input&gt;How do I change my email?&lt;/input&gt;&lt;label&gt;neutral&lt;/label&gt;&lt;/example&gt;</a:t>
            </a:r>
            <a:endParaRPr lang="en-US" sz="1050" dirty="0"/>
          </a:p>
          <a:p>
            <a:pPr indent="0" marL="0">
              <a:lnSpc>
                <a:spcPts val="126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&lt;/examples&gt;"""</a:t>
            </a:r>
            <a:endParaRPr lang="en-US" sz="1050" dirty="0"/>
          </a:p>
          <a:p>
            <a:pPr indent="0" marL="0">
              <a:lnSpc>
                <a:spcPts val="126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ts val="126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classify(text):</a:t>
            </a:r>
            <a:endParaRPr lang="en-US" sz="1050" dirty="0"/>
          </a:p>
          <a:p>
            <a:pPr indent="0" marL="0">
              <a:lnSpc>
                <a:spcPts val="126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 = client.messages.create(</a:t>
            </a:r>
            <a:endParaRPr lang="en-US" sz="1050" dirty="0"/>
          </a:p>
          <a:p>
            <a:pPr indent="0" marL="0">
              <a:lnSpc>
                <a:spcPts val="126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model="claude-haiku-4-5-20251001",</a:t>
            </a:r>
            <a:endParaRPr lang="en-US" sz="1050" dirty="0"/>
          </a:p>
          <a:p>
            <a:pPr indent="0" marL="0">
              <a:lnSpc>
                <a:spcPts val="126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max_tokens=5,</a:t>
            </a:r>
            <a:endParaRPr lang="en-US" sz="1050" dirty="0"/>
          </a:p>
          <a:p>
            <a:pPr indent="0" marL="0">
              <a:lnSpc>
                <a:spcPts val="126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system=SYSTEM,</a:t>
            </a:r>
            <a:endParaRPr lang="en-US" sz="1050" dirty="0"/>
          </a:p>
          <a:p>
            <a:pPr indent="0" marL="0">
              <a:lnSpc>
                <a:spcPts val="126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messages=[{"role": "user",</a:t>
            </a:r>
            <a:endParaRPr lang="en-US" sz="1050" dirty="0"/>
          </a:p>
          <a:p>
            <a:pPr indent="0" marL="0">
              <a:lnSpc>
                <a:spcPts val="126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"content": f"{EXAMPLES}\n\n&lt;input&gt;{text}&lt;/input&gt;"}],</a:t>
            </a:r>
            <a:endParaRPr lang="en-US" sz="1050" dirty="0"/>
          </a:p>
          <a:p>
            <a:pPr indent="0" marL="0">
              <a:lnSpc>
                <a:spcPts val="126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1050" dirty="0"/>
          </a:p>
          <a:p>
            <a:pPr indent="0" marL="0">
              <a:lnSpc>
                <a:spcPts val="126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r.content[0].text.strip()</a:t>
            </a:r>
            <a:endParaRPr lang="en-US" sz="1050" dirty="0"/>
          </a:p>
          <a:p>
            <a:pPr indent="0" marL="0">
              <a:lnSpc>
                <a:spcPts val="126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ts val="126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print(classify("Refund took three weeks. Not happy."))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48056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the instruction   ·   </a:t>
            </a:r>
            <a:pPr indent="0" marL="0">
              <a:buNone/>
            </a:pPr>
            <a:r>
              <a:rPr lang="en-US" sz="130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&lt;examples&gt;</a:t>
            </a:r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the few shots   ·   </a:t>
            </a:r>
            <a:pPr indent="0" marL="0">
              <a:buNone/>
            </a:pPr>
            <a:r>
              <a:rPr lang="en-US" sz="130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max_tokens=5</a:t>
            </a:r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one-word reply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 traps</a:t>
            </a:r>
            <a:endParaRPr lang="en-US" sz="34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Wrong instinct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0292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Better answer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0292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B57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"Lower temperature to stop hallucinations"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 with docs/tools, validate output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"Always use the biggest model"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smallest model that passes evals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"Answer cut off? Rewrite the prompt"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stop_reason; raise max_tokens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"Claude remembers the last call"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is stateless; resend history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"Bigger context = better answers"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rot; curate context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"Read content[0].text"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 blocks by type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</a:tr>
            </a:tbl>
          </a:graphicData>
        </a:graphic>
      </p:graphicFrame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216152"/>
            <a:ext cx="219456" cy="219456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592" y="1216152"/>
            <a:ext cx="219456" cy="219456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1344168"/>
            <a:ext cx="475488" cy="47548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995" y="1467795"/>
            <a:ext cx="228234" cy="22823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194560" y="1344168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8A9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58368" y="19202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drive cost, speed, limits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291840" y="114300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93008" y="1344168"/>
            <a:ext cx="475488" cy="47548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6635" y="1467795"/>
            <a:ext cx="228234" cy="22823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029200" y="1344168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8A9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3493008" y="19202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≈ 5× input price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6126480" y="114300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327648" y="1344168"/>
            <a:ext cx="475488" cy="47548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1275" y="1467795"/>
            <a:ext cx="228234" cy="22823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863840" y="1344168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8A9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6327648" y="19202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= everything, incl. the answer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457200" y="288036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58368" y="3081528"/>
            <a:ext cx="475488" cy="47548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995" y="3205155"/>
            <a:ext cx="228234" cy="22823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2194560" y="3081528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8A9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658368" y="36576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vary — design for it</a:t>
            </a:r>
            <a:endParaRPr lang="en-US" sz="1600" dirty="0"/>
          </a:p>
        </p:txBody>
      </p:sp>
      <p:sp>
        <p:nvSpPr>
          <p:cNvPr id="23" name="Shape 17"/>
          <p:cNvSpPr/>
          <p:nvPr/>
        </p:nvSpPr>
        <p:spPr>
          <a:xfrm>
            <a:off x="3291840" y="288036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3493008" y="3081528"/>
            <a:ext cx="475488" cy="47548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6635" y="3205155"/>
            <a:ext cx="228234" cy="22823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029200" y="3081528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8A9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Text 20"/>
          <p:cNvSpPr txBox="1"/>
          <p:nvPr/>
        </p:nvSpPr>
        <p:spPr>
          <a:xfrm>
            <a:off x="3493008" y="36576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model by task, verify with evals</a:t>
            </a:r>
            <a:endParaRPr lang="en-US" sz="1600" dirty="0"/>
          </a:p>
        </p:txBody>
      </p:sp>
      <p:sp>
        <p:nvSpPr>
          <p:cNvPr id="28" name="Shape 21"/>
          <p:cNvSpPr/>
          <p:nvPr/>
        </p:nvSpPr>
        <p:spPr>
          <a:xfrm>
            <a:off x="6126480" y="288036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6327648" y="3081528"/>
            <a:ext cx="475488" cy="47548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1275" y="3205155"/>
            <a:ext cx="228234" cy="228234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7863840" y="3081528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8A9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800" dirty="0"/>
          </a:p>
        </p:txBody>
      </p:sp>
      <p:sp>
        <p:nvSpPr>
          <p:cNvPr id="32" name="Text 24"/>
          <p:cNvSpPr txBox="1"/>
          <p:nvPr/>
        </p:nvSpPr>
        <p:spPr>
          <a:xfrm>
            <a:off x="6327648" y="36576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&amp; thinking trade tokens for quality</a:t>
            </a:r>
            <a:endParaRPr lang="en-US" sz="1600" dirty="0"/>
          </a:p>
        </p:txBody>
      </p:sp>
      <p:sp>
        <p:nvSpPr>
          <p:cNvPr id="33" name="Text 25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exercises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560320" cy="1691640"/>
          </a:xfrm>
          <a:prstGeom prst="roundRect">
            <a:avLst>
              <a:gd name="adj" fmla="val 5405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80160"/>
            <a:ext cx="420624" cy="42062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801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286000" y="1335024"/>
            <a:ext cx="548640" cy="310896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286000" y="1335024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15m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773936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 detective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103120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tokens for English, Hindi, Python code and JSON across 3 models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1097280"/>
            <a:ext cx="2560320" cy="1691640"/>
          </a:xfrm>
          <a:prstGeom prst="roundRect">
            <a:avLst>
              <a:gd name="adj" fmla="val 5405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0" y="1280160"/>
            <a:ext cx="420624" cy="42062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74720" y="12801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120640" y="1335024"/>
            <a:ext cx="548640" cy="310896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120640" y="1335024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15m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474720" y="1773936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calculator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474720" y="2103120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chats/day × 1,500 in + 400 out tokens — daily cost per model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26480" y="1097280"/>
            <a:ext cx="2560320" cy="1691640"/>
          </a:xfrm>
          <a:prstGeom prst="roundRect">
            <a:avLst>
              <a:gd name="adj" fmla="val 5405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1280160"/>
            <a:ext cx="420624" cy="42062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09360" y="12801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955280" y="1335024"/>
            <a:ext cx="548640" cy="310896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955280" y="1335024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15m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309360" y="1773936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Growing context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309360" y="2103120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10-turn chat, print input tokens per turn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2907792"/>
            <a:ext cx="2560320" cy="1691640"/>
          </a:xfrm>
          <a:prstGeom prst="roundRect">
            <a:avLst>
              <a:gd name="adj" fmla="val 5405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3090672"/>
            <a:ext cx="420624" cy="42062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0080" y="30906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2286000" y="3145536"/>
            <a:ext cx="548640" cy="310896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286000" y="3145536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10m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358444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Sampling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" y="3913632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Haiku at temp 0 vs 1; then try Opus 5.5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291840" y="2907792"/>
            <a:ext cx="2560320" cy="1691640"/>
          </a:xfrm>
          <a:prstGeom prst="roundRect">
            <a:avLst>
              <a:gd name="adj" fmla="val 5405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474720" y="3090672"/>
            <a:ext cx="420624" cy="42062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474720" y="30906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5120640" y="3145536"/>
            <a:ext cx="548640" cy="310896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120640" y="3145536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15m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3474720" y="358444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Effort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3474720" y="3913632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puzzle at low vs high effort — tokens, time, correctness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126480" y="2907792"/>
            <a:ext cx="2560320" cy="1691640"/>
          </a:xfrm>
          <a:prstGeom prst="roundRect">
            <a:avLst>
              <a:gd name="adj" fmla="val 5405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09360" y="3090672"/>
            <a:ext cx="420624" cy="42062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309360" y="30906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7955280" y="3145536"/>
            <a:ext cx="548640" cy="310896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955280" y="3145536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15m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6309360" y="358444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Few-shot</a:t>
            </a:r>
            <a:endParaRPr lang="en-US" sz="1600" dirty="0"/>
          </a:p>
        </p:txBody>
      </p:sp>
      <p:sp>
        <p:nvSpPr>
          <p:cNvPr id="44" name="Text 42"/>
          <p:cNvSpPr txBox="1"/>
          <p:nvPr/>
        </p:nvSpPr>
        <p:spPr>
          <a:xfrm>
            <a:off x="6309360" y="3913632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vs few-shot on 10 tricky tickets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check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24128"/>
            <a:ext cx="8229600" cy="658368"/>
          </a:xfrm>
          <a:prstGeom prst="roundRect">
            <a:avLst>
              <a:gd name="adj" fmla="val 13889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1143000"/>
            <a:ext cx="420624" cy="42062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1430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078992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tokens on Sonnet 5.5 cost how much vs input?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37160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</a:t>
            </a:r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        </a:t>
            </a:r>
            <a:pPr indent="0" marL="0">
              <a:buNone/>
            </a:pPr>
            <a:r>
              <a:rPr lang="en-US" sz="130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</a:t>
            </a:r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5×        </a:t>
            </a:r>
            <a:pPr indent="0" marL="0">
              <a:buNone/>
            </a:pPr>
            <a:r>
              <a:rPr lang="en-US" sz="130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</a:t>
            </a:r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       </a:t>
            </a:r>
            <a:pPr indent="0" marL="0">
              <a:buNone/>
            </a:pPr>
            <a:r>
              <a:rPr lang="en-US" sz="130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</a:t>
            </a:r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10×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755648"/>
            <a:ext cx="8229600" cy="658368"/>
          </a:xfrm>
          <a:prstGeom prst="roundRect">
            <a:avLst>
              <a:gd name="adj" fmla="val 13889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1874520"/>
            <a:ext cx="420624" cy="42062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6928" y="1874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1810512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reply ends mid-sentence with stop_reason "max_tokens". Best fix?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210312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</a:t>
            </a:r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temperature        </a:t>
            </a:r>
            <a:pPr indent="0" marL="0">
              <a:buNone/>
            </a:pPr>
            <a:r>
              <a:rPr lang="en-US" sz="130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</a:t>
            </a:r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max_tokens        </a:t>
            </a:r>
            <a:pPr indent="0" marL="0">
              <a:buNone/>
            </a:pPr>
            <a:r>
              <a:rPr lang="en-US" sz="130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</a:t>
            </a:r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bigger model        </a:t>
            </a:r>
            <a:pPr indent="0" marL="0">
              <a:buNone/>
            </a:pPr>
            <a:r>
              <a:rPr lang="en-US" sz="130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</a:t>
            </a:r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examples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487168"/>
            <a:ext cx="8229600" cy="658368"/>
          </a:xfrm>
          <a:prstGeom prst="roundRect">
            <a:avLst>
              <a:gd name="adj" fmla="val 13889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" y="2606040"/>
            <a:ext cx="420624" cy="42062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66928" y="2606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2542032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a 20-turn chat get slower and pricier each turn?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283464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</a:t>
            </a:r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gets tired        </a:t>
            </a:r>
            <a:pPr indent="0" marL="0">
              <a:buNone/>
            </a:pPr>
            <a:r>
              <a:rPr lang="en-US" sz="130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</a:t>
            </a:r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history resent each call        </a:t>
            </a:r>
            <a:pPr indent="0" marL="0">
              <a:buNone/>
            </a:pPr>
            <a:r>
              <a:rPr lang="en-US" sz="130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</a:t>
            </a:r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limits        </a:t>
            </a:r>
            <a:pPr indent="0" marL="0">
              <a:buNone/>
            </a:pPr>
            <a:r>
              <a:rPr lang="en-US" sz="130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</a:t>
            </a:r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218688"/>
            <a:ext cx="8229600" cy="658368"/>
          </a:xfrm>
          <a:prstGeom prst="roundRect">
            <a:avLst>
              <a:gd name="adj" fmla="val 13889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6928" y="3337560"/>
            <a:ext cx="420624" cy="42062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66928" y="33375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3273552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send temperature=0.2 to claude-opus-5-5. What happens?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" y="356616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</a:t>
            </a:r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ignored        </a:t>
            </a:r>
            <a:pPr indent="0" marL="0">
              <a:buNone/>
            </a:pPr>
            <a:r>
              <a:rPr lang="en-US" sz="130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</a:t>
            </a:r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error        </a:t>
            </a:r>
            <a:pPr indent="0" marL="0">
              <a:buNone/>
            </a:pPr>
            <a:r>
              <a:rPr lang="en-US" sz="130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</a:t>
            </a:r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deterministic        </a:t>
            </a:r>
            <a:pPr indent="0" marL="0">
              <a:buNone/>
            </a:pPr>
            <a:r>
              <a:rPr lang="en-US" sz="130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</a:t>
            </a:r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effort low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3950208"/>
            <a:ext cx="8229600" cy="658368"/>
          </a:xfrm>
          <a:prstGeom prst="roundRect">
            <a:avLst>
              <a:gd name="adj" fmla="val 13889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6928" y="4069080"/>
            <a:ext cx="420624" cy="42062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66928" y="4069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143000" y="4005072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Nightly classification of 1M short tickets, simple labels. Best starting model?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143000" y="429768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</a:t>
            </a:r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Fable 5.1        </a:t>
            </a:r>
            <a:pPr indent="0" marL="0">
              <a:buNone/>
            </a:pPr>
            <a:r>
              <a:rPr lang="en-US" sz="130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</a:t>
            </a:r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Opus 5.5        </a:t>
            </a:r>
            <a:pPr indent="0" marL="0">
              <a:buNone/>
            </a:pPr>
            <a:r>
              <a:rPr lang="en-US" sz="130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</a:t>
            </a:r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Haiku 4.5        </a:t>
            </a:r>
            <a:pPr indent="0" marL="0">
              <a:buNone/>
            </a:pPr>
            <a:r>
              <a:rPr lang="en-US" sz="130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</a:t>
            </a:r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any, same cost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94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2: Software engineering for AI apps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795528" cy="402336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19050">
            <a:solidFill>
              <a:srgbClr val="E07A5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965960"/>
            <a:ext cx="795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600200" y="1965960"/>
            <a:ext cx="795528" cy="402336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19050">
            <a:solidFill>
              <a:srgbClr val="E07A5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600200" y="1965960"/>
            <a:ext cx="795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560320" y="1965960"/>
            <a:ext cx="914400" cy="402336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19050">
            <a:solidFill>
              <a:srgbClr val="E07A5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60320" y="1965960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39312" y="1965960"/>
            <a:ext cx="795528" cy="402336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19050">
            <a:solidFill>
              <a:srgbClr val="E07A5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39312" y="1965960"/>
            <a:ext cx="795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99432" y="1965960"/>
            <a:ext cx="676656" cy="402336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19050">
            <a:solidFill>
              <a:srgbClr val="E07A5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99432" y="1965960"/>
            <a:ext cx="6766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2743200"/>
            <a:ext cx="7863840" cy="1737360"/>
          </a:xfrm>
          <a:prstGeom prst="roundRect">
            <a:avLst>
              <a:gd name="adj" fmla="val 5263"/>
            </a:avLst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2944368"/>
            <a:ext cx="457200" cy="45720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3063240"/>
            <a:ext cx="219456" cy="219456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463040" y="294436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Homework: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labs 1–6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1463040" y="35204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docs pages: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1463040" y="3931920"/>
            <a:ext cx="1623060" cy="384048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463040" y="3931920"/>
            <a:ext cx="1623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overview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3223260" y="3931920"/>
            <a:ext cx="1623060" cy="384048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223260" y="3931920"/>
            <a:ext cx="1623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windows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4983480" y="3931920"/>
            <a:ext cx="1796796" cy="384048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983480" y="3931920"/>
            <a:ext cx="17967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thinking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6917436" y="3931920"/>
            <a:ext cx="841248" cy="384048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917436" y="3931920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48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 and Claude Fundamentals</dc:title>
  <dc:subject>PptxGenJS Presentation</dc:subject>
  <dc:creator>Claude Certified Developer – Foundations</dc:creator>
  <cp:lastModifiedBy>Claude Certified Developer – Foundations</cp:lastModifiedBy>
  <cp:revision>1</cp:revision>
  <dcterms:created xsi:type="dcterms:W3CDTF">2026-09-29T03:36:02Z</dcterms:created>
  <dcterms:modified xsi:type="dcterms:W3CDTF">2026-09-29T03:36:02Z</dcterms:modified>
</cp:coreProperties>
</file>