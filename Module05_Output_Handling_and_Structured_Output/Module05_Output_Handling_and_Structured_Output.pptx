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1: Title — Output Handling and Structured Output.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2: Learning outcomes.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3: Agenda.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4: Section 01 — Why output handling matters.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5: What can go wrong.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6: Three ways to get JSON.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7: Section 02 — Structured outputs and strict tools.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8: How constrained decoding works.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9: CODE — 01_json_outputs.py.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10: CODE — 02_parse_pydantic.py.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11: Two features, one engine.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12: CODE — 03_tool_extraction.py.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13: Choosing an approach.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14: Still not guaranteed.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15: Section 03 — Schema design.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16: What the schema can say.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17: Required, optional, nullable.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18: Schema design rules.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19: CODE — invoice_models.py.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20: Section 04 — Validate and retry.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21: Three layers of validation.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22: CODE — retry_extract.py.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23: Section 05 — Defensive parsing.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24: What models really return.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25: CODE — safe_json.py.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26: Section 06 — Trust, but verify.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27: Confident is not correct.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28: CODE — checks.py.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29: Citations — tie claims to sources.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30: Exam traps — wrong instinct vs better answer.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31: Key takeaways.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32: Lab — invoice to validated JSON.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33: Quick check quiz — answers are in the speaker guide only.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speaker guide, Slide 34: Next up — Module 6 and homework. Talking points, timings and demos are in the separate speaker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image" Target="../media/image-3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5486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Handling and Structured Output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Claude Certified Developer – Foundations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4297680" cy="420624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Building with Claude · 2 hours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234440"/>
            <a:ext cx="2286000" cy="22860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23444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1207008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621" y="1321125"/>
            <a:ext cx="210678" cy="2106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0515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free-text JSON breaks pipelines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931920" y="10515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94767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" y="21031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21" y="2217237"/>
            <a:ext cx="210678" cy="2106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94767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schema-valid JSON with structured outputs and messages.parse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194767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284378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3504" y="2999232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21" y="3113349"/>
            <a:ext cx="210678" cy="21067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84378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strict tool use and tool-based extraction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931920" y="284378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709160" y="105156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55464" y="1207008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581" y="1321125"/>
            <a:ext cx="210678" cy="21067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10515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schemas: required, optional, nullable, enums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183880" y="1051560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709160" y="1947672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55464" y="2103120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581" y="2217237"/>
            <a:ext cx="210678" cy="21067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40680" y="194767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Pydantic and retry with feedback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8183880" y="1947672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4709160" y="2843784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855464" y="2999232"/>
            <a:ext cx="438912" cy="438912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581" y="3113349"/>
            <a:ext cx="210678" cy="21067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440680" y="284378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defensively and verify numbers in code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8183880" y="2843784"/>
            <a:ext cx="384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457200" y="39319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143000" y="39319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6 — Output Handling 2.6% · plus strict tools (D8) and app design (D2)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79576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79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0515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output handling matters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520440" y="12344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2344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020824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18928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and strict tools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520440" y="207568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0440" y="20756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8620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27340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520440" y="2916936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20440" y="2916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75304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7033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3575304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retry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3520440" y="3758184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37581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105156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1179576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46320" y="1179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105156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parsing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772400" y="123444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0" y="12344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1892808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020824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46320" y="2020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1892808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but verify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7772400" y="2075688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0" y="20756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09160" y="2734056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862072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4632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440680" y="2734056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lab and quiz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7772400" y="2916936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772400" y="291693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min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09160" y="3575304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E07A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7033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3822192"/>
            <a:ext cx="219456" cy="219456"/>
          </a:xfrm>
          <a:prstGeom prst="rect">
            <a:avLst/>
          </a:prstGeom>
        </p:spPr>
      </p:pic>
      <p:sp>
        <p:nvSpPr>
          <p:cNvPr id="48" name="Text 45"/>
          <p:cNvSpPr txBox="1"/>
          <p:nvPr/>
        </p:nvSpPr>
        <p:spPr>
          <a:xfrm>
            <a:off x="5440680" y="357530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example: a fictional </a:t>
            </a:r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Learning</a:t>
            </a:r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invoice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output handling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go wrong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10642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211031"/>
            <a:ext cx="193121" cy="1931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24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520440" y="1024128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30168" y="1106424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775" y="1211031"/>
            <a:ext cx="193121" cy="19312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114800" y="1024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text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583680" y="1024128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693408" y="1106424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015" y="1211031"/>
            <a:ext cx="193121" cy="1931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178040" y="1024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2606040" y="1307592"/>
            <a:ext cx="868680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669280" y="1307592"/>
            <a:ext cx="86868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5577840" y="804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json.loads()?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1828800"/>
            <a:ext cx="2615184" cy="859536"/>
          </a:xfrm>
          <a:prstGeom prst="roundRect">
            <a:avLst>
              <a:gd name="adj" fmla="val 1063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85216" y="19476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68" y="2047524"/>
            <a:ext cx="184343" cy="18434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60704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fences</a:t>
            </a:r>
            <a:endParaRPr lang="en-US" sz="1450" dirty="0"/>
          </a:p>
        </p:txBody>
      </p:sp>
      <p:sp>
        <p:nvSpPr>
          <p:cNvPr id="22" name="Text 16"/>
          <p:cNvSpPr txBox="1"/>
          <p:nvPr/>
        </p:nvSpPr>
        <p:spPr>
          <a:xfrm>
            <a:off x="1060704" y="22860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```json { … } ```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64408" y="1828800"/>
            <a:ext cx="2615184" cy="859536"/>
          </a:xfrm>
          <a:prstGeom prst="roundRect">
            <a:avLst>
              <a:gd name="adj" fmla="val 1063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392424" y="19476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276" y="2047524"/>
            <a:ext cx="184343" cy="184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867912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around it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3867912" y="22860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is the JSON: { … }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071616" y="1828800"/>
            <a:ext cx="2615184" cy="859536"/>
          </a:xfrm>
          <a:prstGeom prst="roundRect">
            <a:avLst>
              <a:gd name="adj" fmla="val 1063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199632" y="194767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484" y="2047524"/>
            <a:ext cx="184343" cy="18434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675120" y="1920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extra fields</a:t>
            </a:r>
            <a:endParaRPr lang="en-US" sz="1450" dirty="0"/>
          </a:p>
        </p:txBody>
      </p:sp>
      <p:sp>
        <p:nvSpPr>
          <p:cNvPr id="32" name="Text 24"/>
          <p:cNvSpPr txBox="1"/>
          <p:nvPr/>
        </p:nvSpPr>
        <p:spPr>
          <a:xfrm>
            <a:off x="6675120" y="22860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"currency" key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57200" y="2816352"/>
            <a:ext cx="2615184" cy="859536"/>
          </a:xfrm>
          <a:prstGeom prst="roundRect">
            <a:avLst>
              <a:gd name="adj" fmla="val 1063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85216" y="293522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068" y="3035076"/>
            <a:ext cx="184343" cy="184343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060704" y="2907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</a:t>
            </a:r>
            <a:endParaRPr lang="en-US" sz="1450" dirty="0"/>
          </a:p>
        </p:txBody>
      </p:sp>
      <p:sp>
        <p:nvSpPr>
          <p:cNvPr id="37" name="Text 28"/>
          <p:cNvSpPr txBox="1"/>
          <p:nvPr/>
        </p:nvSpPr>
        <p:spPr>
          <a:xfrm>
            <a:off x="1060704" y="32735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"quantity": "12"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3264408" y="2816352"/>
            <a:ext cx="2615184" cy="859536"/>
          </a:xfrm>
          <a:prstGeom prst="roundRect">
            <a:avLst>
              <a:gd name="adj" fmla="val 1063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3392424" y="293522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2276" y="3035076"/>
            <a:ext cx="184343" cy="184343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867912" y="2907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output</a:t>
            </a:r>
            <a:endParaRPr lang="en-US" sz="1450" dirty="0"/>
          </a:p>
        </p:txBody>
      </p:sp>
      <p:sp>
        <p:nvSpPr>
          <p:cNvPr id="42" name="Text 32"/>
          <p:cNvSpPr txBox="1"/>
          <p:nvPr/>
        </p:nvSpPr>
        <p:spPr>
          <a:xfrm>
            <a:off x="3867912" y="32735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stop_reason: max_tokens</a:t>
            </a: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6071616" y="2816352"/>
            <a:ext cx="2615184" cy="859536"/>
          </a:xfrm>
          <a:prstGeom prst="roundRect">
            <a:avLst>
              <a:gd name="adj" fmla="val 1063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199632" y="293522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9484" y="3035076"/>
            <a:ext cx="184343" cy="184343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675120" y="29077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Refusal, not data</a:t>
            </a:r>
            <a:endParaRPr lang="en-US" sz="1450" dirty="0"/>
          </a:p>
        </p:txBody>
      </p:sp>
      <p:sp>
        <p:nvSpPr>
          <p:cNvPr id="47" name="Text 36"/>
          <p:cNvSpPr txBox="1"/>
          <p:nvPr/>
        </p:nvSpPr>
        <p:spPr>
          <a:xfrm>
            <a:off x="6675120" y="327355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stop_reason: refusal</a:t>
            </a:r>
            <a:endParaRPr lang="en-US" sz="1050" dirty="0"/>
          </a:p>
        </p:txBody>
      </p:sp>
      <p:sp>
        <p:nvSpPr>
          <p:cNvPr id="48" name="Shape 37"/>
          <p:cNvSpPr/>
          <p:nvPr/>
        </p:nvSpPr>
        <p:spPr>
          <a:xfrm>
            <a:off x="457200" y="397764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967" y="4191975"/>
            <a:ext cx="193121" cy="193121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1143000" y="39776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worst one: valid JSON with a wrong number in it.</a:t>
            </a:r>
            <a:endParaRPr lang="en-US" sz="1500" dirty="0"/>
          </a:p>
        </p:txBody>
      </p:sp>
      <p:sp>
        <p:nvSpPr>
          <p:cNvPr id="52" name="Text 4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get JSON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2615184" cy="160020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242316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4231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237744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only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99923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only JSON."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32841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works. Parse defensively and validate.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64408" y="1737360"/>
            <a:ext cx="2615184" cy="2148840"/>
          </a:xfrm>
          <a:prstGeom prst="roundRect">
            <a:avLst>
              <a:gd name="adj" fmla="val 425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01568" y="187452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01568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22776" y="182880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Tool-based extraction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45059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tool_use.input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277977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whose input_schema is your record. Add strict: true.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15184" cy="2697480"/>
          </a:xfrm>
          <a:prstGeom prst="roundRect">
            <a:avLst>
              <a:gd name="adj" fmla="val 349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08776" y="1325880"/>
            <a:ext cx="420624" cy="42062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29984" y="1280160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36208" y="190195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output_config.format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236208" y="2231136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decoding: the schema is guaranteed.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1188720"/>
            <a:ext cx="4937760" cy="0"/>
          </a:xfrm>
          <a:prstGeom prst="line">
            <a:avLst/>
          </a:prstGeom>
          <a:noFill/>
          <a:ln w="3175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48640" y="1243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RELIABLE, LESS CLEAN-UP CODE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142232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46839"/>
            <a:ext cx="193121" cy="193121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143000" y="40690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the output when you can. Validate it always.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outputs and strict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constrained decoding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6696" y="1197864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323" y="1321491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30352" y="174650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30352" y="207568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format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286000" y="10515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25496" y="1197864"/>
            <a:ext cx="475488" cy="475488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123" y="1321491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59152" y="174650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2359152" y="207568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the API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114800" y="1051560"/>
            <a:ext cx="27432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51960" y="11247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251960" y="1417320"/>
            <a:ext cx="2468880" cy="329184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315968" y="14173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{"priority": "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251960" y="183794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1901952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44568" y="18379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504688" y="1837944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901952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97296" y="18379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251960" y="2185416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2249424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544568" y="21854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504688" y="2185416"/>
            <a:ext cx="1188720" cy="292608"/>
          </a:xfrm>
          <a:prstGeom prst="roundRect">
            <a:avLst>
              <a:gd name="adj" fmla="val 1875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249424"/>
            <a:ext cx="164592" cy="16459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797296" y="21854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7132320" y="1051560"/>
            <a:ext cx="1554480" cy="1508760"/>
          </a:xfrm>
          <a:prstGeom prst="roundRect">
            <a:avLst>
              <a:gd name="adj" fmla="val 606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7671816" y="1197864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5443" y="1321491"/>
            <a:ext cx="228234" cy="22823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05472" y="1746504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</a:t>
            </a:r>
            <a:endParaRPr lang="en-US" sz="1450" dirty="0"/>
          </a:p>
        </p:txBody>
      </p:sp>
      <p:sp>
        <p:nvSpPr>
          <p:cNvPr id="33" name="Text 24"/>
          <p:cNvSpPr txBox="1"/>
          <p:nvPr/>
        </p:nvSpPr>
        <p:spPr>
          <a:xfrm>
            <a:off x="7205472" y="2075688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schema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2029968" y="1805940"/>
            <a:ext cx="219456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5" name="Shape 26"/>
          <p:cNvSpPr/>
          <p:nvPr/>
        </p:nvSpPr>
        <p:spPr>
          <a:xfrm>
            <a:off x="3858768" y="1805940"/>
            <a:ext cx="219456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6" name="Shape 27"/>
          <p:cNvSpPr/>
          <p:nvPr/>
        </p:nvSpPr>
        <p:spPr>
          <a:xfrm>
            <a:off x="6876288" y="1805940"/>
            <a:ext cx="219456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37" name="Shape 28"/>
          <p:cNvSpPr/>
          <p:nvPr/>
        </p:nvSpPr>
        <p:spPr>
          <a:xfrm>
            <a:off x="457200" y="283464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585216" y="297180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068" y="3071652"/>
            <a:ext cx="184343" cy="184343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097280" y="2834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request with a new schema is slower: the grammar compiles</a:t>
            </a:r>
            <a:endParaRPr lang="en-US" sz="1300" dirty="0"/>
          </a:p>
        </p:txBody>
      </p:sp>
      <p:sp>
        <p:nvSpPr>
          <p:cNvPr id="41" name="Shape 31"/>
          <p:cNvSpPr/>
          <p:nvPr/>
        </p:nvSpPr>
        <p:spPr>
          <a:xfrm>
            <a:off x="4663440" y="2834640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4791456" y="297180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1308" y="3071652"/>
            <a:ext cx="184343" cy="184343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5303520" y="283464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grammar is cached for 24 hours from last use</a:t>
            </a:r>
            <a:endParaRPr lang="en-US" sz="1300" dirty="0"/>
          </a:p>
        </p:txBody>
      </p:sp>
      <p:sp>
        <p:nvSpPr>
          <p:cNvPr id="45" name="Shape 34"/>
          <p:cNvSpPr/>
          <p:nvPr/>
        </p:nvSpPr>
        <p:spPr>
          <a:xfrm>
            <a:off x="457200" y="3621024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585216" y="375818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068" y="3858036"/>
            <a:ext cx="184343" cy="184343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1097280" y="362102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extra system prompt describes the format (a few input tokens)</a:t>
            </a:r>
            <a:endParaRPr lang="en-US" sz="1300" dirty="0"/>
          </a:p>
        </p:txBody>
      </p:sp>
      <p:sp>
        <p:nvSpPr>
          <p:cNvPr id="49" name="Shape 37"/>
          <p:cNvSpPr/>
          <p:nvPr/>
        </p:nvSpPr>
        <p:spPr>
          <a:xfrm>
            <a:off x="4663440" y="3621024"/>
            <a:ext cx="4023360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4791456" y="375818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1308" y="3858036"/>
            <a:ext cx="184343" cy="184343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5303520" y="362102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format invalidates the prompt cache for that thread</a:t>
            </a:r>
            <a:endParaRPr lang="en-US" sz="1300" dirty="0"/>
          </a:p>
        </p:txBody>
      </p:sp>
      <p:sp>
        <p:nvSpPr>
          <p:cNvPr id="53" name="Text 40"/>
          <p:cNvSpPr txBox="1"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only pick tokens that keep the output valid.</a:t>
            </a:r>
            <a:endParaRPr lang="en-US" sz="1300" dirty="0"/>
          </a:p>
        </p:txBody>
      </p:sp>
      <p:sp>
        <p:nvSpPr>
          <p:cNvPr id="54" name="Text 4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01_json_outputs.py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308355"/>
            <a:ext cx="6227064" cy="134874"/>
          </a:xfrm>
          <a:prstGeom prst="roundRect">
            <a:avLst>
              <a:gd name="adj" fmla="val 2711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791969"/>
            <a:ext cx="6227064" cy="134874"/>
          </a:xfrm>
          <a:prstGeom prst="roundRect">
            <a:avLst>
              <a:gd name="adj" fmla="val 2711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4061717"/>
            <a:ext cx="6227064" cy="269748"/>
          </a:xfrm>
          <a:prstGeom prst="roundRect">
            <a:avLst>
              <a:gd name="adj" fmla="val 1355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109728" rIns="164592" bIns="109728" rtlCol="0" anchor="t"/>
          <a:lstStyle/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= {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"object",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"properties": {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"category": {"type": "string", "enum": ["billing", "bug", "how_to", "other"]},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"priority": {"type": "string", "enum": ["low", "medium", "high"]},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"summary": {"type": "string"},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"order_id": {"type": ["string", "null"]},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"required": ["category", "priority", "summary", "order_id"],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"additionalProperties": False,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"Triage this ticket: I was charged twice "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"for order A-1042 and need a refund today."}],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output_config={"format": {"type": "json_schema", "schema": schema}},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response.stop_reason != "end_turn": </a:t>
            </a:r>
            <a:pPr indent="0" marL="0">
              <a:lnSpc>
                <a:spcPts val="1062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refusal / max_tokens: may not match schema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RuntimeError(f"stopped early: {response.stop_reason}")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next(b.text for b in response.content if b.type == "text")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= json.loads(text)</a:t>
            </a:r>
            <a:endParaRPr lang="en-US" sz="900" dirty="0"/>
          </a:p>
          <a:p>
            <a:pPr indent="0" marL="0">
              <a:lnSpc>
                <a:spcPts val="1062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print(ticket["category"], ticket["priority"], ticket["order_id"])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059168" y="1097280"/>
            <a:ext cx="1627632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1472184"/>
            <a:ext cx="246888" cy="91275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097280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["string", "null"]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 field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240280"/>
            <a:ext cx="1627632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2615184"/>
            <a:ext cx="246888" cy="125336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240280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json_schema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154680"/>
            <a:ext cx="1627632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3529584"/>
            <a:ext cx="246888" cy="60871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154680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 first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059168" y="4069080"/>
            <a:ext cx="1627632" cy="658368"/>
          </a:xfrm>
          <a:prstGeom prst="roundRect">
            <a:avLst>
              <a:gd name="adj" fmla="val 1388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6812280" y="4398264"/>
            <a:ext cx="246888" cy="14465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3" name="Text 20"/>
          <p:cNvSpPr txBox="1"/>
          <p:nvPr/>
        </p:nvSpPr>
        <p:spPr>
          <a:xfrm>
            <a:off x="7168896" y="406908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json.loads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block → dict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02_parse_pydantic.py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355080" cy="3127248"/>
          </a:xfrm>
          <a:prstGeom prst="roundRect">
            <a:avLst>
              <a:gd name="adj" fmla="val 2339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192274"/>
            <a:ext cx="6227064" cy="120650"/>
          </a:xfrm>
          <a:prstGeom prst="roundRect">
            <a:avLst>
              <a:gd name="adj" fmla="val 3031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398774"/>
            <a:ext cx="6227064" cy="120650"/>
          </a:xfrm>
          <a:prstGeom prst="roundRect">
            <a:avLst>
              <a:gd name="adj" fmla="val 3031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640074"/>
            <a:ext cx="6227064" cy="120650"/>
          </a:xfrm>
          <a:prstGeom prst="roundRect">
            <a:avLst>
              <a:gd name="adj" fmla="val 3031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005840"/>
            <a:ext cx="6355080" cy="3127248"/>
          </a:xfrm>
          <a:prstGeom prst="rect">
            <a:avLst/>
          </a:prstGeom>
          <a:noFill/>
          <a:ln/>
        </p:spPr>
        <p:txBody>
          <a:bodyPr wrap="square" lIns="164592" tIns="109728" rIns="164592" bIns="109728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Literal, Optional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Ticket(BaseModel):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category: Literal["billing", "bug", "how_to", "other"]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priority: Literal["low", "medium", "high"]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summary: str = Field(description="One sentence, under 20 words")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order_id: Optional[str]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required key, but the value may be null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client.messages.parse(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model="claude-sonnet-5-5",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"Triage: the export button crashes "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"the app every time since Monday's update."}],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output_format=Ticket,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SDK builds output_config.format from the model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 = response.parsed_output </a:t>
            </a:r>
            <a:pPr indent="0" marL="0">
              <a:lnSpc>
                <a:spcPts val="950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a Ticket instance, or None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print(response.stop_reason, type(ticket).__name__)</a:t>
            </a:r>
            <a:endParaRPr lang="en-US" sz="950" dirty="0"/>
          </a:p>
          <a:p>
            <a:pPr indent="0" marL="0">
              <a:lnSpc>
                <a:spcPts val="95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print(ticket.model_dump_json(indent=2))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059168" y="114300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812280" y="1508760"/>
            <a:ext cx="246888" cy="75298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4" name="Text 11"/>
          <p:cNvSpPr txBox="1"/>
          <p:nvPr/>
        </p:nvSpPr>
        <p:spPr>
          <a:xfrm>
            <a:off x="7168896" y="11430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Optional[str]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may be null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59168" y="214884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812280" y="2514600"/>
            <a:ext cx="246888" cy="95364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7" name="Text 14"/>
          <p:cNvSpPr txBox="1"/>
          <p:nvPr/>
        </p:nvSpPr>
        <p:spPr>
          <a:xfrm>
            <a:off x="7168896" y="214884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output_format=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Pydantic class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059168" y="31546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6812280" y="3520440"/>
            <a:ext cx="246888" cy="189103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0" name="Text 17"/>
          <p:cNvSpPr txBox="1"/>
          <p:nvPr/>
        </p:nvSpPr>
        <p:spPr>
          <a:xfrm>
            <a:off x="7168896" y="3154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parsed_output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Ticket object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261104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85216" y="4334256"/>
            <a:ext cx="329184" cy="329184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804" y="4419844"/>
            <a:ext cx="158008" cy="158008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51560" y="426110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parse()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schema from your model + local validation. Invalid text raises </a:t>
            </a:r>
            <a:pPr indent="0" marL="0">
              <a:buNone/>
            </a:pPr>
            <a:r>
              <a:rPr lang="en-US" sz="13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</a:t>
            </a:r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features, one engine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3770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16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outputs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output_config.format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57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</a:t>
            </a:r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says</a:t>
            </a:r>
            <a:pPr indent="0" marL="0">
              <a:buNone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final text is schema-valid JSON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2834640"/>
            <a:ext cx="34290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" y="28346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classification, API responses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2606040"/>
          </a:xfrm>
          <a:prstGeom prst="roundRect">
            <a:avLst>
              <a:gd name="adj" fmla="val 3509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23444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37708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1216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tool use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5623560" y="15727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"strict": true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20574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</a:t>
            </a:r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calls your functions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tool_use.input matches input_schema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4983480" y="2834640"/>
            <a:ext cx="3429000" cy="603504"/>
          </a:xfrm>
          <a:prstGeom prst="roundRect">
            <a:avLst>
              <a:gd name="adj" fmla="val 12121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093208" y="2834640"/>
            <a:ext cx="3246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typed arguments, valid tool names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457200" y="3858768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4360" y="403250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37111"/>
            <a:ext cx="193121" cy="19312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3858768"/>
            <a:ext cx="7406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and schema rules.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 in one request. Per-request limits: </a:t>
            </a:r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strict tools · 24 optional params · 16 union params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03_tool_extraction.py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874249"/>
            <a:ext cx="6227064" cy="131445"/>
          </a:xfrm>
          <a:prstGeom prst="roundRect">
            <a:avLst>
              <a:gd name="adj" fmla="val 2782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714479"/>
            <a:ext cx="6227064" cy="131445"/>
          </a:xfrm>
          <a:prstGeom prst="roundRect">
            <a:avLst>
              <a:gd name="adj" fmla="val 2782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4108814"/>
            <a:ext cx="6227064" cy="131445"/>
          </a:xfrm>
          <a:prstGeom prst="roundRect">
            <a:avLst>
              <a:gd name="adj" fmla="val 2782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634594"/>
            <a:ext cx="6227064" cy="131445"/>
          </a:xfrm>
          <a:prstGeom prst="roundRect">
            <a:avLst>
              <a:gd name="adj" fmla="val 27826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109728" rIns="164592" bIns="109728" rtlCol="0" anchor="t"/>
          <a:lstStyle/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anthropic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anthropic.Anthropic()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CATEGORIES = ["billing", "bug", "how_to", "other"]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record_ticket = {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"record_ticket",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"Save one triaged support ticket. Call it exactly once.",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"strict": True, </a:t>
            </a:r>
            <a:pPr indent="0" marL="0">
              <a:lnSpc>
                <a:spcPts val="103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tool input is guaranteed to match input_schema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"input_schema": {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"object",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"properties": {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"category": {"type": "string", "enum": CATEGORIES},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"priority": {"type": "string", "enum": ["low", "medium", "high"]},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"summary": {"type": "string"},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"required": ["category", "priority", "summary"],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"additionalProperties": False,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model="claude-haiku-4-5-20251001", </a:t>
            </a:r>
            <a:pPr indent="0" marL="0">
              <a:lnSpc>
                <a:spcPts val="103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supports forced tool_choice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tools=[record_ticket],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tool_choice={"type": "tool", "name": "record_ticket"}, </a:t>
            </a:r>
            <a:pPr indent="0" marL="0">
              <a:lnSpc>
                <a:spcPts val="103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400 on 5.5 models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"Triage: how do I add a second user?"}],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= next(b for b in response.content if b.type == "tool_use")</a:t>
            </a:r>
            <a:endParaRPr lang="en-US" sz="900" dirty="0"/>
          </a:p>
          <a:p>
            <a:pPr indent="0" marL="0">
              <a:lnSpc>
                <a:spcPts val="1035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print(call.name, call.input) </a:t>
            </a:r>
            <a:pPr indent="0" marL="0">
              <a:lnSpc>
                <a:spcPts val="1035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input is already a dict: no json.loads needed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59168" y="914400"/>
            <a:ext cx="1627632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812280" y="1289304"/>
            <a:ext cx="246888" cy="65981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7168896" y="914400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"strict": True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guaranteed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59168" y="2103120"/>
            <a:ext cx="1627632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812280" y="2478024"/>
            <a:ext cx="246888" cy="1311321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7168896" y="2103120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4.5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forcing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59168" y="3063240"/>
            <a:ext cx="1627632" cy="749808"/>
          </a:xfrm>
          <a:prstGeom prst="roundRect">
            <a:avLst>
              <a:gd name="adj" fmla="val 1219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6812280" y="3438144"/>
            <a:ext cx="246888" cy="74553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7168896" y="3063240"/>
            <a:ext cx="14447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tool_choice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on 5.5 models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59168" y="4023360"/>
            <a:ext cx="1627632" cy="694944"/>
          </a:xfrm>
          <a:prstGeom prst="roundRect">
            <a:avLst>
              <a:gd name="adj" fmla="val 1315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6812280" y="4370832"/>
            <a:ext cx="246888" cy="33862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7168896" y="4023360"/>
            <a:ext cx="1444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call.input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 dict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an approach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final answer in a fixed JSON shape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output_config.format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messages.parse()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arguments in an agent's tool calls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strict: true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those tools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forced extraction tool (Haiku 4.5, older code)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tool +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tool_choice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{"type": "tool"}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on Opus 5.5, Sonnet 5.5, Fable 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tool_choice → 400: use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output_config.format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or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auto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Citations in the same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with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4466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format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(400): do it in two steps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model or platform without structured outputs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+ defensive parse + validate + retry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not guaranteed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15184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16152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339779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16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and billed, but the text may not match your schema. Don't blindly retry.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264408" y="1051560"/>
            <a:ext cx="2615184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47288" y="1216152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915" y="133977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41648" y="1216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cut off: the JSON is incomplete. Retry with a higher max_tokens.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071616" y="1051560"/>
            <a:ext cx="2615184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54496" y="1216152"/>
            <a:ext cx="475488" cy="47548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123" y="1339779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48856" y="121615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casing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"Topic 3" vs "topic 3". Compare enum values case-insensitively.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57200" y="309067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40080" y="309067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WITH JSON OUTPUTS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3611880" y="32004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721608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400 error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26480" y="320040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36208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prefill</a:t>
            </a:r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allowed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457200" y="3877056"/>
            <a:ext cx="8229600" cy="676656"/>
          </a:xfrm>
          <a:prstGeom prst="roundRect">
            <a:avLst>
              <a:gd name="adj" fmla="val 13514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94360" y="40142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67" y="4118823"/>
            <a:ext cx="193121" cy="19312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43000" y="3877056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 means well-shaped, not correct.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design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schema can say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4389120" cy="2926080"/>
          </a:xfrm>
          <a:prstGeom prst="roundRect">
            <a:avLst>
              <a:gd name="adj" fmla="val 3125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Supported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517904"/>
            <a:ext cx="4069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object, array, string, integer, number, boolean, null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(simple values only), const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anyOf, allOf (allOf with $ref: no)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$ref, $defs, definitions; default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required; additionalProperties: false (must be false)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formats: date, date-time, time, duration, email, hostname, uri, ipv4, ipv6, uuid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minItems 0 or 1 · simple regex pattern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0" y="1024128"/>
            <a:ext cx="3657600" cy="2926080"/>
          </a:xfrm>
          <a:prstGeom prst="roundRect">
            <a:avLst>
              <a:gd name="adj" fmla="val 3125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14300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7784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supported → 400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212080" y="1517904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schemas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minimum, maximum, multipleOf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minLength, maxLength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array limits (maxItems, minItems &gt; 1)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additionalProperties other than false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$ref; complex types in enums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lookaround, backreferences, \b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40690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416966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274271"/>
            <a:ext cx="193121" cy="1931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40690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helpers move unsupported constraints into descriptions and still check them in your code.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Required, optional, nullable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9728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6002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"total": 135582.0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103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2257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float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432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always present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real value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64408" y="1024128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09728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+ nullable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37176" y="841248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37176" y="841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01568" y="1600200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65576" y="16002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"due_date": null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103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32257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due_date: Optional[date]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27432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always present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= "not printed"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71616" y="1024128"/>
            <a:ext cx="2615184" cy="2743200"/>
          </a:xfrm>
          <a:prstGeom prst="roundRect">
            <a:avLst>
              <a:gd name="adj" fmla="val 34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6208" y="1097280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08776" y="1600200"/>
            <a:ext cx="2340864" cy="420624"/>
          </a:xfrm>
          <a:prstGeom prst="roundRect">
            <a:avLst>
              <a:gd name="adj" fmla="val 1304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72784" y="1600200"/>
            <a:ext cx="22494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(key may be missing)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36208" y="21031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236208" y="2322576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notes: Optional[str] = None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208776" y="2743200"/>
            <a:ext cx="2386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toward the 24-optional limit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after required keys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95935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08736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191975"/>
            <a:ext cx="193121" cy="193121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43000" y="395935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beats a guess: the model must answer every key, and "not printed" is a valid answer.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design rules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8813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212" y="1187988"/>
            <a:ext cx="184343" cy="184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02412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closed sets (category, currency): compare them case-insensitively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627632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691640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12" y="1791492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1627632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"not found" explicit with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never invent placeholders like "N/A" or 0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57200" y="2231136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295144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" y="239499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2231136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formats: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format: date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plain numbers, units in names (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amount_inr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2834640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289864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2" y="2998500"/>
            <a:ext cx="184343" cy="18434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43000" y="2834640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short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a </a:t>
            </a:r>
            <a:pPr indent="0" marL="0">
              <a:buNone/>
            </a:pPr>
            <a:r>
              <a:rPr lang="en-US" sz="150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field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457200" y="3438144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502152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212" y="3602004"/>
            <a:ext cx="184343" cy="18434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43000" y="343814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and small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few optional fields, few unions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457200" y="4041648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94360" y="4105656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12" y="4205508"/>
            <a:ext cx="184343" cy="18434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143000" y="4041648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</a:t>
            </a:r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descriptions</a:t>
            </a:r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they are part of the prompt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invoice_models.py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863840" y="429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42976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355080" cy="3703320"/>
          </a:xfrm>
          <a:prstGeom prst="roundRect">
            <a:avLst>
              <a:gd name="adj" fmla="val 1975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153531"/>
            <a:ext cx="6227064" cy="130302"/>
          </a:xfrm>
          <a:prstGeom prst="roundRect">
            <a:avLst>
              <a:gd name="adj" fmla="val 2807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3195947"/>
            <a:ext cx="6227064" cy="130302"/>
          </a:xfrm>
          <a:prstGeom prst="roundRect">
            <a:avLst>
              <a:gd name="adj" fmla="val 2807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586853"/>
            <a:ext cx="6227064" cy="130302"/>
          </a:xfrm>
          <a:prstGeom prst="roundRect">
            <a:avLst>
              <a:gd name="adj" fmla="val 2807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368665"/>
            <a:ext cx="6227064" cy="130302"/>
          </a:xfrm>
          <a:prstGeom prst="roundRect">
            <a:avLst>
              <a:gd name="adj" fmla="val 2807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005840"/>
            <a:ext cx="6355080" cy="3703320"/>
          </a:xfrm>
          <a:prstGeom prst="rect">
            <a:avLst/>
          </a:prstGeom>
          <a:noFill/>
          <a:ln/>
        </p:spPr>
        <p:txBody>
          <a:bodyPr wrap="square" lIns="164592" tIns="109728" rIns="164592" bIns="109728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"""Pydantic models for the lab invoice. All data in this pack is fictional."""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Literal, Optional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LineItem(BaseModel):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str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quantity: int = Field(ge=1)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unit_price: float = Field(ge=0)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amount: float = Field(ge=0, description="Line total exactly as printed")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Invoice(BaseModel):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invoice_number: str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invoice_date: date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ISO 8601, e.g. 2026-09-30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due_date: Optional[date]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required key; null if not printed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vendor_name: str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customer_name: str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Literal["INR", "USD", "EUR"]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line_items: list[LineItem] = Field(min_length=1)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subtotal: float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tax_rate_percent: Optional[float]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tax_amount: float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total: float</a:t>
            </a:r>
            <a:endParaRPr lang="en-US" sz="950" dirty="0"/>
          </a:p>
          <a:p>
            <a:pPr indent="0" marL="0">
              <a:lnSpc>
                <a:spcPts val="1026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notes: Optional[str] = None </a:t>
            </a:r>
            <a:pPr indent="0" marL="0">
              <a:lnSpc>
                <a:spcPts val="1026"/>
              </a:lnSpc>
              <a:buNone/>
            </a:pPr>
            <a:r>
              <a:rPr lang="en-US" sz="95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optional: the key may be left out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59168" y="105156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812280" y="1417320"/>
            <a:ext cx="246888" cy="81050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7168896" y="105156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Field(ge=1)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description, checked locally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59168" y="201168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812280" y="2377440"/>
            <a:ext cx="246888" cy="892802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7168896" y="201168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Optional[date]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+ nullable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59168" y="297180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6812280" y="3337560"/>
            <a:ext cx="246888" cy="323588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7168896" y="2971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Literal[...]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enum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59168" y="3931920"/>
            <a:ext cx="1627632" cy="731520"/>
          </a:xfrm>
          <a:prstGeom prst="roundRect">
            <a:avLst>
              <a:gd name="adj" fmla="val 125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6812280" y="4297680"/>
            <a:ext cx="246888" cy="14528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7168896" y="393192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None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key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and retry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of validation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430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74520" y="10972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4248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8424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41448" y="12070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984248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JSON at all?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84248" y="19202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fences, prose, truncation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27632" y="1760220"/>
            <a:ext cx="219456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97480" y="2441448"/>
            <a:ext cx="0" cy="48463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0972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58768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5876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315968" y="12070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858768" y="19202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enums, required, ge=1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02152" y="1760220"/>
            <a:ext cx="219456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0" y="2441448"/>
            <a:ext cx="0" cy="48463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623560" y="1097280"/>
            <a:ext cx="1645920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33288" y="1207008"/>
            <a:ext cx="384048" cy="384048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3328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190488" y="120700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733288" y="1645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44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733288" y="192024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add up, dates in order, in source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76672" y="1760220"/>
            <a:ext cx="219456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2441448"/>
            <a:ext cx="0" cy="484632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05472" y="1760220"/>
            <a:ext cx="219456" cy="0"/>
          </a:xfrm>
          <a:prstGeom prst="line">
            <a:avLst/>
          </a:prstGeom>
          <a:noFill/>
          <a:ln w="2540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52360" y="137160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E6F4EC"/>
          </a:solidFill>
          <a:ln w="19050">
            <a:solidFill>
              <a:srgbClr val="2E8B57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600200"/>
            <a:ext cx="292608" cy="292608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8638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770632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874520" y="2944368"/>
            <a:ext cx="5394960" cy="713232"/>
          </a:xfrm>
          <a:prstGeom prst="roundRect">
            <a:avLst>
              <a:gd name="adj" fmla="val 1282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11680" y="309981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287" y="3204423"/>
            <a:ext cx="193121" cy="193121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2542032" y="294436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turn: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problems → retry (max 3)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 flipH="1">
            <a:off x="1024128" y="3300984"/>
            <a:ext cx="850392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 flipV="1">
            <a:off x="1024128" y="2176272"/>
            <a:ext cx="0" cy="1124712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40" name="Shape 36"/>
          <p:cNvSpPr/>
          <p:nvPr/>
        </p:nvSpPr>
        <p:spPr>
          <a:xfrm>
            <a:off x="7269480" y="3300984"/>
            <a:ext cx="155448" cy="0"/>
          </a:xfrm>
          <a:prstGeom prst="line">
            <a:avLst/>
          </a:prstGeom>
          <a:noFill/>
          <a:ln w="25400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7452360" y="2944368"/>
            <a:ext cx="1234440" cy="713232"/>
          </a:xfrm>
          <a:prstGeom prst="roundRect">
            <a:avLst>
              <a:gd name="adj" fmla="val 12821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7498080" y="2944368"/>
            <a:ext cx="1143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failing → human review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457200" y="391363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94360" y="403250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67" y="4137111"/>
            <a:ext cx="193121" cy="193121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1143000" y="391363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stop_reason </a:t>
            </a:r>
            <a:pPr indent="0" marL="0">
              <a:buNone/>
            </a:pPr>
            <a:r>
              <a:rPr lang="en-US" sz="14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</a:t>
            </a:r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stop, don't retry · </a:t>
            </a:r>
            <a:pPr indent="0" marL="0">
              <a:buNone/>
            </a:pPr>
            <a:r>
              <a:rPr lang="en-US" sz="1450" b="1" dirty="0">
                <a:solidFill>
                  <a:srgbClr val="344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retry with more room</a:t>
            </a:r>
            <a:endParaRPr lang="en-US" sz="1450" dirty="0"/>
          </a:p>
        </p:txBody>
      </p:sp>
      <p:sp>
        <p:nvSpPr>
          <p:cNvPr id="47" name="Text 42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retry_extract.py · extract_with_retry()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35508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804568"/>
            <a:ext cx="6227064" cy="274320"/>
          </a:xfrm>
          <a:prstGeom prst="roundRect">
            <a:avLst>
              <a:gd name="adj" fmla="val 13333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078888"/>
            <a:ext cx="6227064" cy="411480"/>
          </a:xfrm>
          <a:prstGeom prst="roundRect">
            <a:avLst>
              <a:gd name="adj" fmla="val 888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2901848"/>
            <a:ext cx="6227064" cy="411480"/>
          </a:xfrm>
          <a:prstGeom prst="roundRect">
            <a:avLst>
              <a:gd name="adj" fmla="val 888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136288"/>
            <a:ext cx="6227064" cy="411480"/>
          </a:xfrm>
          <a:prstGeom prst="roundRect">
            <a:avLst>
              <a:gd name="adj" fmla="val 8889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713232"/>
            <a:ext cx="6355080" cy="4187952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extract_with_retry(client, model_cls, content, *, rules=None, max_attempts=3,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model="claude-sonnet-5-5", max_tokens=2048):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 = {"type": "json_schema", "schema": transform_schema(model_cls)}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 = [{"role": "user", "content": content}]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attempt in range(1, max_attempts + 1):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client.messages.create(model=model, max_tokens=max_tokens,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messages=messages, output_config={"format": fmt})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r.stop_reason == "refusal":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ExtractionError("refused: change the request, don't retry it")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r.stop_reason == "max_tokens":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max_tokens *= 2 </a:t>
            </a:r>
            <a:pPr indent="0" marL="0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truncated JSON: retry with more room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 = "".join(b.text for b in r.content if b.type == "text")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try: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obj = model_cls.model_validate(extract_json(text))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ValidationError as e: </a:t>
            </a:r>
            <a:pPr indent="0" marL="0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schema problems, one line per field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 = [f"{'.'.join(map(str, d['loc']))}: {d['msg']}"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for d in e.errors()]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except ValueError as e: </a:t>
            </a:r>
            <a:pPr indent="0" marL="0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 parseable JSON at all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 = [str(e)]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 = rules(obj) if rules else [] </a:t>
            </a:r>
            <a:pPr indent="0" marL="0">
              <a:lnSpc>
                <a:spcPts val="108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business rules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problems: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obj, attempt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messages += [{"role": "assistant", "content": text},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{"role": "user", "content": "Your JSON has problems:\n- "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+ "\n- ".join(problems) + "\nReturn the corrected JSON."}]</a:t>
            </a:r>
            <a:endParaRPr lang="en-US" sz="900" dirty="0"/>
          </a:p>
          <a:p>
            <a:pPr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ExtractionError(f"no valid result after {max_attempts} attempts")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059168" y="868680"/>
            <a:ext cx="1627632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812280" y="1207008"/>
            <a:ext cx="246888" cy="67528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7168896" y="86868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refusal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 raise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059168" y="1691640"/>
            <a:ext cx="1627632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812280" y="2029968"/>
            <a:ext cx="246888" cy="26380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7168896" y="169164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max_tokens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double, try again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059168" y="2514600"/>
            <a:ext cx="1627632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6812280" y="2852928"/>
            <a:ext cx="246888" cy="26380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7168896" y="251460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ValidationError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field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59168" y="3337560"/>
            <a:ext cx="1627632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6812280" y="3675888"/>
            <a:ext cx="246888" cy="126644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7168896" y="333756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rules(obj)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checks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059168" y="4160520"/>
            <a:ext cx="1627632" cy="676656"/>
          </a:xfrm>
          <a:prstGeom prst="roundRect">
            <a:avLst>
              <a:gd name="adj" fmla="val 13514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12280" y="4351172"/>
            <a:ext cx="246888" cy="147676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7" name="Text 24"/>
          <p:cNvSpPr txBox="1"/>
          <p:nvPr/>
        </p:nvSpPr>
        <p:spPr>
          <a:xfrm>
            <a:off x="7168896" y="4160520"/>
            <a:ext cx="1444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  <a:p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+ user turn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parsing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models really return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84832" y="11155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84832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2395728" cy="786384"/>
          </a:xfrm>
          <a:prstGeom prst="roundRect">
            <a:avLst>
              <a:gd name="adj" fmla="val 697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813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{"total": 135582.0}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024128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around 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92040" y="11155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74136" y="1463040"/>
            <a:ext cx="2395728" cy="786384"/>
          </a:xfrm>
          <a:prstGeom prst="roundRect">
            <a:avLst>
              <a:gd name="adj" fmla="val 697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14813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is the 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{"total": 135582.0}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me know!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71616" y="1024128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08776" y="107899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objects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99248" y="111556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E6F4EC"/>
          </a:solidFill>
          <a:ln w="6350">
            <a:solidFill>
              <a:srgbClr val="E6F4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99248" y="11155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1463040"/>
            <a:ext cx="2395728" cy="786384"/>
          </a:xfrm>
          <a:prstGeom prst="roundRect">
            <a:avLst>
              <a:gd name="adj" fmla="val 697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148132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{"total": 1} and also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{"total": 2}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25420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84832" y="25786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84832" y="2578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2926080"/>
            <a:ext cx="2395728" cy="786384"/>
          </a:xfrm>
          <a:prstGeom prst="roundRect">
            <a:avLst>
              <a:gd name="adj" fmla="val 697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29443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{"total": 135582.0,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"line_items": [{"desc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64408" y="2487168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01568" y="25420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892040" y="25786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92040" y="2578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74136" y="2926080"/>
            <a:ext cx="2395728" cy="786384"/>
          </a:xfrm>
          <a:prstGeom prst="roundRect">
            <a:avLst>
              <a:gd name="adj" fmla="val 697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47288" y="29443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{"total": NaN}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71616" y="2487168"/>
            <a:ext cx="2615184" cy="1325880"/>
          </a:xfrm>
          <a:prstGeom prst="roundRect">
            <a:avLst>
              <a:gd name="adj" fmla="val 689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08776" y="25420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JSON at all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699248" y="257860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99248" y="257860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81344" y="2926080"/>
            <a:ext cx="2395728" cy="786384"/>
          </a:xfrm>
          <a:prstGeom prst="roundRect">
            <a:avLst>
              <a:gd name="adj" fmla="val 697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54496" y="294436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could not find a 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invoice.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00507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967" y="4210263"/>
            <a:ext cx="193121" cy="193121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1143000" y="400507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what is clearly there. Fail loudly on anything else.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safe_json.py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603504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271016"/>
            <a:ext cx="5907024" cy="114300"/>
          </a:xfrm>
          <a:prstGeom prst="roundRect">
            <a:avLst>
              <a:gd name="adj" fmla="val 32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071116"/>
            <a:ext cx="5907024" cy="114300"/>
          </a:xfrm>
          <a:prstGeom prst="roundRect">
            <a:avLst>
              <a:gd name="adj" fmla="val 32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3328416"/>
            <a:ext cx="5907024" cy="342900"/>
          </a:xfrm>
          <a:prstGeom prst="roundRect">
            <a:avLst>
              <a:gd name="adj" fmla="val 1066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128516"/>
            <a:ext cx="5907024" cy="114300"/>
          </a:xfrm>
          <a:prstGeom prst="roundRect">
            <a:avLst>
              <a:gd name="adj" fmla="val 32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713232"/>
            <a:ext cx="6035040" cy="4187952"/>
          </a:xfrm>
          <a:prstGeom prst="rect">
            <a:avLst/>
          </a:prstGeom>
          <a:noFill/>
          <a:ln/>
        </p:spPr>
        <p:txBody>
          <a:bodyPr wrap="square" lIns="164592" tIns="109728" rIns="164592" bIns="109728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"""Defensive JSON extraction for model text that may not be clean JSON."""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 = re.compile(r"```(?:json)?\s*(.*?)```", re.DOTALL | re.IGNORECASE)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_reject(name):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ValueError(f"{name} is not valid JSON")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_decoder = json.JSONDecoder(parse_constant=_reject)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refuse NaN / Infinity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extract_json(text, want=dict):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first JSON object (or list) in text: fences and prose are OK.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Fails loudly (ValueError) rather than guessing, e.g. on truncated output.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 = (text or "").lstrip("\ufeff").strip()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BOM, whitespace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text: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ValueError("empty response")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fenced = FENCE.search(text)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fenced: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 = fenced.group(1)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 = text.find("{" if want is dict else "[")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start == -1: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ValueError(f"no JSON {want.__name__} in: {text[:60]!r}")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value, _ = _decoder.raw_decode(text, start)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ignores trailing prose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json.JSONDecodeError as e: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ValueError(f"invalid or truncated JSON: {e}") from 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value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748272" y="777240"/>
            <a:ext cx="1938528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492240" y="1097280"/>
            <a:ext cx="256032" cy="24003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5" name="Text 12"/>
          <p:cNvSpPr txBox="1"/>
          <p:nvPr/>
        </p:nvSpPr>
        <p:spPr>
          <a:xfrm>
            <a:off x="6858000" y="7772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or plain fences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748272" y="1554480"/>
            <a:ext cx="1938528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6492240" y="1874520"/>
            <a:ext cx="256032" cy="26289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18" name="Text 15"/>
          <p:cNvSpPr txBox="1"/>
          <p:nvPr/>
        </p:nvSpPr>
        <p:spPr>
          <a:xfrm>
            <a:off x="6858000" y="155448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parse_constant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NaN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48272" y="2331720"/>
            <a:ext cx="1938528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V="1">
            <a:off x="6492240" y="2651760"/>
            <a:ext cx="256032" cy="85725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1" name="Text 18"/>
          <p:cNvSpPr txBox="1"/>
          <p:nvPr/>
        </p:nvSpPr>
        <p:spPr>
          <a:xfrm>
            <a:off x="6858000" y="23317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fenced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what is inside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748272" y="3108960"/>
            <a:ext cx="1938528" cy="640080"/>
          </a:xfrm>
          <a:prstGeom prst="roundRect">
            <a:avLst>
              <a:gd name="adj" fmla="val 1428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6492240" y="3429000"/>
            <a:ext cx="256032" cy="765810"/>
          </a:xfrm>
          <a:prstGeom prst="line">
            <a:avLst/>
          </a:prstGeom>
          <a:noFill/>
          <a:ln w="19050">
            <a:solidFill>
              <a:srgbClr val="E07A5F"/>
            </a:solidFill>
            <a:prstDash val="solid"/>
            <a:headEnd type="oval"/>
          </a:ln>
        </p:spPr>
      </p:sp>
      <p:sp>
        <p:nvSpPr>
          <p:cNvPr id="24" name="Text 21"/>
          <p:cNvSpPr txBox="1"/>
          <p:nvPr/>
        </p:nvSpPr>
        <p:spPr>
          <a:xfrm>
            <a:off x="6858000" y="31089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raw_decode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 the end of the object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748272" y="3977640"/>
            <a:ext cx="1938528" cy="868680"/>
          </a:xfrm>
          <a:prstGeom prst="roundRect">
            <a:avLst>
              <a:gd name="adj" fmla="val 1052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0" y="397764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unit tests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unittest -v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but verify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4984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4168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73352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2536" y="4160520"/>
            <a:ext cx="182880" cy="182880"/>
          </a:xfrm>
          <a:prstGeom prst="ellipse">
            <a:avLst/>
          </a:prstGeom>
          <a:solidFill>
            <a:srgbClr val="8A9CC0"/>
          </a:solidFill>
          <a:ln w="6350">
            <a:solidFill>
              <a:srgbClr val="8A9C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4160520"/>
            <a:ext cx="182880" cy="18288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is not correct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 (schema-valid)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51460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784695"/>
            <a:ext cx="3803904" cy="182563"/>
          </a:xfrm>
          <a:prstGeom prst="roundRect">
            <a:avLst>
              <a:gd name="adj" fmla="val 2003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2332383"/>
            <a:ext cx="3803904" cy="182563"/>
          </a:xfrm>
          <a:prstGeom prst="roundRect">
            <a:avLst>
              <a:gd name="adj" fmla="val 20035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514945"/>
            <a:ext cx="3803904" cy="365125"/>
          </a:xfrm>
          <a:prstGeom prst="roundRect">
            <a:avLst>
              <a:gd name="adj" fmla="val 1001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80160"/>
            <a:ext cx="3931920" cy="2514600"/>
          </a:xfrm>
          <a:prstGeom prst="rect">
            <a:avLst/>
          </a:prstGeom>
          <a:noFill/>
          <a:ln/>
        </p:spPr>
        <p:txBody>
          <a:bodyPr wrap="square" lIns="164592" tIns="128016" rIns="164592" bIns="128016" rtlCol="0" anchor="t"/>
          <a:lstStyle/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{"description": "Lab environment setup",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"quantity": 1, "unit_price": 7500.0,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"amount": 75000.0}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"subtotal": 114900.0,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"tax_amount": 20682.0,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"total": 135852.0,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"notes": "All amounts verified</a:t>
            </a:r>
            <a:endParaRPr lang="en-US" sz="1150" dirty="0"/>
          </a:p>
          <a:p>
            <a:pPr indent="0" marL="0">
              <a:lnSpc>
                <a:spcPts val="1438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against the invoice."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987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CODE FINDS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3560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166360" y="12801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3: 1 × 7500 ≠ 75000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663440" y="192024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07568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6636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add up to 1,82,400, not 1,14,900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4663440" y="256032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7157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6360" y="2560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+ tax = 1,35,582, not 1,35,852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4663440" y="3200400"/>
            <a:ext cx="4023360" cy="548640"/>
          </a:xfrm>
          <a:prstGeom prst="roundRect">
            <a:avLst>
              <a:gd name="adj" fmla="val 16667"/>
            </a:avLst>
          </a:prstGeom>
          <a:solidFill>
            <a:srgbClr val="FBE9E7"/>
          </a:solidFill>
          <a:ln w="6350">
            <a:solidFill>
              <a:srgbClr val="FBE9E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355848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66360" y="3200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1,35,852 is not printed on the invoice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57200" y="400507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" y="4123944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228551"/>
            <a:ext cx="193121" cy="193121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43000" y="400507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checks shape. </a:t>
            </a:r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 truth.</a:t>
            </a:r>
            <a:pPr indent="0" marL="0">
              <a:buNone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Recompute · cross-check · match the source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4630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checks.py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863840" y="210312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0" y="2103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7635240" cy="4187952"/>
          </a:xfrm>
          <a:prstGeom prst="roundRect">
            <a:avLst>
              <a:gd name="adj" fmla="val 1747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499616"/>
            <a:ext cx="7507224" cy="457200"/>
          </a:xfrm>
          <a:prstGeom prst="roundRect">
            <a:avLst>
              <a:gd name="adj" fmla="val 8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2414016"/>
            <a:ext cx="7507224" cy="342900"/>
          </a:xfrm>
          <a:prstGeom prst="roundRect">
            <a:avLst>
              <a:gd name="adj" fmla="val 10667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208" y="4128516"/>
            <a:ext cx="7507224" cy="457200"/>
          </a:xfrm>
          <a:prstGeom prst="roundRect">
            <a:avLst>
              <a:gd name="adj" fmla="val 8000"/>
            </a:avLst>
          </a:prstGeom>
          <a:solidFill>
            <a:srgbClr val="E07A5F">
              <a:alpha val="22000"/>
            </a:srgbClr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713232"/>
            <a:ext cx="7635240" cy="4187952"/>
          </a:xfrm>
          <a:prstGeom prst="rect">
            <a:avLst/>
          </a:prstGeom>
          <a:noFill/>
          <a:ln/>
        </p:spPr>
        <p:txBody>
          <a:bodyPr wrap="square" lIns="164592" tIns="109728" rIns="164592" bIns="109728" rtlCol="0" anchor="t"/>
          <a:lstStyle/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"""Business-rule checks: recompute numbers instead of trusting confident output."""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TOL = 0.01 </a:t>
            </a:r>
            <a:pPr indent="0" marL="0">
              <a:lnSpc>
                <a:spcPts val="9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money tolerance (one paisa / one cent)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appears_in(value, text):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"""True if the number is printed somewhere in the source (commas ignored)."""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found = re.findall(r"\d+(?:\.\d+)?", text.replace(",", ""))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any(abs(float(n) - value) &lt;= TOL for n in found)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invoice_problems(inv, source_text=None):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problems = []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li in enumerate(inv.line_items, 1):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abs(li.quantity * li.unit_price - li.amount) &gt; TOL: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problems.append(f"line {i}: {li.quantity} x {li.unit_price} != {li.amount}")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lines_sum = round(sum(li.amount for li in inv.line_items), 2)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abs(lines_sum - inv.subtotal) &gt; TOL: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problems.append(f"line amounts add up to {lines_sum}, not {inv.subtotal}")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inv.tax_rate_percent is not None: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tax = round(inv.subtotal * inv.tax_rate_percent / 100, 2)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abs(tax - inv.tax_amount) &gt; TOL: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problems.append(f"tax should be {tax}, not {inv.tax_amount}")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abs(inv.subtotal + inv.tax_amount - inv.total) &gt; TOL: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problems.append(f"subtotal + tax = {inv.subtotal + inv.tax_amount:.2f}, "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f"not {inv.total}")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inv.due_date and inv.due_date &lt; inv.invoice_date: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problems.append("due_date is before invoice_date")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field in ("subtotal", "tax_amount", "total") if source_text else ():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 = getattr(inv, field)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not appears_in(value, source_text):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problems.append(f"{field} {value} is not printed on the invoice")</a:t>
            </a:r>
            <a:endParaRPr lang="en-US" sz="900" dirty="0"/>
          </a:p>
          <a:p>
            <a:pPr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problems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Citations: tie claims to sources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4440" y="1188720"/>
            <a:ext cx="548640" cy="54864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086" y="13313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82880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block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224028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"citations":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{"enabled": true}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2057400"/>
            <a:ext cx="36576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017520" y="105156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5468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(text blocks)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15468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due 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154680" y="1755648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4612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October 2026 [1]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1945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total is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154680" y="2532888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F6D3C8"/>
          </a:solidFill>
          <a:ln w="6350">
            <a:solidFill>
              <a:srgbClr val="F6D3C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46120" y="25328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₹1,35,582.00 [2]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89320" y="2057400"/>
            <a:ext cx="365760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6400800" y="1051560"/>
            <a:ext cx="2286000" cy="2011680"/>
          </a:xfrm>
          <a:prstGeom prst="roundRect">
            <a:avLst>
              <a:gd name="adj" fmla="val 4545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37960" y="11155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citations[0]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14630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8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cited_text: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"Payment due: 30-Oct-2026"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8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/ end char index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8A9C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document_index: 0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246120"/>
            <a:ext cx="2615184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6072" y="335584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679" y="3460455"/>
            <a:ext cx="193121" cy="193121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078992" y="32461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 always valid: you can check them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3264408" y="3246120"/>
            <a:ext cx="2615184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383280" y="335584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887" y="3460455"/>
            <a:ext cx="193121" cy="193121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3886200" y="32461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cited_text is free: not output tokens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071616" y="3246120"/>
            <a:ext cx="2615184" cy="621792"/>
          </a:xfrm>
          <a:prstGeom prst="roundRect">
            <a:avLst>
              <a:gd name="adj" fmla="val 14706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190488" y="335584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095" y="3460455"/>
            <a:ext cx="193121" cy="193121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693408" y="324612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PDF, custom content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457200" y="402336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E07A5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94360" y="413308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237695"/>
            <a:ext cx="193121" cy="193121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143000" y="402336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combine with output_config.format (400): cite first, then extract in a second step.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 traps</a:t>
            </a:r>
            <a:endParaRPr lang="en-US" sz="3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931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Wrong instinct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Better answer</a:t>
                      </a:r>
                      <a:endParaRPr lang="en-US" sz="16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292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"Prompt says 'return only JSON', so json.loads() is safe"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outputs; parse defensively anyway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"Force the extraction tool on Opus 5.5"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400: use output_config.format, or auto + 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"Prefill '{' to start the JSON"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prefill is rejected on Opus 5.5 and incompatible with JSON outputs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"Structured outputs are on, skip stop_reason checks"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 and max_tokens can still break the schema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passed the schema, so the total is right"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recompute in code and check the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"Add a 'reasoning' field for transparency"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trigger a refusal: ask for a short explanation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"Retry until it passes"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back the errors, cap attempts, then a human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152144"/>
            <a:ext cx="219456" cy="219456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Constrain, don't hope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outputs for final answers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990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true for tool inputs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949440" y="128016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3990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955280" y="12801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184708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+ nullable beats guessing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13639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 layers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256032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74320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313639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errors back, cap retries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466344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484632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2" y="313639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585216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7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defensively, fail loudly</a:t>
            </a:r>
            <a:endParaRPr lang="en-US" sz="1500" dirty="0"/>
          </a:p>
        </p:txBody>
      </p:sp>
      <p:sp>
        <p:nvSpPr>
          <p:cNvPr id="38" name="Shape 29"/>
          <p:cNvSpPr/>
          <p:nvPr/>
        </p:nvSpPr>
        <p:spPr>
          <a:xfrm>
            <a:off x="6766560" y="283464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949440" y="3017520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8312" y="31363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955280" y="30175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8A9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7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584448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numbers, cite sources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Lab: invoice → validated JSON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269480" y="3840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269480" y="38404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+ home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8872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83080" y="118872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7687" y="1293327"/>
            <a:ext cx="193121" cy="19312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1031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output_config.format from the Invoice model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350008" y="1984248"/>
            <a:ext cx="19202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560320" y="1051560"/>
            <a:ext cx="1874520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118872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9748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886200" y="118872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807" y="1293327"/>
            <a:ext cx="193121" cy="193121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697480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2697480" y="21031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Pydantic: types, enums, dates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453128" y="1984248"/>
            <a:ext cx="19202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4663440" y="1051560"/>
            <a:ext cx="1874520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00600" y="118872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80060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989320" y="118872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27" y="1293327"/>
            <a:ext cx="193121" cy="193121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800600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rules</a:t>
            </a:r>
            <a:endParaRPr lang="en-US" sz="1700" dirty="0"/>
          </a:p>
        </p:txBody>
      </p:sp>
      <p:sp>
        <p:nvSpPr>
          <p:cNvPr id="27" name="Text 22"/>
          <p:cNvSpPr txBox="1"/>
          <p:nvPr/>
        </p:nvSpPr>
        <p:spPr>
          <a:xfrm>
            <a:off x="4800600" y="21031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totals, subtotal, tax, total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556248" y="1984248"/>
            <a:ext cx="192024" cy="0"/>
          </a:xfrm>
          <a:prstGeom prst="line">
            <a:avLst/>
          </a:prstGeom>
          <a:noFill/>
          <a:ln w="25400">
            <a:solidFill>
              <a:srgbClr val="E07A5F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6766560" y="1051560"/>
            <a:ext cx="1874520" cy="1874520"/>
          </a:xfrm>
          <a:prstGeom prst="roundRect">
            <a:avLst>
              <a:gd name="adj" fmla="val 4878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903720" y="1188720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90372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8092440" y="1188720"/>
            <a:ext cx="402336" cy="402336"/>
          </a:xfrm>
          <a:prstGeom prst="ellipse">
            <a:avLst/>
          </a:prstGeom>
          <a:solidFill>
            <a:srgbClr val="4F6390"/>
          </a:solidFill>
          <a:ln w="6350">
            <a:solidFill>
              <a:srgbClr val="4F639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047" y="1293327"/>
            <a:ext cx="193121" cy="193121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903720" y="1691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6903720" y="21031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back problems, max 3, then a human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457200" y="309067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875">
            <a:solidFill>
              <a:srgbClr val="C9D5EA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40080" y="309067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1371600" y="3200400"/>
            <a:ext cx="2406396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371600" y="3200400"/>
            <a:ext cx="24063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invoice_nimbus.txt / .png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3915156" y="3200400"/>
            <a:ext cx="1568196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3915156" y="3200400"/>
            <a:ext cx="1568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lab1_starter.py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5620512" y="3200400"/>
            <a:ext cx="2406396" cy="347472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5620512" y="3200400"/>
            <a:ext cx="24063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lab1_invoice_extractor.py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457200" y="38404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F2A44"/>
          </a:solidFill>
          <a:ln w="6350">
            <a:solidFill>
              <a:srgbClr val="1F2A44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94360" y="3995928"/>
            <a:ext cx="402336" cy="402336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67" y="4100535"/>
            <a:ext cx="193121" cy="193121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143000" y="3840480"/>
            <a:ext cx="7406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the PNG (vision), then change the printed total and watch the checks fire.</a:t>
            </a:r>
            <a:endParaRPr lang="en-US" sz="1450" dirty="0"/>
          </a:p>
        </p:txBody>
      </p:sp>
      <p:sp>
        <p:nvSpPr>
          <p:cNvPr id="48" name="Text 4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107899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078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02412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request field turns on JSON outputs?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71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output_format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output_config.format, type json_schema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response_format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"json"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691640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6367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5.5 call with tool_choice {"type": "tool", "name": "record_invoice"}. Result?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tool call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error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tool_choice ignored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reply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04288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24942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schema has "minimum": 0 on a number field. What happens?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96312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enforces it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error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ignored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gets a warning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825496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16936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86207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are on. Which reply can still break your schema?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08960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max_tokens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stop_reason end_turn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enum field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nullable field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529584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47472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add up to 1,35,582; extracted total is 1,35,852; schema valid. Best action?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721608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accept: schema passed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recompute, flag, retry or human review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effort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"are you sure?"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142232"/>
            <a:ext cx="365760" cy="36576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8736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cited answers AND a JSON record. What do you do?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both in one request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steps: cite, then extract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"{"    </a:t>
            </a:r>
            <a:pPr indent="0" marL="0">
              <a:buNone/>
            </a:pPr>
            <a:r>
              <a:rPr lang="en-US" sz="1150" b="1" dirty="0">
                <a:solidFill>
                  <a:srgbClr val="4F6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stop_sequences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7914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6: Tool use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7863840" cy="2011680"/>
          </a:xfrm>
          <a:prstGeom prst="roundRect">
            <a:avLst>
              <a:gd name="adj" fmla="val 4545"/>
            </a:avLst>
          </a:prstGeom>
          <a:solidFill>
            <a:srgbClr val="34466B"/>
          </a:solidFill>
          <a:ln w="6350">
            <a:solidFill>
              <a:srgbClr val="3446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578608"/>
            <a:ext cx="457200" cy="457200"/>
          </a:xfrm>
          <a:prstGeom prst="ellipse">
            <a:avLst/>
          </a:prstGeom>
          <a:solidFill>
            <a:srgbClr val="E07A5F"/>
          </a:solidFill>
          <a:ln w="6350">
            <a:solidFill>
              <a:srgbClr val="E07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69748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5786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lab, including the PNG stretch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3154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docs: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463040" y="3611880"/>
            <a:ext cx="1722730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463040" y="3611880"/>
            <a:ext cx="1722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5498" y="3611880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95498" y="36118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tool use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86554" y="3611880"/>
            <a:ext cx="998525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86554" y="3611880"/>
            <a:ext cx="998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994806" y="3611880"/>
            <a:ext cx="1964131" cy="402336"/>
          </a:xfrm>
          <a:prstGeom prst="roundRect">
            <a:avLst>
              <a:gd name="adj" fmla="val 50000"/>
            </a:avLst>
          </a:prstGeom>
          <a:solidFill>
            <a:srgbClr val="E8EEF7"/>
          </a:solidFill>
          <a:ln w="6350">
            <a:solidFill>
              <a:srgbClr val="E8EE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94806" y="3611880"/>
            <a:ext cx="19641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stop reasons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Handling and Structured Output</dc:title>
  <dc:subject>PptxGenJS Presentation</dc:subject>
  <dc:creator>Claude Certified Developer – Foundations</dc:creator>
  <cp:lastModifiedBy>Claude Certified Developer – Foundations</cp:lastModifiedBy>
  <cp:revision>1</cp:revision>
  <dcterms:created xsi:type="dcterms:W3CDTF">2026-10-08T17:46:08Z</dcterms:created>
  <dcterms:modified xsi:type="dcterms:W3CDTF">2026-10-08T17:46:08Z</dcterms:modified>
</cp:coreProperties>
</file>