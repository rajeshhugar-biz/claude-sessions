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Claude API Mechanics.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Two-session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Messages API anatomy.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One endpoint for everything.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CODE — 01_raw_curl.sh.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The request, field by field.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Messages and content blocks.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System prompt vs messages.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CODE — 02_messages_basics.py.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The response and stop_reason.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CODE — 03_stop_reasons.py.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Section 02 — Streaming.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Why stream?.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The event stream — SSE event order.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Delta types.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CODE — 04_stream_text.py.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CODE — 05_stream_events.py.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CODE — 06_stream_long_output.py.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Streaming gotchas.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Section 03 — Vision, PDFs and files.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Three ways to send data — base64, url, file_id.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Images — limits, tips and what Claude can't do.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What an image costs — 28 px patches.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CODE — 07_vision.py.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PDFs — text plus page image.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CODE — 08_pdf.py.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Files API — upload, file_id, reuse, delete.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CODE — 09_files_api.py.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Choosing a data access pattern.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Session A recap + mini-lab.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Section 04 — Tool use essentials.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How tool use works — the 5-step loop.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Anatomy of a tool definition.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CODE — 10_tool_roundtrip.py.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Client tools vs server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Section 05 — Thinking in the API.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Thinking blocks in practice.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Section 06 — Prompt caching.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Why cache?.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How prefix caching works.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Two ways to turn on caching — automatic vs explicit.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Prompt caching pricing.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Minimum length and what breaks the cache.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CODE — 11_cache_explicit.py.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Reading the usage fields.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Worked example — cost with and without caching.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48: CODE — 12_cache_auto.py.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49: Caching design rules.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50: Section 07 — The Message Batches API.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51: Batch API in one slide.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52: Batch lifecycle and result types.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53: CODE — 13_batch_create.py.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54: CODE — 14_batch_results.py.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55: Real-time vs batch decision table.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56: Section 08 — Claude on cloud platforms.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57: Five ways to reach Claude.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58: Feature differences across platforms.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59: CODE — 15_platforms.py.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60: Section 09 — Errors, rate limits and reliability.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61: Error codes and which to retry.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62: What the SDK does for you — retries and timeouts.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63: CODE — 16_errors_retries.py.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64: Rate limits — token bucket, RPM / ITPM / OTPM.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65: CODE — 17_rate_limit_headers.py.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66: Reliability patterns.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67: Data handling and Zero Data Retention.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68: Section 10 — Wrap-up.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69: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70: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71: Labs.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72: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73: Next up — Module 4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image" Target="../media/image-6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image" Target="../media/image-66-6.png"/><Relationship Id="rId7" Type="http://schemas.openxmlformats.org/officeDocument/2006/relationships/image" Target="../media/image-6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image" Target="../media/image-70-7.png"/><Relationship Id="rId8" Type="http://schemas.openxmlformats.org/officeDocument/2006/relationships/image" Target="../media/image-7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Mechanics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Foundations · 6 hours (2 sessions)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124760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 request with the Messages API — system, multi-turn, stop sequences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" y="1942551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responses and handle every event type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" y="263749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images, PDFs and files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333243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tool-use round trip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3717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783" y="1247607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cost and latency with prompt caching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3717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783" y="194255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6752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bulk work with the Batch API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0916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3717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783" y="2637495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6752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 through AWS and Google Cloud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70916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3717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783" y="33324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6752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errors, retries and rate limits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— Claude API Mechanics 6.8% (the largest API subdomain)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Two-session 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pPr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3 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0" y="105156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0332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pPr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3 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74320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4708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66420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 anatomy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274320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816352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33472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2743200" cy="841248"/>
          </a:xfrm>
          <a:prstGeom prst="roundRect">
            <a:avLst>
              <a:gd name="adj" fmla="val 1087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785616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785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02736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PDFs &amp; Files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166420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175564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0273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33088" y="166420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essentials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0" y="239572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2736" y="24871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0273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33088" y="23957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the API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474720" y="312724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02736" y="321868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02736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33088" y="312724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474720" y="385876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2736" y="39502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02736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133088" y="38587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72200" y="166420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0216" y="175564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021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30568" y="166420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172200" y="239572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0216" y="24871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021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30568" y="23957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rate limits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72200" y="3127248"/>
            <a:ext cx="2514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0216" y="321868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0216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830568" y="312724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labs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API anatomy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endpoint for everything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32588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14685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11887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132588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446" y="146852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</a:t>
            </a:r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/v1/messages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286000" y="1645920"/>
            <a:ext cx="4617720" cy="0"/>
          </a:xfrm>
          <a:prstGeom prst="line">
            <a:avLst/>
          </a:prstGeom>
          <a:noFill/>
          <a:ln w="3175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 flipH="1">
            <a:off x="2331720" y="2240280"/>
            <a:ext cx="461772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286000" y="2304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0080" y="29260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691640" y="3127248"/>
            <a:ext cx="1065276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691640" y="3127248"/>
            <a:ext cx="10652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921508" y="3127248"/>
            <a:ext cx="2741676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921508" y="3127248"/>
            <a:ext cx="2741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anthropic-version: 2023-06-01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827776" y="3127248"/>
            <a:ext cx="2825496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827776" y="312724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40507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55399"/>
            <a:ext cx="193121" cy="19312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4300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PDFs, tools, thinking, caching — all are fields on this same request.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01_raw_curl.sh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386383"/>
            <a:ext cx="8101584" cy="594360"/>
          </a:xfrm>
          <a:prstGeom prst="roundRect">
            <a:avLst>
              <a:gd name="adj" fmla="val 615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https://api.anthropic.com/v1/messages \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"x-api-key: $ANTHROPIC_API_KEY" \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"anthropic-version: 2023-06-01" \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"model": "claude-sonnet-5-5",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"max_tokens": 512,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"system": "You are a concise tutor.",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"messages": [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{"role": "user", "content": "What is an HTTP header?"}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300" dirty="0"/>
          </a:p>
          <a:p>
            <a:pPr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}'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14223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227820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0233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builds exactly this request for you.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request, field by field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438912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Claude (e.g. claude-sonnet-5-5)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max_tokens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ceiling on output (includes thinking)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conversation: user / assistant 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instructions, role,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stop_sequences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strings that end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stream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Server-sent events instead of one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tools / tool_choice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Claude may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thinking / output_config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mode, effort, output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cache_control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service_tier / metadata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tier; request tagging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 and content blocks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=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| assistant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402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OR list of blocks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V="1">
            <a:off x="2331720" y="1527048"/>
            <a:ext cx="548640" cy="109728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2624328"/>
            <a:ext cx="548640" cy="13716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09728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097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"content": "Hi"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9933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233172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23317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blocks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"content": [ {…}, {…} 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2761488"/>
            <a:ext cx="22860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10972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 send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148132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81051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139696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24688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2798064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(search_result)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10972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11338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Claude returns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23760" y="1481328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181051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2139696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2376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3832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47014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3470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87552" y="3383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user turn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246120" y="33832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55848" y="347014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55848" y="3470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776472" y="3383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normally alternate user / assistant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035040" y="33832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3470148"/>
            <a:ext cx="329184" cy="32918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44768" y="3470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565392" y="3383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shorthand for one text block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rejects a prefilled final assistant turn — steer with the system prompt or structured outputs.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vs messages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2" y="1418052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persona, rules, format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that applies to EVERY turn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2801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41805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261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messages=[…]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103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input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397764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91975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9776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untrusted user text in messages, never inside the system prompt.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02_messages_basics.py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675120" cy="3639312"/>
          </a:xfrm>
          <a:prstGeom prst="roundRect">
            <a:avLst>
              <a:gd name="adj" fmla="val 201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466323"/>
            <a:ext cx="654710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597768"/>
            <a:ext cx="6547104" cy="657225"/>
          </a:xfrm>
          <a:prstGeom prst="roundRect">
            <a:avLst>
              <a:gd name="adj" fmla="val 556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254993"/>
            <a:ext cx="654710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175108"/>
            <a:ext cx="654710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024128"/>
            <a:ext cx="6675120" cy="3639312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text_of(msg):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msg.content if b.type == "text")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max_tokens=512,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system="You are a support assistant for Acme Bank. Answer in 2 sentences.",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"How do I reset my card PIN?"},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"assistant", "content": "You can reset it in the app under Cards &gt; PIN."},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"And if I don't have the app?"},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stop_sequences=["###"],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print(text_of(response))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print("stop_reason:", response.stop_reason)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print("usage:", response.usage.input_tokens, "in /",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response.usage.output_tokens, "out")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print("request id:", response._request_id)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1783080"/>
            <a:ext cx="1371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7132320" y="2039112"/>
            <a:ext cx="182880" cy="50207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424928" y="17830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0" y="2468880"/>
            <a:ext cx="1371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7132320" y="2724912"/>
            <a:ext cx="182880" cy="21061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424928" y="24688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history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0" y="3154680"/>
            <a:ext cx="1371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3329859"/>
            <a:ext cx="182880" cy="8085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424928" y="31546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stop_sequences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0" y="3977640"/>
            <a:ext cx="1371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7132320" y="4233672"/>
            <a:ext cx="182880" cy="1630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424928" y="39776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_request_id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and stop_reason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 should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end_turn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naturally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max_tokens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your ceiling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max_tokens / ask for less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stop_sequence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a custom stop string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response.stop_sequence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tool_use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to call a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it, send tool_result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pause_turn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server-tool turn paused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the response back to continue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refusal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 for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blindly retry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model_context_window_exceeded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/ compact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03_stop_reasons.py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127248"/>
          </a:xfrm>
          <a:prstGeom prst="roundRect">
            <a:avLst>
              <a:gd name="adj" fmla="val 233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3840328"/>
            <a:ext cx="8101584" cy="167640"/>
          </a:xfrm>
          <a:prstGeom prst="roundRect">
            <a:avLst>
              <a:gd name="adj" fmla="val 2181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3127248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handle(response):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 = response.stop_reason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"end_turn":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"done"                  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normal finish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"max_tokens":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"truncated: raise max_tokens or ask for less"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"stop_sequence":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f"hit stop sequence {response.stop_sequence!r}"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"tool_use":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"run the requested tool, send tool_result back"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"pause_turn":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"long server-tool turn paused: resend to continue"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"refusal":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"declined for safety: don't retry the same request"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reason == "model_context_window_exceeded":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"context full: trim or compact history"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f"unknown stop_reason {reason}: log it"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future-proof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261104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32511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10700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261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branch on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log unknown values instead of crashing.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stream?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711" y="1455359"/>
            <a:ext cx="289682" cy="2896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speed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words in under a second instead of waiting for the full answer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298448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51" y="145535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outputs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14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HTTP timeouts; the SDK requires streaming for large max_tokens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560320" cy="2606040"/>
          </a:xfrm>
          <a:prstGeom prst="roundRect">
            <a:avLst>
              <a:gd name="adj" fmla="val 357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298448"/>
            <a:ext cx="603504" cy="60350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91" y="1455359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progress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14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tool calls and thinking as they happen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" y="404164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146255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393192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doesn't make the total generation faster — it shows it sooner.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stream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289304"/>
            <a:ext cx="0" cy="2907792"/>
          </a:xfrm>
          <a:prstGeom prst="line">
            <a:avLst/>
          </a:prstGeom>
          <a:noFill/>
          <a:ln w="38100">
            <a:solidFill>
              <a:srgbClr val="C9D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179576"/>
            <a:ext cx="219456" cy="21945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09728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097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message_start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" y="1664208"/>
            <a:ext cx="219456" cy="219456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58191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581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content_block_start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(index 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2148840"/>
            <a:ext cx="219456" cy="219456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066544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20665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content_block_delta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633472"/>
            <a:ext cx="219456" cy="219456"/>
          </a:xfrm>
          <a:prstGeom prst="ellipse">
            <a:avLst/>
          </a:prstGeom>
          <a:solidFill>
            <a:srgbClr val="E07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551176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25511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content_block_stop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" y="3118104"/>
            <a:ext cx="219456" cy="219456"/>
          </a:xfrm>
          <a:prstGeom prst="ellipse">
            <a:avLst/>
          </a:prstGeom>
          <a:solidFill>
            <a:srgbClr val="8A9C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035808"/>
            <a:ext cx="35204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A9CC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325880" y="30358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[next block…]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" y="3602736"/>
            <a:ext cx="219456" cy="21945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35204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3520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message_delta</a:t>
            </a:r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(stop_reason, usage)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" y="4087368"/>
            <a:ext cx="219456" cy="219456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400507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25880" y="40050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message_stop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627632"/>
            <a:ext cx="0" cy="1261872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627632"/>
            <a:ext cx="91440" cy="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89504"/>
            <a:ext cx="91440" cy="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2084832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823" y="2175175"/>
            <a:ext cx="166787" cy="16678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937760" y="247802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content block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1097280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72200" y="1353312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562" y="1462674"/>
            <a:ext cx="201900" cy="2019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6720840" y="1097280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appear anywhere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6035040" y="2194560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72200" y="245059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62" y="2559954"/>
            <a:ext cx="201900" cy="2019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720840" y="2194560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 (e.g. overloaded) can arrive mid-stream</a:t>
            </a:r>
            <a:endParaRPr lang="en-US" sz="1350" dirty="0"/>
          </a:p>
        </p:txBody>
      </p:sp>
      <p:sp>
        <p:nvSpPr>
          <p:cNvPr id="39" name="Shape 34"/>
          <p:cNvSpPr/>
          <p:nvPr/>
        </p:nvSpPr>
        <p:spPr>
          <a:xfrm>
            <a:off x="6035040" y="3291840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72200" y="3547872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562" y="3657234"/>
            <a:ext cx="201900" cy="2019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720840" y="3291840"/>
            <a:ext cx="1874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 types may be added — ignore unknown ones</a:t>
            </a:r>
            <a:endParaRPr 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types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692" y="1509492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text_delta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the answer text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37160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52" y="150949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3716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input_json_delta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JSON of a tool's input (assemble, then parse)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089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92" y="3246852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089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thinking_delta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thinking text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37760" y="310896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52" y="3246852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1089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signature_delta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93776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that verifies a thinking block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04_stream_text.py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32811"/>
            <a:ext cx="8101584" cy="182880"/>
          </a:xfrm>
          <a:prstGeom prst="roundRect">
            <a:avLst>
              <a:gd name="adj" fmla="val 20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198571"/>
            <a:ext cx="8101584" cy="182880"/>
          </a:xfrm>
          <a:prstGeom prst="roundRect">
            <a:avLst>
              <a:gd name="adj" fmla="val 20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8346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client.messages.stream(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"Write a haiku about APIs."}],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stream: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text in stream.text_stream:         </a:t>
            </a:r>
            <a:pPr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only the text deltas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print(text, end="", flush=True)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= stream.get_final_message()      </a:t>
            </a:r>
            <a:pPr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full Message at the end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print("\n\nstop_reason:", final.stop_reason, "| usage:", final.usage)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18795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273540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0690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text_stream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text only.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get_final_message()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full Message when done.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05_stream_events.py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154498"/>
            <a:ext cx="5541264" cy="125730"/>
          </a:xfrm>
          <a:prstGeom prst="roundRect">
            <a:avLst>
              <a:gd name="adj" fmla="val 29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5669280" cy="3657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= client.messages.create(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max_tokens=256,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"Count to five."}],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stream=True,                        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raw server-sent events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event in stream: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event.type == "message_start":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print("[start] input tokens:", event.message.usage.input_tokens)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event.type == "content_block_start":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print(f"[block {event.index} starts: {event.content_block.type}]")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event.type == "content_block_delta":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event.delta.type == "text_delta":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print(event.delta.text, end="", flush=True)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event.type == "content_block_stop":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print(f"\n[block {event.index} ends]")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event.type == "message_delta":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print("[delta] stop_reason:", event.delta.stop_reason,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"| output tokens:", event.usage.output_tokens)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event.type == "message_stop":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print("[stop]")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ping and unknown event types: ignore gracefully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5080" y="1024128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0528" y="117043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80" y="1270284"/>
            <a:ext cx="184343" cy="184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10528" y="16276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stream=True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raw events — use when you need tool or thinking deltas.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355080" y="2761488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922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HERE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message_start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3374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content_block_start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3621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content_block_delta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3867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content_block_stop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message_delta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3616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message_stop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06_stream_long_output.py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359000"/>
            <a:ext cx="8101584" cy="167640"/>
          </a:xfrm>
          <a:prstGeom prst="roundRect">
            <a:avLst>
              <a:gd name="adj" fmla="val 2181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29560"/>
            <a:ext cx="8101584" cy="167640"/>
          </a:xfrm>
          <a:prstGeom prst="roundRect">
            <a:avLst>
              <a:gd name="adj" fmla="val 2181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8346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Large max_tokens: the SDK expects streaming to avoid HTTP timeouts.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client.messages.stream(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max_tokens=64000,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"content": "Write a detailed 3,000-word guide to Python packaging."}],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stream: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stream.get_final_message()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streams internally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"".join(b.text for b in message.content if b.type == "text")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print(len(text.split()), "words | stop_reason:", message.stop_reason)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18795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273540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0690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Stream internally with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get_final_message()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UI needed.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gotchas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306860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972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 arrive mid-stream: handle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events and partial output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9110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2010948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80136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input arrives as partial JSON — parse only at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content_block_stop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50545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6151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71503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50545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usage (output tokens) is in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message_delta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message_start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3192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19124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20954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omits thinking text by default → streams can go quiet between tool calls; set display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"summarized"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you show progress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91363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402336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123212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91363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unknown event types gracefully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Vision, PDFs and 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send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480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bytes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60520" y="1668780"/>
            <a:ext cx="1371600" cy="73152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57200" y="228600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599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2860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fetches a public URL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160520" y="2720340"/>
            <a:ext cx="137160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57200" y="33375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65119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API upload, reuse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 flipV="1">
            <a:off x="4160520" y="3040380"/>
            <a:ext cx="1371600" cy="73152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577840" y="1600200"/>
            <a:ext cx="3108960" cy="2240280"/>
          </a:xfrm>
          <a:prstGeom prst="roundRect">
            <a:avLst>
              <a:gd name="adj" fmla="val 408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7607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content block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806440" y="214884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16168" y="2258568"/>
            <a:ext cx="402336" cy="402336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775" y="2363175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46520" y="21488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block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806440" y="292608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16168" y="3035808"/>
            <a:ext cx="402336" cy="402336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775" y="3140415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46520" y="2926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block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Images: the rules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43584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30" y="1352946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435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10512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PNG, GIF, WebP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8000×8000 px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MB each (API)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600 images per request (100 on 200K models)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 request limit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10328" y="1243584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90" y="1352946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435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1810512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before 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"Image 1:", "Image 2:"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large images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legible, uncompressed text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" y="3931920"/>
            <a:ext cx="420624" cy="4206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54" y="4041282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74904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Can't: 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people  ·  exact counts of many small objects  ·  medical diagnosis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image costs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828800"/>
          </a:xfrm>
          <a:prstGeom prst="rect">
            <a:avLst/>
          </a:prstGeom>
          <a:solidFill>
            <a:srgbClr val="E8EEF7"/>
          </a:solidFill>
          <a:ln w="19050">
            <a:solidFill>
              <a:srgbClr val="4F63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solidFill>
            <a:srgbClr val="E0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8872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18872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18872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18872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18872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18872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55448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55448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55448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55448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55448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55448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92024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192024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192024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192024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192024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192024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28600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228600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228600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228600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228600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228600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265176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0160" y="265176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45920" y="265176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265176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2651760"/>
            <a:ext cx="365760" cy="365760"/>
          </a:xfrm>
          <a:prstGeom prst="rect">
            <a:avLst/>
          </a:prstGeom>
          <a:solidFill>
            <a:srgbClr val="E8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2651760"/>
            <a:ext cx="365760" cy="365760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7552" y="877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 px patch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⌈width ÷ 28⌉ columns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154680" y="1188720"/>
            <a:ext cx="365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⌈height ÷ 28⌉ rows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03320" y="1097280"/>
            <a:ext cx="498348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03320" y="10972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≈ 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⌈width ÷ 28⌉ × ⌈height ÷ 28⌉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3703320" y="1965960"/>
            <a:ext cx="242316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0332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200×200 px  </a:t>
            </a:r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64 tokens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63640" y="1965960"/>
            <a:ext cx="242316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6364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1000×1000  </a:t>
            </a:r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1,296 tokens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703320" y="26060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840480" y="2651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edge up to 1568 px, ~1,568 tokens max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63640" y="260604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00800" y="2651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4.7+, incl. Opus/Sonnet 5.5 — long edge up to 2576 px, up to 4,784 tokens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114300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when you don't need the detail — up to ~3× cheaper.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07_vision.py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908878"/>
            <a:ext cx="6455664" cy="125730"/>
          </a:xfrm>
          <a:prstGeom prst="roundRect">
            <a:avLst>
              <a:gd name="adj" fmla="val 29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34608"/>
            <a:ext cx="6455664" cy="251460"/>
          </a:xfrm>
          <a:prstGeom prst="roundRect">
            <a:avLst>
              <a:gd name="adj" fmla="val 1454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411798"/>
            <a:ext cx="6455664" cy="377190"/>
          </a:xfrm>
          <a:prstGeom prst="roundRect">
            <a:avLst>
              <a:gd name="adj" fmla="val 969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3788988"/>
            <a:ext cx="6455664" cy="125730"/>
          </a:xfrm>
          <a:prstGeom prst="roundRect">
            <a:avLst>
              <a:gd name="adj" fmla="val 29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024128"/>
            <a:ext cx="6583680" cy="3657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base64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open("receipt.png", "rb") as f: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receipt_b64 = base64.standard_b64encode(f.read()).decode("utf-8")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[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"Image 1:"},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"image", "source": {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"type": "base64", "media_type": "image/png", "data": receipt_b64}},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"Image 2:"},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"image", "source": {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"type": "url",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"url": "https://platform.claude.com/docs/images/vision-example.jpg"}},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"What is the total on Image 1? Describe Image 2."},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response.content if b.type == "text"))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69480" y="1417320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7040880" y="1719072"/>
            <a:ext cx="228600" cy="1261815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379208" y="1417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 1:"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image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69480" y="2148840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7040880" y="2450592"/>
            <a:ext cx="228600" cy="781755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379208" y="214884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bytes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69480" y="2880360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7040880" y="3182112"/>
            <a:ext cx="228600" cy="427425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379208" y="288036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3611880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0" y="3860997"/>
            <a:ext cx="228600" cy="52635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379208" y="36118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last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before text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1732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63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52728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52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1197864" cy="54864"/>
          </a:xfrm>
          <a:prstGeom prst="rect">
            <a:avLst/>
          </a:prstGeom>
          <a:solidFill>
            <a:srgbClr val="C9D5EA"/>
          </a:solidFill>
          <a:ln w="3175">
            <a:solidFill>
              <a:srgbClr val="C9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92224"/>
            <a:ext cx="1197864" cy="54864"/>
          </a:xfrm>
          <a:prstGeom prst="rect">
            <a:avLst/>
          </a:prstGeom>
          <a:solidFill>
            <a:srgbClr val="C9D5EA"/>
          </a:solidFill>
          <a:ln w="3175">
            <a:solidFill>
              <a:srgbClr val="C9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38528"/>
            <a:ext cx="832104" cy="54864"/>
          </a:xfrm>
          <a:prstGeom prst="rect">
            <a:avLst/>
          </a:prstGeom>
          <a:solidFill>
            <a:srgbClr val="C9D5EA"/>
          </a:solidFill>
          <a:ln w="3175">
            <a:solidFill>
              <a:srgbClr val="C9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14600"/>
            <a:ext cx="219456" cy="320040"/>
          </a:xfrm>
          <a:prstGeom prst="rect">
            <a:avLst/>
          </a:prstGeom>
          <a:solidFill>
            <a:srgbClr val="8A9CC0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286000"/>
            <a:ext cx="219456" cy="548640"/>
          </a:xfrm>
          <a:prstGeom prst="rect">
            <a:avLst/>
          </a:prstGeom>
          <a:solidFill>
            <a:srgbClr val="E07A5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423160"/>
            <a:ext cx="219456" cy="411480"/>
          </a:xfrm>
          <a:prstGeom prst="rect">
            <a:avLst/>
          </a:prstGeom>
          <a:solidFill>
            <a:srgbClr val="8A9CC0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2011680" y="1572768"/>
            <a:ext cx="457200" cy="507492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11680" y="2080260"/>
            <a:ext cx="457200" cy="507492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14600" y="118872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371600"/>
            <a:ext cx="411480" cy="4114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745" y="147858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3172968" y="11887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text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14600" y="219456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51760" y="2377440"/>
            <a:ext cx="411480" cy="4114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745" y="2484425"/>
            <a:ext cx="197510" cy="19751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172968" y="2194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25146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800600" y="1572768"/>
            <a:ext cx="502920" cy="438912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 flipV="1">
            <a:off x="4800600" y="2148840"/>
            <a:ext cx="502920" cy="438912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349240" y="1188720"/>
            <a:ext cx="1325880" cy="1783080"/>
          </a:xfrm>
          <a:prstGeom prst="roundRect">
            <a:avLst>
              <a:gd name="adj" fmla="val 68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33288" y="14173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934" y="15599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34924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6903720" y="1188720"/>
            <a:ext cx="1783080" cy="1783080"/>
          </a:xfrm>
          <a:prstGeom prst="roundRect">
            <a:avLst>
              <a:gd name="adj" fmla="val 5128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040880" y="1234440"/>
            <a:ext cx="1554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charts, tables and layout, not just text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457200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9436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~1,500–3,000</a:t>
            </a:r>
            <a:endParaRPr lang="en-US" sz="1900" dirty="0"/>
          </a:p>
        </p:txBody>
      </p:sp>
      <p:sp>
        <p:nvSpPr>
          <p:cNvPr id="34" name="Text 29"/>
          <p:cNvSpPr txBox="1"/>
          <p:nvPr/>
        </p:nvSpPr>
        <p:spPr>
          <a:xfrm>
            <a:off x="59436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tokens per page + image tokens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2560320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269748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pages</a:t>
            </a:r>
            <a:endParaRPr lang="en-US" sz="1900" dirty="0"/>
          </a:p>
        </p:txBody>
      </p:sp>
      <p:sp>
        <p:nvSpPr>
          <p:cNvPr id="37" name="Text 32"/>
          <p:cNvSpPr txBox="1"/>
          <p:nvPr/>
        </p:nvSpPr>
        <p:spPr>
          <a:xfrm>
            <a:off x="269748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(100 on &lt;1M context)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4663440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80060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MB</a:t>
            </a:r>
            <a:endParaRPr lang="en-US" sz="1900" dirty="0"/>
          </a:p>
        </p:txBody>
      </p:sp>
      <p:sp>
        <p:nvSpPr>
          <p:cNvPr id="40" name="Text 35"/>
          <p:cNvSpPr txBox="1"/>
          <p:nvPr/>
        </p:nvSpPr>
        <p:spPr>
          <a:xfrm>
            <a:off x="480060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limit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6766560" y="3520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903720" y="3584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1900" dirty="0"/>
          </a:p>
        </p:txBody>
      </p:sp>
      <p:sp>
        <p:nvSpPr>
          <p:cNvPr id="43" name="Text 38"/>
          <p:cNvSpPr txBox="1"/>
          <p:nvPr/>
        </p:nvSpPr>
        <p:spPr>
          <a:xfrm>
            <a:off x="690372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PDFs</a:t>
            </a:r>
            <a:endParaRPr lang="en-US" sz="1250" dirty="0"/>
          </a:p>
        </p:txBody>
      </p:sp>
      <p:sp>
        <p:nvSpPr>
          <p:cNvPr id="44" name="Text 3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08_pdf.py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3105087"/>
            <a:ext cx="8101584" cy="279400"/>
          </a:xfrm>
          <a:prstGeom prst="roundRect">
            <a:avLst>
              <a:gd name="adj" fmla="val 1309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33832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base64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open("annual_report.pdf", "rb") as f: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pdf_b64 = base64.standard_b64encode(f.read()).decode("utf-8")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max_tokens=2048,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[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"document", "source": {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"type": "base64", "media_type": "application/pdf", "data": pdf_b64}},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"Summarise revenue trends. Cite page numbers."},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}],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response.content if b.type == "text"))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print("input tokens:", response.usage.input_tokens)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 ·  sources: base64 / url / file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API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13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430670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97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286000" y="1531620"/>
            <a:ext cx="274320" cy="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06040" y="10972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3213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62" y="1430670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64408" y="1097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file_id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434840" y="1531620"/>
            <a:ext cx="274320" cy="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754880" y="10972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92040" y="13213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402" y="1430670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13248" y="1097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583680" y="1531620"/>
            <a:ext cx="274320" cy="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903720" y="1097280"/>
            <a:ext cx="178308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40880" y="13213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242" y="1430670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62088" y="10972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457200" y="22402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00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cost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per file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per org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upload/list/delete free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billed as input tokens when used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3291840" y="22402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types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347472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text → document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→ image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→ container_upload (code execution)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126480" y="224028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309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630936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workspace-scoped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Bedrock / Google Cloud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09_files_api.py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639312"/>
          </a:xfrm>
          <a:prstGeom prst="roundRect">
            <a:avLst>
              <a:gd name="adj" fmla="val 201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029711"/>
            <a:ext cx="8101584" cy="146685"/>
          </a:xfrm>
          <a:prstGeom prst="roundRect">
            <a:avLst>
              <a:gd name="adj" fmla="val 249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349876"/>
            <a:ext cx="8101584" cy="146685"/>
          </a:xfrm>
          <a:prstGeom prst="roundRect">
            <a:avLst>
              <a:gd name="adj" fmla="val 249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4376671"/>
            <a:ext cx="8101584" cy="146685"/>
          </a:xfrm>
          <a:prstGeom prst="roundRect">
            <a:avLst>
              <a:gd name="adj" fmla="val 249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24128"/>
            <a:ext cx="8229600" cy="3639312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Upload once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open("annual_report.pdf", "rb") as f: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uploaded = client.files.upload(file=("annual_report.pdf", f, "application/pdf"))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print("file id:", uploaded.id)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Reference by file_id in as many requests as you like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question in ["What were the three biggest risks?", "List all subsidiaries."]: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max_tokens=1024,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[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"document", "source": {"type": "file", "file_id": uploaded.id}},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question},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]}],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print(question, "-&gt;", "".join(b.text for b in r.content if b.type == "text")[:200])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Clean up when done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client.files.delete(uploaded.id)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data access pattern</a:t>
            </a:r>
            <a:endParaRPr lang="en-US" sz="3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docs, prompts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as input every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base64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files, one-off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size (32 MB), payload bloat in multi-turn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publicly reachable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file_id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across turns/requests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IDs server-side; never accept IDs from 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193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2397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prompt caching for repeated questions over the same document.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 recap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97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783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in/out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603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468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461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154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UX &amp; long outputs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9319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840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images/PDFs/files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0" y="1097280"/>
            <a:ext cx="3200400" cy="3310128"/>
          </a:xfrm>
          <a:prstGeom prst="roundRect">
            <a:avLst>
              <a:gd name="adj" fmla="val 285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325880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892" y="1463772"/>
            <a:ext cx="254569" cy="254569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400800" y="1325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MINI-LAB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715000" y="21031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15000" y="2103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571500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chatbot with cost meter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essentials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tool use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60704" y="125272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12527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0784"/>
            <a:ext cx="12984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</a:t>
            </a:r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user message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56816" y="2080260"/>
            <a:ext cx="1600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4268" y="109728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3996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3996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7772" y="125272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7772" y="12527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53996" y="1700784"/>
            <a:ext cx="12984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replies </a:t>
            </a:r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{id, name, input}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43884" y="2080260"/>
            <a:ext cx="1600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31336" y="109728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41064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41064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125272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12527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41064" y="1700784"/>
            <a:ext cx="12984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function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30952" y="2080260"/>
            <a:ext cx="1600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8404" y="109728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8132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2813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1908" y="125272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1908" y="12527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28132" y="1700784"/>
            <a:ext cx="12984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</a:t>
            </a:r>
            <a:pPr indent="0" marL="0">
              <a:buNone/>
            </a:pPr>
            <a:r>
              <a:rPr lang="en-US" sz="11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{tool_use_id, content} in a user turn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18020" y="2080260"/>
            <a:ext cx="16002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5472" y="1097280"/>
            <a:ext cx="1481328" cy="1965960"/>
          </a:xfrm>
          <a:prstGeom prst="roundRect">
            <a:avLst>
              <a:gd name="adj" fmla="val 617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808976" y="125272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08976" y="12527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1700784"/>
            <a:ext cx="12984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(</a:t>
            </a:r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end_turn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or asks for another tool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946136" y="3081528"/>
            <a:ext cx="0" cy="32004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72000" y="3401568"/>
            <a:ext cx="337413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572000" y="3099816"/>
            <a:ext cx="0" cy="301752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709160" y="31089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another tool → repeat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00535"/>
            <a:ext cx="193121" cy="193121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114300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runs your code. It asks; you execute.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tool definition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1097280"/>
            <a:ext cx="78181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1401592"/>
            <a:ext cx="7690104" cy="166688"/>
          </a:xfrm>
          <a:prstGeom prst="roundRect">
            <a:avLst>
              <a:gd name="adj" fmla="val 2194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568279"/>
            <a:ext cx="7690104" cy="333375"/>
          </a:xfrm>
          <a:prstGeom prst="roundRect">
            <a:avLst>
              <a:gd name="adj" fmla="val 10971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01654"/>
            <a:ext cx="7690104" cy="833437"/>
          </a:xfrm>
          <a:prstGeom prst="roundRect">
            <a:avLst>
              <a:gd name="adj" fmla="val 438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097280"/>
            <a:ext cx="7818120" cy="2011680"/>
          </a:xfrm>
          <a:prstGeom prst="rect">
            <a:avLst/>
          </a:prstGeom>
          <a:noFill/>
          <a:ln/>
        </p:spPr>
        <p:txBody>
          <a:bodyPr wrap="square" lIns="146304" tIns="128016" rIns="146304" bIns="128016" rtlCol="0" anchor="t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"get_order_status",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"Look up the shipping status of an order… Use when the user asks where their order is.",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{"order_id": {"type": "string"}},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["order_id"]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" y="1356920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1356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606951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1606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190357"/>
            <a:ext cx="274320" cy="2743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21903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49300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13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function 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383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49300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58768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913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WHEN and WHY to use it (most important)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3383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49300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93408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input_schema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913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JSON Schema for arguments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10_tool_roundtrip.py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"get_order_status",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"Look up the shipping status of an order by its order ID. 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"Use when the user asks where their order is.",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"input_schema": {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{"order_id": {"type": "string", "description": "e.g. A-10293"}},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["order_id"],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get_order_status(order_id):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your real code / database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{"order_id": order_id, "status": "shipped", "eta": "2 days"}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 "content": "Where is my order A-10293?"}]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client.messages.create(model="claude-sonnet-5-5", max_tokens=1024,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tools=tools, messages=messages)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"assistant", "content": r.content})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r.stop_reason != "tool_use":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block in r.content: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block.type == "tool_use":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 = get_order_status(**block.input)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results.append({"type": "tool_result", "tool_use_id": block.id,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"content": str(output)})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"user", "content": results})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r.content if b.type == "text"))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22960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211580"/>
            <a:ext cx="246888" cy="10744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2296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tools[]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input_schema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810512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199132"/>
            <a:ext cx="246888" cy="94869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810512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end_turn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798064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186684"/>
            <a:ext cx="246888" cy="41833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798064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785616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4174236"/>
            <a:ext cx="246888" cy="11658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78561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tool_use_id, content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tools vs server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61872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39263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2161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functions, databases, APIs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Anthropic-defined client tools (bash, text editor, memory, computer use)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10328" y="1261872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87" y="139263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50408" y="12161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runs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37760" y="20116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937760" y="2011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937760" y="24231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37760" y="2423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fetch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937760" y="2834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3776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937760" y="3246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come back in the same response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 (default), any, tool, none — Opus 5.5 supports only auto and none. Module 6 goes deep.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in the API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blocks in practice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2471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224564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5156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may start with thinking blocks → select by type, never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content[0]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66420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83721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66420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assistant content back unchanged in multi-turn (signatures verify it)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276856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50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449860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27685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tools: include the unmodified thinking block with your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889504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9626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062508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889504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5.5: thinking text omitted by default → display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"summarized"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read it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502152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57530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3675156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50215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are billed as output and count toward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57200" y="4187952"/>
            <a:ext cx="8229600" cy="47548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40080" y="4187952"/>
            <a:ext cx="7909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Extended = </a:t>
            </a:r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budget_tokens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(Haiku 4.5) · Adaptive + effort (Sonnet/Opus 5.5, Fable 5.1) — see Module 1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caching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cache?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427" y="142207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90% off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input (cache read = 0.1× input price; 0.05× on Opus 5.5)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29844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387" y="1422075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prefixes skip reprocessing → lower time to first token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840480"/>
            <a:ext cx="1735531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3840480"/>
            <a:ext cx="1735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system prompts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2268169" y="384048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268169" y="38404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documents/PDFs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154119" y="3840480"/>
            <a:ext cx="1510589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154119" y="3840480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740146" y="3840480"/>
            <a:ext cx="1735531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740146" y="3840480"/>
            <a:ext cx="1735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chat histories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7551115" y="3840480"/>
            <a:ext cx="1135685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551115" y="3840480"/>
            <a:ext cx="1135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prefix caching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83080" y="1463040"/>
            <a:ext cx="1325880" cy="566928"/>
          </a:xfrm>
          <a:prstGeom prst="rect">
            <a:avLst/>
          </a:prstGeom>
          <a:solidFill>
            <a:srgbClr val="1F2A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83080" y="14630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1920240" cy="566928"/>
          </a:xfrm>
          <a:prstGeom prst="rect">
            <a:avLst/>
          </a:prstGeom>
          <a:solidFill>
            <a:srgbClr val="3446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1828800" cy="566928"/>
          </a:xfrm>
          <a:prstGeom prst="rect">
            <a:avLst/>
          </a:prstGeom>
          <a:solidFill>
            <a:srgbClr val="4F63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4630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(history)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0" y="1463040"/>
            <a:ext cx="1783080" cy="566928"/>
          </a:xfrm>
          <a:prstGeom prst="rect">
            <a:avLst/>
          </a:prstGeom>
          <a:solidFill>
            <a:srgbClr val="C9D5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4630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974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83080" y="2697480"/>
            <a:ext cx="1325880" cy="566928"/>
          </a:xfrm>
          <a:prstGeom prst="rect">
            <a:avLst/>
          </a:prstGeom>
          <a:solidFill>
            <a:srgbClr val="F6D3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83080" y="26974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108960" y="2697480"/>
            <a:ext cx="1920240" cy="566928"/>
          </a:xfrm>
          <a:prstGeom prst="rect">
            <a:avLst/>
          </a:prstGeom>
          <a:solidFill>
            <a:srgbClr val="F6D3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0" y="2697480"/>
            <a:ext cx="1828800" cy="566928"/>
          </a:xfrm>
          <a:prstGeom prst="rect">
            <a:avLst/>
          </a:prstGeom>
          <a:solidFill>
            <a:srgbClr val="F6D3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97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(history)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0" y="2697480"/>
            <a:ext cx="1783080" cy="566928"/>
          </a:xfrm>
          <a:prstGeom prst="rect">
            <a:avLst/>
          </a:prstGeom>
          <a:solidFill>
            <a:srgbClr val="C9D5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26974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question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58000" y="1234440"/>
            <a:ext cx="0" cy="2167128"/>
          </a:xfrm>
          <a:prstGeom prst="line">
            <a:avLst/>
          </a:prstGeom>
          <a:noFill/>
          <a:ln w="31750">
            <a:solidFill>
              <a:srgbClr val="E07A5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199632" y="98755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99632" y="9875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206654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written to cache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2918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prefix → reused from cache (read)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" y="397764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4082247"/>
            <a:ext cx="193121" cy="193121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97280" y="37490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= exact match of everything up to the breakpoint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291840" y="37490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19856" y="397764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463" y="4082247"/>
            <a:ext cx="193121" cy="193121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3931920" y="37490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tools → system → messages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126480" y="37490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54496" y="397764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103" y="4082247"/>
            <a:ext cx="193121" cy="193121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6766560" y="374904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 early → everything after it is invalidated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turn it 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</a:t>
            </a:r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top-level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10512"/>
            <a:ext cx="37033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cache_control={"type": "ephemeral"}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chooses the cache point for you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for growing chats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23444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2344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</a:t>
            </a:r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a specific block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81051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810512"/>
            <a:ext cx="37033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"cache_control": {"type": "ephemeral"}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4231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breakpoints per request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what is cached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4300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default  ·  </a:t>
            </a:r>
            <a:pPr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 "ephemeral", "ttl": "1h"}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1 hour  ·  lifetime refreshes each time it's used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MTok · Sonnet 5.5 base input $2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input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5-min cache 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1-hour cache write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0.1× (Opus 5.5: 0.05×)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 cache pays for itself on the 2nd use.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length and what breaks the cache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cacheable prefix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· Sonnet 5.5 · Fable 5.1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603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4,096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679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is silently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cached, no error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breakers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97680" y="1554480"/>
            <a:ext cx="438912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34840" y="15544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tool definitions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0" y="165506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165506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all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97680" y="2194560"/>
            <a:ext cx="438912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34840" y="21945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fast mode or web search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229514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0" y="229514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messages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97680" y="2834640"/>
            <a:ext cx="4389120" cy="768096"/>
          </a:xfrm>
          <a:prstGeom prst="roundRect">
            <a:avLst>
              <a:gd name="adj" fmla="val 119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34840" y="283464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tool_choice, adding/removing images, changing thinking or effort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5200" y="3054096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0" y="305409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97680" y="3712464"/>
            <a:ext cx="4389120" cy="768096"/>
          </a:xfrm>
          <a:prstGeom prst="roundRect">
            <a:avLst>
              <a:gd name="adj" fmla="val 11905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34840" y="3712464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text before the breakpoint (timestamps, user names, random IDs!)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15200" y="39319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0" y="39319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it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11_cache_explicit.py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783148"/>
            <a:ext cx="6455664" cy="251460"/>
          </a:xfrm>
          <a:prstGeom prst="roundRect">
            <a:avLst>
              <a:gd name="adj" fmla="val 1454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4040448"/>
            <a:ext cx="6455664" cy="251460"/>
          </a:xfrm>
          <a:prstGeom prst="roundRect">
            <a:avLst>
              <a:gd name="adj" fmla="val 1454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6583680" cy="3657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open("policy_handbook.txt") as f:  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 long, stable document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handbook = f.read()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ask(question):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max_tokens=512,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system=[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"You answer HR questions using the handbook."},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{"type": "text", "text": handbook,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"cache_control": {"type": "ephemeral"}},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breakpoint: cache up to here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question}],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r.usage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print(f"write={u.cache_creation_input_tokens} 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f"read={u.cache_read_input_tokens} uncached={u.input_tokens}")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ask("How many casual leaves do I get?")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1st call: cache WRITE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ask("What is the notice period?")      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within 5 min: cache READ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69480" y="146304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7040880" y="1874520"/>
            <a:ext cx="228600" cy="110636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3" name="Text 10"/>
          <p:cNvSpPr txBox="1"/>
          <p:nvPr/>
        </p:nvSpPr>
        <p:spPr>
          <a:xfrm>
            <a:off x="7379208" y="1463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cache_control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block = breakpoint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7040880" y="2880360"/>
            <a:ext cx="228600" cy="72917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6" name="Text 13"/>
          <p:cNvSpPr txBox="1"/>
          <p:nvPr/>
        </p:nvSpPr>
        <p:spPr>
          <a:xfrm>
            <a:off x="7379208" y="24688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read / uncached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47472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7040880" y="3886200"/>
            <a:ext cx="228600" cy="22625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9" name="Text 16"/>
          <p:cNvSpPr txBox="1"/>
          <p:nvPr/>
        </p:nvSpPr>
        <p:spPr>
          <a:xfrm>
            <a:off x="7379208" y="34747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1st: WRITE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2nd: READ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usage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input = </a:t>
            </a:r>
            <a:pPr algn="ctr" indent="0" marL="0">
              <a:buNone/>
            </a:pPr>
            <a:r>
              <a:rPr lang="en-US" sz="1200" b="1" dirty="0">
                <a:solidFill>
                  <a:srgbClr val="8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cache_read_input_tokens</a:t>
            </a:r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cache_creation_input_tokens</a:t>
            </a:r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input_tokens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5107870" cy="566928"/>
          </a:xfrm>
          <a:prstGeom prst="rect">
            <a:avLst/>
          </a:prstGeom>
          <a:solidFill>
            <a:srgbClr val="E0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783080"/>
            <a:ext cx="5107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20,000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70910" y="1783080"/>
            <a:ext cx="91440" cy="566928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8070" y="1783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09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uncached 50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63040" y="2697480"/>
            <a:ext cx="5107870" cy="566928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697480"/>
            <a:ext cx="5107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20,000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70910" y="2697480"/>
            <a:ext cx="91440" cy="566928"/>
          </a:xfrm>
          <a:prstGeom prst="rect">
            <a:avLst/>
          </a:prstGeom>
          <a:solidFill>
            <a:srgbClr val="C9D5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08070" y="26974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6243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uncached 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63040" y="3630168"/>
            <a:ext cx="219456" cy="18288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55648" y="3584448"/>
            <a:ext cx="2251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cache_creation_input_tokens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27398" y="3630168"/>
            <a:ext cx="219456" cy="18288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0006" y="3584448"/>
            <a:ext cx="1931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cache_read_input_tokens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71716" y="3630168"/>
            <a:ext cx="219456" cy="182880"/>
          </a:xfrm>
          <a:prstGeom prst="rect">
            <a:avLst/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64324" y="35844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input_tokens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input_tokens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only the tokens AFTER the last breakpoint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cost with and without caching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20,000-token handbook, 100 questions/hour, Sonnet 5.5</a:t>
            </a:r>
            <a:endParaRPr lang="en-US" sz="1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943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caching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20,000 × $2/M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$4.00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5-min cache (one write + 99 reads)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× $2.50/M + 99 × 20,000 × $0.20/M = $0.05 + $0.396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07A5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$0.446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691640"/>
            <a:ext cx="2057400" cy="2057400"/>
          </a:xfrm>
          <a:prstGeom prst="roundRect">
            <a:avLst>
              <a:gd name="adj" fmla="val 444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29400" y="1828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2402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89%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cache reads don't count toward your input-tokens-per-minute rate limit.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12_cache_auto.py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757602"/>
            <a:ext cx="8101584" cy="160020"/>
          </a:xfrm>
          <a:prstGeom prst="roundRect">
            <a:avLst>
              <a:gd name="adj" fmla="val 2285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30175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[]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chat(user_msg):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 "user", "content": user_msg})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max_tokens=512,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cache_control={"type": "ephemeral", "ttl": "1h"},  </a:t>
            </a:r>
            <a:pPr indent="0" marL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automatic caching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system="You are a patient Python tutor.",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messages=history,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history.append({"role": "assistant", "content": r.content})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print("cache read tokens:", r.usage.cache_read_input_tokens)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r.content if b.type == "text")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18795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27482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360408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1879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caching for a growing chat — 1-hour TTL for users who pause.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design rules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978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297716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9728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content first, variable content last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90195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2001804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80136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timestamps or per-user IDs before the breakpoint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505456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60604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70589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50545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tools, model, effort and thinking settings constant across calls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31012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0998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20954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1-hour TTL when requests come less often than every 5 minutes (and for batches)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913632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114068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91363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cache_read_input_tokens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logs — 0 means you're paying full price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Message Batches API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in one slide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256 MB per batch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hour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done · max 24 hours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days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kept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91640" y="310896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3108960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88336" y="310896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88336" y="3108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02736" y="310896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02736" y="31089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64024" y="3108960"/>
            <a:ext cx="941832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310896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43016" y="3108960"/>
            <a:ext cx="1517904" cy="457200"/>
          </a:xfrm>
          <a:prstGeom prst="roundRect">
            <a:avLst>
              <a:gd name="adj" fmla="val 50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43016" y="31089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91640" y="3840480"/>
            <a:ext cx="110642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1691640" y="38404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35224" y="3840480"/>
            <a:ext cx="1106424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2935224" y="38404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lifecycle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200" y="1691640"/>
            <a:ext cx="36576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14173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in_progress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691640"/>
            <a:ext cx="73152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1984248"/>
            <a:ext cx="0" cy="557784"/>
          </a:xfrm>
          <a:prstGeom prst="line">
            <a:avLst/>
          </a:prstGeom>
          <a:noFill/>
          <a:ln w="22225">
            <a:solidFill>
              <a:srgbClr val="E07A5F"/>
            </a:solidFill>
            <a:prstDash val="dash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92024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5603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201168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2834640"/>
            <a:ext cx="1325880" cy="0"/>
          </a:xfrm>
          <a:prstGeom prst="line">
            <a:avLst/>
          </a:prstGeom>
          <a:noFill/>
          <a:ln w="22225">
            <a:solidFill>
              <a:srgbClr val="E07A5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4937760" y="1993392"/>
            <a:ext cx="0" cy="841248"/>
          </a:xfrm>
          <a:prstGeom prst="line">
            <a:avLst/>
          </a:prstGeom>
          <a:noFill/>
          <a:ln w="22225">
            <a:solidFill>
              <a:srgbClr val="E07A5F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532120" y="1280160"/>
            <a:ext cx="822960" cy="41148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10515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051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succeeded</a:t>
            </a:r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(billed)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1691640"/>
            <a:ext cx="822960" cy="155448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1618488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1618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errored</a:t>
            </a:r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 billed)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691640"/>
            <a:ext cx="822960" cy="722376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2185416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185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canceled</a:t>
            </a:r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 billed)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1691640"/>
            <a:ext cx="822960" cy="1289304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0" y="2752344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2752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</a:t>
            </a:r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 billed)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8587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3968130"/>
            <a:ext cx="201900" cy="20190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2344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JSONL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709160" y="3657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92040" y="385876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402" y="3968130"/>
            <a:ext cx="201900" cy="20190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548640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NOT guaranteed — match by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custom_id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13_batch_create.py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40080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74267"/>
            <a:ext cx="6272784" cy="132715"/>
          </a:xfrm>
          <a:prstGeom prst="roundRect">
            <a:avLst>
              <a:gd name="adj" fmla="val 2756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06982"/>
            <a:ext cx="6272784" cy="796290"/>
          </a:xfrm>
          <a:prstGeom prst="roundRect">
            <a:avLst>
              <a:gd name="adj" fmla="val 459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6400800" cy="3657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 = {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"t-001": "My card was charged twice for one order.",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"t-002": "How do I update my address?",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"t-003": "The app crashes when I open statements.",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= client.messages.batches.create(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requests=[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"custom_id": ticket_id,        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your key to match results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"params": {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"model": "claude-haiku-4-5-20251001",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"max_tokens": 10,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"system": "Label the ticket: billing, account or bug. One word.",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"messages": [{"role": "user", "content": text}],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ticket_id, text in tickets.items()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print(batch.id, batch.processing_status)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msgbatch_..., in_progress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86600" y="14173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858000" y="1897380"/>
            <a:ext cx="228600" cy="1052389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3" name="Text 10"/>
          <p:cNvSpPr txBox="1"/>
          <p:nvPr/>
        </p:nvSpPr>
        <p:spPr>
          <a:xfrm>
            <a:off x="7196328" y="14173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custom_id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1–64 chars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[a-zA-Z0-9_-]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5603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858000" y="3040380"/>
            <a:ext cx="228600" cy="30753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6" name="Text 13"/>
          <p:cNvSpPr txBox="1"/>
          <p:nvPr/>
        </p:nvSpPr>
        <p:spPr>
          <a:xfrm>
            <a:off x="7196328" y="25603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Messages request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70332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6858000" y="4091940"/>
            <a:ext cx="228600" cy="31769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9" name="Text 16"/>
          <p:cNvSpPr txBox="1"/>
          <p:nvPr/>
        </p:nvSpPr>
        <p:spPr>
          <a:xfrm>
            <a:off x="7196328" y="37033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in_progress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 create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14_batch_results.py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583680" cy="3639312"/>
          </a:xfrm>
          <a:prstGeom prst="roundRect">
            <a:avLst>
              <a:gd name="adj" fmla="val 201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467308"/>
            <a:ext cx="6455664" cy="146050"/>
          </a:xfrm>
          <a:prstGeom prst="roundRect">
            <a:avLst>
              <a:gd name="adj" fmla="val 2504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051508"/>
            <a:ext cx="6455664" cy="146050"/>
          </a:xfrm>
          <a:prstGeom prst="roundRect">
            <a:avLst>
              <a:gd name="adj" fmla="val 2504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6583680" cy="3639312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sys, time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batch_id = sys.argv[1]                          </a:t>
            </a:r>
            <a:pPr indent="0" marL="0">
              <a:lnSpc>
                <a:spcPts val="115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msgbatch_...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 = client.messages.batches.retrieve(batch_id)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print("status:", batch.processing_status, batch.request_counts)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batch.processing_status == "ended":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time.sleep(60)                              </a:t>
            </a:r>
            <a:pPr indent="0" marL="0">
              <a:lnSpc>
                <a:spcPts val="115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poll gently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result in client.messages.batches.results(batch_id):  </a:t>
            </a:r>
            <a:pPr indent="0" marL="0">
              <a:lnSpc>
                <a:spcPts val="115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order NOT guaranteed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result.result.type == "succeeded":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result.result.message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 = "".join(b.text for b in msg.content if b.type == "text").strip()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print(result.custom_id, "-&gt;", label)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                          </a:t>
            </a:r>
            <a:pPr indent="0" marL="0">
              <a:lnSpc>
                <a:spcPts val="115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errored / canceled / expired</a:t>
            </a:r>
            <a:endParaRPr lang="en-US" sz="10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print(result.custom_id, "failed:", result.result.type)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69480" y="137160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7040880" y="1783080"/>
            <a:ext cx="228600" cy="76639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3" name="Text 10"/>
          <p:cNvSpPr txBox="1"/>
          <p:nvPr/>
        </p:nvSpPr>
        <p:spPr>
          <a:xfrm>
            <a:off x="7379208" y="13716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ended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242316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7040880" y="2834640"/>
            <a:ext cx="228600" cy="29903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6" name="Text 13"/>
          <p:cNvSpPr txBox="1"/>
          <p:nvPr/>
        </p:nvSpPr>
        <p:spPr>
          <a:xfrm>
            <a:off x="7379208" y="24231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47472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0" y="3717877"/>
            <a:ext cx="228600" cy="16832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9" name="Text 16"/>
          <p:cNvSpPr txBox="1"/>
          <p:nvPr/>
        </p:nvSpPr>
        <p:spPr>
          <a:xfrm>
            <a:off x="7379208" y="34747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custom_id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results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vs batch</a:t>
            </a:r>
            <a:endParaRPr lang="en-US" sz="3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Messages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 user waiting?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→ real-time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→ batch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hours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bulk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cheaper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/ fast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copilots, live 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classification, evals, bulk summaries, backfills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23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28551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416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'Overnight', '10,000 documents', 'cost is the priority' → Batch API.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on cloud platforms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reach Claude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17904" cy="2331720"/>
          </a:xfrm>
          <a:prstGeom prst="roundRect">
            <a:avLst>
              <a:gd name="adj" fmla="val 602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618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8074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4871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35124" y="1097280"/>
            <a:ext cx="1517904" cy="2331720"/>
          </a:xfrm>
          <a:prstGeom prst="roundRect">
            <a:avLst>
              <a:gd name="adj" fmla="val 60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99716" y="12618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588" y="138074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99716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Platform on AWS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2299716" y="24871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Anthropic-operated, AWS billing &amp; IAM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813048" y="1097280"/>
            <a:ext cx="1517904" cy="2331720"/>
          </a:xfrm>
          <a:prstGeom prst="roundRect">
            <a:avLst>
              <a:gd name="adj" fmla="val 60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12618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38074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77640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Bedrock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3977640" y="24871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AWS-operated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90972" y="1097280"/>
            <a:ext cx="1517904" cy="2331720"/>
          </a:xfrm>
          <a:prstGeom prst="roundRect">
            <a:avLst>
              <a:gd name="adj" fmla="val 60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55564" y="12618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436" y="138074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55564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 Vertex AI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7168896" y="1097280"/>
            <a:ext cx="1517904" cy="2331720"/>
          </a:xfrm>
          <a:prstGeom prst="roundRect">
            <a:avLst>
              <a:gd name="adj" fmla="val 60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33488" y="12618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38074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33488" y="18288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Foundry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234440" y="374904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234440" y="3749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cloud contracts &amp; billing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4041648" y="374904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041648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614416" y="374904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614416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compliance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7461504" y="374904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461504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differences to know</a:t>
            </a:r>
            <a:endParaRPr lang="en-US" sz="3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645920"/>
                <a:gridCol w="1600200"/>
                <a:gridCol w="1600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Platform on AWS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Vertex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~Same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tools (code exec)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search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AnthropicAWS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AnthropicBedrock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AnthropicVertex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0736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7825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Bedrock when AWS must be the only data processor or for FedRAMP High / HIPAA-ready needs.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15_platforms.py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971800"/>
          </a:xfrm>
          <a:prstGeom prst="roundRect">
            <a:avLst>
              <a:gd name="adj" fmla="val 246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661008"/>
            <a:ext cx="8101584" cy="502920"/>
          </a:xfrm>
          <a:prstGeom prst="roundRect">
            <a:avLst>
              <a:gd name="adj" fmla="val 727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29718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-U "anthropic[bedrock]"   /   "anthropic[vertex]"   /   "anthropic[aws]"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anthropic import Anthropic, AnthropicBedrock, AnthropicVertex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= Anthropic()                              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Claude API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 = AnthropicBedrock(aws_region="us-west-2")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Amazon Bedrock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vertex = AnthropicVertex(project_id="my-gcp-project", region="global")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Google Cloud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Messages API shape everywhere - only the client and model ID change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client, model in [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(direct, "claude-haiku-4-5-20251001"),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(bedrock, "global.anthropic.claude-haiku-4-5-20251001-v1:0"),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(vertex, "claude-haiku-4-5@20251001"),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client.messages.create(model=model, max_tokens=50,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messages=[{"role": "user", "content": "Say hi"}])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print(type(client).__name__, "-&gt;", r.content[0].text)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2473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332976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1605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Messages API — only the client, auth and model ID format change.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Errors, rate limits and reliability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codes</a:t>
            </a:r>
            <a:endParaRPr lang="en-US" sz="3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566160"/>
                <a:gridCol w="347472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invalid_request_error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fix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authentication_error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fix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billing_error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fix billing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permission_error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not_found_error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request_too_large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shrink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rate_limit_error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after retry-after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backoff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timeout_error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or stream / batch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529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overloaded_error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backoff /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8288" marB="18288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370832"/>
            <a:ext cx="310896" cy="31089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033" y="4451665"/>
            <a:ext cx="149230" cy="1492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has a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request-id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 it.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SDK does for you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9387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393728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430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2× by default with exponential backoff (connection errors, 408, 409, 429, 5xx)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13512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2234976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98424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</a:t>
            </a:r>
            <a:pPr indent="0" marL="0">
              <a:buNone/>
            </a:pPr>
            <a:r>
              <a:rPr lang="en-US" sz="16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retry-after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825496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9763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3076224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825496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read timeout 10 minutes; rejects non-streaming requests expected to exceed it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3666744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8176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917472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666744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</a:t>
            </a:r>
            <a:pPr indent="0" marL="0">
              <a:buNone/>
            </a:pPr>
            <a:r>
              <a:rPr lang="en-US" sz="16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Anthropic(max_retries=…, timeout=…)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6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client.with_options(...)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16_errors_retries.py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639312"/>
          </a:xfrm>
          <a:prstGeom prst="roundRect">
            <a:avLst>
              <a:gd name="adj" fmla="val 201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42971"/>
            <a:ext cx="8101584" cy="586740"/>
          </a:xfrm>
          <a:prstGeom prst="roundRect">
            <a:avLst>
              <a:gd name="adj" fmla="val 623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3639312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max_retries=4, 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default is 2 (connection errors, 408, 409, 429, 5xx)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timeout=120.0, 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seconds; default read timeout is 10 minutes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model="claude-sonnet-5-5",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max_tokens=512,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"Hello"}],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anthropic.BadRequestError as e: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400: fix the request, don't retry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print("bad request:", e.message)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anthropic.AuthenticationError: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401: check the API key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print("check ANTHROPIC_API_KEY")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anthropic.RateLimitError as e: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429: retries exhausted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print("rate limited; retry-after =", e.response.headers.get("retry-after"))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anthropic.APIStatusError as e: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other 4xx/5xx incl. 529 overloaded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print("API error", e.status_code, "request id:", e.request_id)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anthropic.APIConnectionError:           </a:t>
            </a:r>
            <a:pPr indent="0" marL="0">
              <a:lnSpc>
                <a:spcPts val="1155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network problem, never reached API</a:t>
            </a:r>
            <a:endParaRPr lang="en-US" sz="105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print("network error")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143000" cy="201168"/>
          </a:xfrm>
          <a:prstGeom prst="rect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143000"/>
            <a:ext cx="182880" cy="411480"/>
          </a:xfrm>
          <a:prstGeom prst="rect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3352" y="1627632"/>
            <a:ext cx="118872" cy="1188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73352" y="1783080"/>
            <a:ext cx="118872" cy="1188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refill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flipV="1">
            <a:off x="960120" y="1938528"/>
            <a:ext cx="1737360" cy="1170432"/>
          </a:xfrm>
          <a:prstGeom prst="trapezoid">
            <a:avLst/>
          </a:prstGeom>
          <a:solidFill>
            <a:srgbClr val="E8EEF7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395728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2395728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2395728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2395728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615184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8488" y="2615184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11096" y="2615184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03704" y="2615184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834640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4208" y="2834640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834640"/>
            <a:ext cx="155448" cy="15544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2560320"/>
            <a:ext cx="50292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78892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spend capacity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246120"/>
            <a:ext cx="1051560" cy="105156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46120"/>
            <a:ext cx="1051560" cy="1051560"/>
          </a:xfrm>
          <a:prstGeom prst="blockArc">
            <a:avLst>
              <a:gd name="adj1" fmla="val 10800000"/>
              <a:gd name="adj2" fmla="val 15660000"/>
              <a:gd name="adj3" fmla="val 14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3246120"/>
            <a:ext cx="1051560" cy="105156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3246120"/>
            <a:ext cx="1051560" cy="1051560"/>
          </a:xfrm>
          <a:prstGeom prst="blockArc">
            <a:avLst>
              <a:gd name="adj1" fmla="val 10800000"/>
              <a:gd name="adj2" fmla="val 18360000"/>
              <a:gd name="adj3" fmla="val 14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3736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ITPM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71800" y="3246120"/>
            <a:ext cx="1051560" cy="105156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3246120"/>
            <a:ext cx="1051560" cy="1051560"/>
          </a:xfrm>
          <a:prstGeom prst="blockArc">
            <a:avLst>
              <a:gd name="adj1" fmla="val 10800000"/>
              <a:gd name="adj2" fmla="val 14040000"/>
              <a:gd name="adj3" fmla="val 14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7180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1133856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3743" y="1224199"/>
            <a:ext cx="166787" cy="166787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4800600" y="10972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343400" y="1618488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743" y="1708831"/>
            <a:ext cx="166787" cy="16678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4800600" y="15819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refill (token bucket), not a minute reset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4343400" y="2103120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743" y="2193463"/>
            <a:ext cx="166787" cy="16678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4800600" y="206654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Start → Build → Scale → Custom with monthly spend caps</a:t>
            </a:r>
            <a:endParaRPr lang="en-US" sz="1350" dirty="0"/>
          </a:p>
        </p:txBody>
      </p:sp>
      <p:sp>
        <p:nvSpPr>
          <p:cNvPr id="41" name="Shape 36"/>
          <p:cNvSpPr/>
          <p:nvPr/>
        </p:nvSpPr>
        <p:spPr>
          <a:xfrm>
            <a:off x="4343400" y="2587752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43" y="2678095"/>
            <a:ext cx="166787" cy="166787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800600" y="255117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reads don't count toward ITPM</a:t>
            </a:r>
            <a:endParaRPr lang="en-US" sz="1350" dirty="0"/>
          </a:p>
        </p:txBody>
      </p:sp>
      <p:sp>
        <p:nvSpPr>
          <p:cNvPr id="44" name="Shape 38"/>
          <p:cNvSpPr/>
          <p:nvPr/>
        </p:nvSpPr>
        <p:spPr>
          <a:xfrm>
            <a:off x="4343400" y="3072384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743" y="3162727"/>
            <a:ext cx="166787" cy="166787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4800600" y="30358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OTPM counts real output, not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4343400" y="3557016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743" y="3647359"/>
            <a:ext cx="166787" cy="166787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800600" y="352044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spikes can hit acceleration limits — ramp up gradually</a:t>
            </a:r>
            <a:endParaRPr lang="en-US" sz="1350" dirty="0"/>
          </a:p>
        </p:txBody>
      </p:sp>
      <p:sp>
        <p:nvSpPr>
          <p:cNvPr id="50" name="Shape 42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FBE9E7"/>
          </a:solidFill>
          <a:ln w="15875">
            <a:solidFill>
              <a:srgbClr val="C0392B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19956"/>
            <a:ext cx="292608" cy="292608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09728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Spend-cap 429 has no retry-after — retries keep failing until the next month.</a:t>
            </a:r>
            <a:endParaRPr lang="en-US" sz="1450" dirty="0"/>
          </a:p>
        </p:txBody>
      </p:sp>
      <p:sp>
        <p:nvSpPr>
          <p:cNvPr id="53" name="Text 4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17_rate_limit_headers.py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666848"/>
            <a:ext cx="8101584" cy="335280"/>
          </a:xfrm>
          <a:prstGeom prst="roundRect">
            <a:avLst>
              <a:gd name="adj" fmla="val 1090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8229600" cy="28346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client.messages.with_raw_response.create(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model="claude-haiku-4-5-20251001",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"ping"}],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["requests-remaining", "input-tokens-remaining", "output-tokens-remaining"]: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print(h, "=", raw.headers.get(f"anthropic-ratelimit-{h}"))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print("request-id =", raw.headers.get("request-id"))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raw.parse()                        </a:t>
            </a:r>
            <a:pPr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the normal Message object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print(message.content[0].text)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04164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anthropic-ratelimit-{requests,input-tokens,output-tokens}-{limit,remaining,reset}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patterns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9903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536924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097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with jitter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91840" y="1097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139903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612" y="1536924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60520" y="1097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retry-after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26480" y="109728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09360" y="139903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252" y="1536924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95160" y="109728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 on 529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4231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0080" y="272491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2862804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24231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or batch long jobs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291840" y="24231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474720" y="272491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612" y="2862804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60520" y="24231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smooth traffic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26480" y="24231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309360" y="2724912"/>
            <a:ext cx="530352" cy="53035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252" y="2862804"/>
            <a:ext cx="254569" cy="25456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5160" y="24231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request-id, tokens, latency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457200" y="38404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143000" y="384048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 (capacity commitment) → fewer overload errors; </a:t>
            </a:r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service_tier='auto' | 'standard_only'</a:t>
            </a:r>
            <a:endParaRPr lang="en-US" sz="1450" dirty="0"/>
          </a:p>
        </p:txBody>
      </p:sp>
      <p:sp>
        <p:nvSpPr>
          <p:cNvPr id="31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61872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" y="139263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216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Data Retention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arrangement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80720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807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236976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36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910328" y="1261872"/>
            <a:ext cx="502920" cy="50292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87" y="1392631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50408" y="1216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ZDR-eligible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937760" y="2103120"/>
            <a:ext cx="352044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74920" y="2103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(29-day retention)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937760" y="2606040"/>
            <a:ext cx="352044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74920" y="26060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API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(kept until deleted)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937760" y="3108960"/>
            <a:ext cx="352044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074920" y="31089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containers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39319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" y="405993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64543"/>
            <a:ext cx="193121" cy="19312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43000" y="39319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features with data policy in mind — e.g. PII workloads under ZDR can't use Batch.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"Overnight bulk job — run parallel real-time calls"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API (50% off)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"Users wait too long for the first word"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the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"Same 30-page doc asked 100 times — pay full price"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 (+ Files 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"Cache hit rate is 0 — model is broken"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something changes before the breakpoint (timestamp!)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"429 — retry immediately in a tight loop"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backoff, honour retry-after, smooth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"400 — retry with backoff"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request; 400s never succeed on retry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"Need Batch on Bedrock"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available; use Claude API or Claude Platform on AWS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typed blocks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stop_reason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UX &amp; long outputs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/ URL / file_id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Claude asks, you run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stable prefixes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non-urgent bulk work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the retryable, fix the rest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chatbot with memory and cost meter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29844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09560" y="137160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9560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920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Q&amp;A with Files API + prompt caching — measure savings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08152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0" y="315468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1546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033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real-time: classify 200 tickets, compare cost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308152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032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09560" y="3154680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31546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910328" y="37033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client: retries, timeouts, logging, fallback model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 cache write on Sonnet 5.5 costs?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0.1×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1.25×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base input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cached call shows cache_read_input_tokens = 0 every time. Most likely cause?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small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 at the top of the system prompt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enabled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too 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stream, where do you find the final stop_reason?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message_start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content_block_stop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product descriptions to rewrite by tomorrow, cost matters. Best approach?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real-time calls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 should NOT be retried?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Batch API but your company uses Amazon Bedrock. Options?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supports it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API or Claude Platform on AWS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Vertex AI batch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 anywhere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4: Prompt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97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78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labs 1–4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63040" y="3611880"/>
            <a:ext cx="998525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3611880"/>
            <a:ext cx="99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71293" y="3611880"/>
            <a:ext cx="1400861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71293" y="3611880"/>
            <a:ext cx="14008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81882" y="3611880"/>
            <a:ext cx="1561795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81882" y="3611880"/>
            <a:ext cx="15617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53405" y="3611880"/>
            <a:ext cx="757123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53405" y="3611880"/>
            <a:ext cx="7571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20256" y="3611880"/>
            <a:ext cx="1159459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0256" y="3611880"/>
            <a:ext cx="11594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API Mechanics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2026-09-29T04:10:33Z</dcterms:created>
  <dcterms:modified xsi:type="dcterms:W3CDTF">2026-09-29T04:10:33Z</dcterms:modified>
</cp:coreProperties>
</file>