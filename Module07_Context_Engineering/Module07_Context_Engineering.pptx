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1: Title — Context Engineering.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2: Learning outcomes.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3: Agenda.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4: Section 01 — What fills the context.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5: Prompt engineering vs context engineering.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6: What fills the context window.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7: Window sizes and overflow.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8: Context rot and the attention budget.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9: Context drift.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10: CODE — 01_long_chat_simulator.py.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11: Section 02 — Bloat and pruning.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12: Where bloat comes from.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13: Return only what Claude needs.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14: CODE — 02_tool_output_pruner.py.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15: CODE — 03_clear_old_results.py.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16: Too many tools? Tool search.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17: Section 03 — Compaction and context editing.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18: Three ways to shrink history.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19: CODE — 04_summarise_helpers.py.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20: Server-side compaction: pick a mode.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21: Threshold compaction: the parameters.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22: CODE — 05_compaction_threshold.py.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23: CODE — 06_compaction_on_demand.py.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24: Context editing: clear by rule.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25: CODE — 07_context_editing.py.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26: Gotchas: cache, cost, models.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27: Section 04 — Memory.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28: Short-term vs long-term memory.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29: Sliding window + running summary.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30: CODE — 08_window_memory.py.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31: The memory tool.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32: CODE — 09_memory_tool.py.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33: Section 05 — RAG basics.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34: The RAG pipeline.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35: Chunking and embeddings.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36: CODE — 10_local_rag.py.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37: CODE — 12_rag_prompt.py.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38: Long context vs RAG vs just-in-time.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39: Section 06 — Context isolation.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40: Subagents: a clean context per task.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41: CODE — 13_subagent_isolation.py.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42: Section 07 — Wrap-up.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43: Exam traps — wrong instinct vs better answer.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44: Key takeaways.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45: Labs.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46: Quick check quiz — answers are in the speaker guide only.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47: Next up — Module 8 and homework.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image" Target="../media/image-34-6.png"/><Relationship Id="rId7" Type="http://schemas.openxmlformats.org/officeDocument/2006/relationships/image" Target="../media/image-34-7.png"/><Relationship Id="rId8" Type="http://schemas.openxmlformats.org/officeDocument/2006/relationships/image" Target="../media/image-34-8.png"/><Relationship Id="rId9" Type="http://schemas.openxmlformats.org/officeDocument/2006/relationships/image" Target="../media/image-34-9.png"/><Relationship Id="rId10" Type="http://schemas.openxmlformats.org/officeDocument/2006/relationships/image" Target="../media/image-3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image" Target="../media/image-44-4.png"/><Relationship Id="rId5" Type="http://schemas.openxmlformats.org/officeDocument/2006/relationships/image" Target="../media/image-44-5.png"/><Relationship Id="rId6" Type="http://schemas.openxmlformats.org/officeDocument/2006/relationships/image" Target="../media/image-44-6.png"/><Relationship Id="rId7" Type="http://schemas.openxmlformats.org/officeDocument/2006/relationships/image" Target="../media/image-44-7.png"/><Relationship Id="rId8" Type="http://schemas.openxmlformats.org/officeDocument/2006/relationships/image" Target="../media/image-4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Engineering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· Claude Certified Developer – Foundations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383280"/>
            <a:ext cx="4297680" cy="42062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9050">
            <a:solidFill>
              <a:srgbClr val="E07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38328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Building with Claude · 3 hours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55080" y="1234440"/>
            <a:ext cx="2286000" cy="22860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55080" y="12344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77640" cy="585216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" y="1143000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823" y="1247607"/>
            <a:ext cx="193121" cy="1931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15568" y="1051560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fills the context window and what it costs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3931920" y="1051560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746504"/>
            <a:ext cx="3977640" cy="585216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85216" y="1837944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23" y="1942551"/>
            <a:ext cx="193121" cy="19312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15568" y="1746504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context rot and context drift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3931920" y="1746504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57200" y="2441448"/>
            <a:ext cx="3977640" cy="585216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85216" y="2532888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823" y="2637495"/>
            <a:ext cx="193121" cy="19312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15568" y="2441448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bloat: prune tool output, clear old results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3931920" y="2441448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457200" y="3136392"/>
            <a:ext cx="3977640" cy="585216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85216" y="322783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823" y="3332439"/>
            <a:ext cx="193121" cy="19312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115568" y="3136392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long conversations, client- and server-side</a:t>
            </a:r>
            <a:endParaRPr lang="en-US" sz="1350" dirty="0"/>
          </a:p>
        </p:txBody>
      </p:sp>
      <p:sp>
        <p:nvSpPr>
          <p:cNvPr id="22" name="Text 16"/>
          <p:cNvSpPr txBox="1"/>
          <p:nvPr/>
        </p:nvSpPr>
        <p:spPr>
          <a:xfrm>
            <a:off x="3931920" y="3136392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4709160" y="1051560"/>
            <a:ext cx="3977640" cy="585216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837176" y="1143000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1783" y="1247607"/>
            <a:ext cx="193121" cy="193121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367528" y="1051560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context editing and know the cache trade-off</a:t>
            </a:r>
            <a:endParaRPr lang="en-US" sz="1350" dirty="0"/>
          </a:p>
        </p:txBody>
      </p:sp>
      <p:sp>
        <p:nvSpPr>
          <p:cNvPr id="27" name="Text 20"/>
          <p:cNvSpPr txBox="1"/>
          <p:nvPr/>
        </p:nvSpPr>
        <p:spPr>
          <a:xfrm>
            <a:off x="8183880" y="1051560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4709160" y="1746504"/>
            <a:ext cx="3977640" cy="585216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837176" y="1837944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1783" y="1942551"/>
            <a:ext cx="193121" cy="193121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5367528" y="1746504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short- and long-term memory, incl. the memory tool</a:t>
            </a:r>
            <a:endParaRPr lang="en-US" sz="1350" dirty="0"/>
          </a:p>
        </p:txBody>
      </p:sp>
      <p:sp>
        <p:nvSpPr>
          <p:cNvPr id="32" name="Text 24"/>
          <p:cNvSpPr txBox="1"/>
          <p:nvPr/>
        </p:nvSpPr>
        <p:spPr>
          <a:xfrm>
            <a:off x="8183880" y="1746504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Shape 25"/>
          <p:cNvSpPr/>
          <p:nvPr/>
        </p:nvSpPr>
        <p:spPr>
          <a:xfrm>
            <a:off x="4709160" y="2441448"/>
            <a:ext cx="3977640" cy="585216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4837176" y="2532888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1783" y="2637495"/>
            <a:ext cx="193121" cy="193121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5367528" y="2441448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basic RAG pipeline: chunk, embed, retrieve</a:t>
            </a:r>
            <a:endParaRPr lang="en-US" sz="1350" dirty="0"/>
          </a:p>
        </p:txBody>
      </p:sp>
      <p:sp>
        <p:nvSpPr>
          <p:cNvPr id="37" name="Text 28"/>
          <p:cNvSpPr txBox="1"/>
          <p:nvPr/>
        </p:nvSpPr>
        <p:spPr>
          <a:xfrm>
            <a:off x="8183880" y="2441448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400" dirty="0"/>
          </a:p>
        </p:txBody>
      </p:sp>
      <p:sp>
        <p:nvSpPr>
          <p:cNvPr id="38" name="Shape 29"/>
          <p:cNvSpPr/>
          <p:nvPr/>
        </p:nvSpPr>
        <p:spPr>
          <a:xfrm>
            <a:off x="4709160" y="3136392"/>
            <a:ext cx="3977640" cy="585216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4837176" y="322783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41783" y="3332439"/>
            <a:ext cx="193121" cy="193121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5367528" y="3136392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context with subagents</a:t>
            </a:r>
            <a:endParaRPr lang="en-US" sz="1350" dirty="0"/>
          </a:p>
        </p:txBody>
      </p:sp>
      <p:sp>
        <p:nvSpPr>
          <p:cNvPr id="42" name="Text 32"/>
          <p:cNvSpPr txBox="1"/>
          <p:nvPr/>
        </p:nvSpPr>
        <p:spPr>
          <a:xfrm>
            <a:off x="8183880" y="3136392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400" dirty="0"/>
          </a:p>
        </p:txBody>
      </p:sp>
      <p:sp>
        <p:nvSpPr>
          <p:cNvPr id="43" name="Shape 33"/>
          <p:cNvSpPr/>
          <p:nvPr/>
        </p:nvSpPr>
        <p:spPr>
          <a:xfrm>
            <a:off x="457200" y="393192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594360" y="4014216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967" y="4118823"/>
            <a:ext cx="193121" cy="193121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1143000" y="393192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6 — Context Engineering 3.8% (plus D1 agents, D5 cost, D8 tools)</a:t>
            </a:r>
            <a:endParaRPr lang="en-US" sz="1500" dirty="0"/>
          </a:p>
        </p:txBody>
      </p:sp>
      <p:sp>
        <p:nvSpPr>
          <p:cNvPr id="47" name="Text 36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658368"/>
          </a:xfrm>
          <a:prstGeom prst="roundRect">
            <a:avLst>
              <a:gd name="adj" fmla="val 1388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" y="1207008"/>
            <a:ext cx="438912" cy="43891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85216" y="1207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09728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fills the context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703320" y="1271016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03320" y="1271016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01952"/>
            <a:ext cx="3977640" cy="658368"/>
          </a:xfrm>
          <a:prstGeom prst="roundRect">
            <a:avLst>
              <a:gd name="adj" fmla="val 1388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" y="2011680"/>
            <a:ext cx="438912" cy="43891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" y="2011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190195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Bloat and pruning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703320" y="2075688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03320" y="207568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706624"/>
            <a:ext cx="3977640" cy="658368"/>
          </a:xfrm>
          <a:prstGeom prst="roundRect">
            <a:avLst>
              <a:gd name="adj" fmla="val 1388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5216" y="2816352"/>
            <a:ext cx="438912" cy="43891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5216" y="28163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2706624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Compaction and context editing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703320" y="2880360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703320" y="288036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511296"/>
            <a:ext cx="39776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C9D5EA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85216" y="3621024"/>
            <a:ext cx="438912" cy="438912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333" y="3735141"/>
            <a:ext cx="210678" cy="210678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170432" y="3511296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3703320" y="3685032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703320" y="368503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709160" y="1097280"/>
            <a:ext cx="3977640" cy="658368"/>
          </a:xfrm>
          <a:prstGeom prst="roundRect">
            <a:avLst>
              <a:gd name="adj" fmla="val 1388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837176" y="1207008"/>
            <a:ext cx="438912" cy="43891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837176" y="1207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5422392" y="109728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7955280" y="1271016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955280" y="1271016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22m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709160" y="1901952"/>
            <a:ext cx="3977640" cy="658368"/>
          </a:xfrm>
          <a:prstGeom prst="roundRect">
            <a:avLst>
              <a:gd name="adj" fmla="val 1388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837176" y="2011680"/>
            <a:ext cx="438912" cy="43891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37176" y="2011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5422392" y="190195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basics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7955280" y="2075688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955280" y="207568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22m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4709160" y="2706624"/>
            <a:ext cx="3977640" cy="658368"/>
          </a:xfrm>
          <a:prstGeom prst="roundRect">
            <a:avLst>
              <a:gd name="adj" fmla="val 1388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837176" y="2816352"/>
            <a:ext cx="438912" cy="43891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4837176" y="28163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5422392" y="2706624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isolation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7955280" y="2880360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7955280" y="288036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4709160" y="3511296"/>
            <a:ext cx="3977640" cy="658368"/>
          </a:xfrm>
          <a:prstGeom prst="roundRect">
            <a:avLst>
              <a:gd name="adj" fmla="val 1388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837176" y="3621024"/>
            <a:ext cx="438912" cy="43891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4837176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5422392" y="3511296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Wrap-up, Lab 1, quiz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7955280" y="3685032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7955280" y="368503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29m</a:t>
            </a:r>
            <a:endParaRPr lang="en-US" sz="1200" dirty="0"/>
          </a:p>
        </p:txBody>
      </p:sp>
      <p:sp>
        <p:nvSpPr>
          <p:cNvPr id="51" name="Text 48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7 min · Lab 2 is homework</a:t>
            </a:r>
            <a:endParaRPr lang="en-US" sz="1200" dirty="0"/>
          </a:p>
        </p:txBody>
      </p:sp>
      <p:sp>
        <p:nvSpPr>
          <p:cNvPr id="52" name="Text 49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fills the context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 vs context engineering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566160" cy="2606040"/>
          </a:xfrm>
          <a:prstGeom prst="roundRect">
            <a:avLst>
              <a:gd name="adj" fmla="val 350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98448"/>
            <a:ext cx="530352" cy="53035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3692" y="1436340"/>
            <a:ext cx="254569" cy="25456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298448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0116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and organise instructions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prompt, one call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in Module 4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069080" y="2395728"/>
            <a:ext cx="274320" cy="0"/>
          </a:xfrm>
          <a:prstGeom prst="line">
            <a:avLst/>
          </a:prstGeom>
          <a:noFill/>
          <a:ln w="3175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389120" y="1097280"/>
            <a:ext cx="4297680" cy="2606040"/>
          </a:xfrm>
          <a:prstGeom prst="roundRect">
            <a:avLst>
              <a:gd name="adj" fmla="val 3509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17720" y="1298448"/>
            <a:ext cx="530352" cy="53035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5612" y="1436340"/>
            <a:ext cx="254569" cy="25456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57800" y="1298448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engineering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1920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EVERYTHING the model sees, on every turn: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617720" y="2331720"/>
            <a:ext cx="1874520" cy="347472"/>
          </a:xfrm>
          <a:prstGeom prst="roundRect">
            <a:avLst>
              <a:gd name="adj" fmla="val 21053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617720" y="233172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629400" y="2331720"/>
            <a:ext cx="1874520" cy="347472"/>
          </a:xfrm>
          <a:prstGeom prst="roundRect">
            <a:avLst>
              <a:gd name="adj" fmla="val 21053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629400" y="233172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definitions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617720" y="2770632"/>
            <a:ext cx="1874520" cy="347472"/>
          </a:xfrm>
          <a:prstGeom prst="roundRect">
            <a:avLst>
              <a:gd name="adj" fmla="val 21053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617720" y="277063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history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629400" y="2770632"/>
            <a:ext cx="1874520" cy="347472"/>
          </a:xfrm>
          <a:prstGeom prst="roundRect">
            <a:avLst>
              <a:gd name="adj" fmla="val 21053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629400" y="277063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results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4617720" y="3209544"/>
            <a:ext cx="1874520" cy="347472"/>
          </a:xfrm>
          <a:prstGeom prst="roundRect">
            <a:avLst>
              <a:gd name="adj" fmla="val 21053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617720" y="320954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docs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629400" y="3209544"/>
            <a:ext cx="1874520" cy="347472"/>
          </a:xfrm>
          <a:prstGeom prst="roundRect">
            <a:avLst>
              <a:gd name="adj" fmla="val 21053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629400" y="320954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393192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94360" y="4059936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67" y="4164543"/>
            <a:ext cx="193121" cy="193121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1143000" y="393192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smallest possible set of high-signal tokens" </a:t>
            </a:r>
            <a:pPr indent="0" marL="0">
              <a:buNone/>
            </a:pPr>
            <a:r>
              <a:rPr lang="en-US" sz="150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Anthropic engineering blog</a:t>
            </a:r>
            <a:endParaRPr lang="en-US" sz="1500" dirty="0"/>
          </a:p>
        </p:txBody>
      </p:sp>
      <p:sp>
        <p:nvSpPr>
          <p:cNvPr id="30" name="Text 25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fills the context window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868680" cy="868680"/>
          </a:xfrm>
          <a:prstGeom prst="rect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4173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325880" y="1417320"/>
            <a:ext cx="960120" cy="868680"/>
          </a:xfrm>
          <a:prstGeom prst="rect">
            <a:avLst/>
          </a:prstGeom>
          <a:solidFill>
            <a:srgbClr val="34466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25880" y="1417320"/>
            <a:ext cx="960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286000" y="1417320"/>
            <a:ext cx="1737360" cy="868680"/>
          </a:xfrm>
          <a:prstGeom prst="rect">
            <a:avLst/>
          </a:prstGeom>
          <a:solidFill>
            <a:srgbClr val="4F63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0" y="14173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023360" y="1417320"/>
            <a:ext cx="1965960" cy="868680"/>
          </a:xfrm>
          <a:prstGeom prst="rect">
            <a:avLst/>
          </a:prstGeom>
          <a:solidFill>
            <a:srgbClr val="E07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23360" y="141732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results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89320" y="1417320"/>
            <a:ext cx="1234440" cy="868680"/>
          </a:xfrm>
          <a:prstGeom prst="rect">
            <a:avLst/>
          </a:prstGeom>
          <a:solidFill>
            <a:srgbClr val="8A9CC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89320" y="141732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&amp; images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223760" y="1417320"/>
            <a:ext cx="868680" cy="868680"/>
          </a:xfrm>
          <a:prstGeom prst="rect">
            <a:avLst/>
          </a:prstGeom>
          <a:solidFill>
            <a:srgbClr val="C9D5E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23760" y="14173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thinking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92440" y="1417320"/>
            <a:ext cx="594360" cy="868680"/>
          </a:xfrm>
          <a:prstGeom prst="rect">
            <a:avLst/>
          </a:prstGeom>
          <a:solidFill>
            <a:srgbClr val="F6D3C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92440" y="1417320"/>
            <a:ext cx="594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1234440"/>
            <a:ext cx="7635240" cy="0"/>
          </a:xfrm>
          <a:prstGeom prst="line">
            <a:avLst/>
          </a:prstGeom>
          <a:noFill/>
          <a:ln w="15875">
            <a:solidFill>
              <a:srgbClr val="4F63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1234440"/>
            <a:ext cx="0" cy="137160"/>
          </a:xfrm>
          <a:prstGeom prst="line">
            <a:avLst/>
          </a:prstGeom>
          <a:noFill/>
          <a:ln w="15875">
            <a:solidFill>
              <a:srgbClr val="4F63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1234440"/>
            <a:ext cx="0" cy="137160"/>
          </a:xfrm>
          <a:prstGeom prst="line">
            <a:avLst/>
          </a:prstGeom>
          <a:noFill/>
          <a:ln w="15875">
            <a:solidFill>
              <a:srgbClr val="4F639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926080" y="10332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— everything you send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103327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2331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proportions for an agent after many tool calls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74320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2907792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3026664"/>
            <a:ext cx="219456" cy="219456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234440" y="29077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counts</a:t>
            </a:r>
            <a:endParaRPr lang="en-US" sz="155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349300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system, every message, tool results, images, documents, tool definitions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3246120" y="274320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429000" y="2907792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872" y="3026664"/>
            <a:ext cx="219456" cy="219456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4023360" y="29077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output counts too</a:t>
            </a:r>
            <a:endParaRPr lang="en-US" sz="1550" dirty="0"/>
          </a:p>
        </p:txBody>
      </p:sp>
      <p:sp>
        <p:nvSpPr>
          <p:cNvPr id="32" name="Text 28"/>
          <p:cNvSpPr txBox="1"/>
          <p:nvPr/>
        </p:nvSpPr>
        <p:spPr>
          <a:xfrm>
            <a:off x="3429000" y="349300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turn's answer and its thinking share the same window</a:t>
            </a:r>
            <a:endParaRPr lang="en-US" sz="1350" dirty="0"/>
          </a:p>
        </p:txBody>
      </p:sp>
      <p:sp>
        <p:nvSpPr>
          <p:cNvPr id="33" name="Shape 29"/>
          <p:cNvSpPr/>
          <p:nvPr/>
        </p:nvSpPr>
        <p:spPr>
          <a:xfrm>
            <a:off x="6035040" y="274320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217920" y="2907792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3026664"/>
            <a:ext cx="219456" cy="219456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6812280" y="29077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Caching ≠ smaller</a:t>
            </a:r>
            <a:endParaRPr lang="en-US" sz="1550" dirty="0"/>
          </a:p>
        </p:txBody>
      </p:sp>
      <p:sp>
        <p:nvSpPr>
          <p:cNvPr id="37" name="Text 32"/>
          <p:cNvSpPr txBox="1"/>
          <p:nvPr/>
        </p:nvSpPr>
        <p:spPr>
          <a:xfrm>
            <a:off x="6217920" y="349300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tokens are cheaper but still take space in the window</a:t>
            </a:r>
            <a:endParaRPr lang="en-US" sz="1350" dirty="0"/>
          </a:p>
        </p:txBody>
      </p:sp>
      <p:sp>
        <p:nvSpPr>
          <p:cNvPr id="38" name="Text 33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 sizes and overflow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834640" cy="1600200"/>
          </a:xfrm>
          <a:prstGeom prst="roundRect">
            <a:avLst>
              <a:gd name="adj" fmla="val 5714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1M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· up to 128K out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Fable 5.1 · Opus 5.5 · Sonnet 5.5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2834640" cy="1600200"/>
          </a:xfrm>
          <a:prstGeom prst="roundRect">
            <a:avLst>
              <a:gd name="adj" fmla="val 571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8346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200K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6118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· up to 64K out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4.5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0440" y="1051560"/>
          <a:ext cx="516636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2651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alone is over the window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"prompt is too long" (every model)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+ max_tokens over the window (Claude 4.5+)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Accepted; may stop with model_context_window_exceeded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 thinking — Opus/Sonnet 5.5, Fable 5.1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Kept: counts as input every turn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 thinking — Haiku 4.5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Stripped automatically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rot: the attention budget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2225">
            <a:solidFill>
              <a:srgbClr val="E07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06424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967" y="1211031"/>
            <a:ext cx="193121" cy="1931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024128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 token count grows, accuracy and recall degrade."  </a:t>
            </a:r>
            <a:pPr indent="0" marL="0">
              <a:buNone/>
            </a:pPr>
            <a:r>
              <a:rPr lang="en-US" sz="1500" b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Claude docs, Context windows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82880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783080" y="1828800"/>
            <a:ext cx="1463040" cy="420624"/>
          </a:xfrm>
          <a:prstGeom prst="rect">
            <a:avLst/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819656" y="1920240"/>
            <a:ext cx="246888" cy="237744"/>
          </a:xfrm>
          <a:prstGeom prst="rect">
            <a:avLst/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139696" y="1920240"/>
            <a:ext cx="246888" cy="237744"/>
          </a:xfrm>
          <a:prstGeom prst="rect">
            <a:avLst/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459736" y="1920240"/>
            <a:ext cx="246888" cy="237744"/>
          </a:xfrm>
          <a:prstGeom prst="rect">
            <a:avLst/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79776" y="1920240"/>
            <a:ext cx="246888" cy="237744"/>
          </a:xfrm>
          <a:prstGeom prst="rect">
            <a:avLst/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286000" y="1874520"/>
            <a:ext cx="310896" cy="329184"/>
          </a:xfrm>
          <a:prstGeom prst="rect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243230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Bloated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783080" y="2432304"/>
            <a:ext cx="3840480" cy="420624"/>
          </a:xfrm>
          <a:prstGeom prst="rect">
            <a:avLst/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819656" y="2523744"/>
            <a:ext cx="246888" cy="237744"/>
          </a:xfrm>
          <a:prstGeom prst="rect">
            <a:avLst/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139696" y="2523744"/>
            <a:ext cx="246888" cy="237744"/>
          </a:xfrm>
          <a:prstGeom prst="rect">
            <a:avLst/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459736" y="2523744"/>
            <a:ext cx="246888" cy="237744"/>
          </a:xfrm>
          <a:prstGeom prst="rect">
            <a:avLst/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779776" y="2523744"/>
            <a:ext cx="246888" cy="237744"/>
          </a:xfrm>
          <a:prstGeom prst="rect">
            <a:avLst/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099816" y="2523744"/>
            <a:ext cx="246888" cy="237744"/>
          </a:xfrm>
          <a:prstGeom prst="rect">
            <a:avLst/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419856" y="2523744"/>
            <a:ext cx="246888" cy="237744"/>
          </a:xfrm>
          <a:prstGeom prst="rect">
            <a:avLst/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739896" y="2523744"/>
            <a:ext cx="246888" cy="237744"/>
          </a:xfrm>
          <a:prstGeom prst="rect">
            <a:avLst/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059936" y="2523744"/>
            <a:ext cx="246888" cy="237744"/>
          </a:xfrm>
          <a:prstGeom prst="rect">
            <a:avLst/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379976" y="2523744"/>
            <a:ext cx="246888" cy="237744"/>
          </a:xfrm>
          <a:prstGeom prst="rect">
            <a:avLst/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00016" y="2523744"/>
            <a:ext cx="246888" cy="237744"/>
          </a:xfrm>
          <a:prstGeom prst="rect">
            <a:avLst/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020056" y="2523744"/>
            <a:ext cx="246888" cy="237744"/>
          </a:xfrm>
          <a:prstGeom prst="rect">
            <a:avLst/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340096" y="2523744"/>
            <a:ext cx="246888" cy="237744"/>
          </a:xfrm>
          <a:prstGeom prst="rect">
            <a:avLst/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886200" y="2478024"/>
            <a:ext cx="310896" cy="329184"/>
          </a:xfrm>
          <a:prstGeom prst="rect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57200" y="303580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1783080" y="3035808"/>
            <a:ext cx="6400800" cy="420624"/>
          </a:xfrm>
          <a:prstGeom prst="rect">
            <a:avLst/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819656" y="3127248"/>
            <a:ext cx="246888" cy="237744"/>
          </a:xfrm>
          <a:prstGeom prst="rect">
            <a:avLst/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139696" y="3127248"/>
            <a:ext cx="246888" cy="237744"/>
          </a:xfrm>
          <a:prstGeom prst="rect">
            <a:avLst/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459736" y="3127248"/>
            <a:ext cx="246888" cy="237744"/>
          </a:xfrm>
          <a:prstGeom prst="rect">
            <a:avLst/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779776" y="3127248"/>
            <a:ext cx="246888" cy="237744"/>
          </a:xfrm>
          <a:prstGeom prst="rect">
            <a:avLst/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099816" y="3127248"/>
            <a:ext cx="246888" cy="237744"/>
          </a:xfrm>
          <a:prstGeom prst="rect">
            <a:avLst/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419856" y="3127248"/>
            <a:ext cx="246888" cy="237744"/>
          </a:xfrm>
          <a:prstGeom prst="rect">
            <a:avLst/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739896" y="3127248"/>
            <a:ext cx="246888" cy="237744"/>
          </a:xfrm>
          <a:prstGeom prst="rect">
            <a:avLst/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059936" y="3127248"/>
            <a:ext cx="246888" cy="237744"/>
          </a:xfrm>
          <a:prstGeom prst="rect">
            <a:avLst/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379976" y="3127248"/>
            <a:ext cx="246888" cy="237744"/>
          </a:xfrm>
          <a:prstGeom prst="rect">
            <a:avLst/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700016" y="3127248"/>
            <a:ext cx="246888" cy="237744"/>
          </a:xfrm>
          <a:prstGeom prst="rect">
            <a:avLst/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020056" y="3127248"/>
            <a:ext cx="246888" cy="237744"/>
          </a:xfrm>
          <a:prstGeom prst="rect">
            <a:avLst/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340096" y="3127248"/>
            <a:ext cx="246888" cy="237744"/>
          </a:xfrm>
          <a:prstGeom prst="rect">
            <a:avLst/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660136" y="3127248"/>
            <a:ext cx="246888" cy="237744"/>
          </a:xfrm>
          <a:prstGeom prst="rect">
            <a:avLst/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980176" y="3127248"/>
            <a:ext cx="246888" cy="237744"/>
          </a:xfrm>
          <a:prstGeom prst="rect">
            <a:avLst/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300216" y="3127248"/>
            <a:ext cx="246888" cy="237744"/>
          </a:xfrm>
          <a:prstGeom prst="rect">
            <a:avLst/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620256" y="3127248"/>
            <a:ext cx="246888" cy="237744"/>
          </a:xfrm>
          <a:prstGeom prst="rect">
            <a:avLst/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940296" y="3127248"/>
            <a:ext cx="246888" cy="237744"/>
          </a:xfrm>
          <a:prstGeom prst="rect">
            <a:avLst/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7260336" y="3127248"/>
            <a:ext cx="246888" cy="237744"/>
          </a:xfrm>
          <a:prstGeom prst="rect">
            <a:avLst/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580376" y="3127248"/>
            <a:ext cx="246888" cy="237744"/>
          </a:xfrm>
          <a:prstGeom prst="rect">
            <a:avLst/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7900416" y="3127248"/>
            <a:ext cx="246888" cy="237744"/>
          </a:xfrm>
          <a:prstGeom prst="rect">
            <a:avLst/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263640" y="3081528"/>
            <a:ext cx="310896" cy="329184"/>
          </a:xfrm>
          <a:prstGeom prst="rect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783080" y="3703320"/>
            <a:ext cx="201168" cy="201168"/>
          </a:xfrm>
          <a:prstGeom prst="rect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2057400" y="36576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tokens the answer needs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4480560" y="3703320"/>
            <a:ext cx="201168" cy="201168"/>
          </a:xfrm>
          <a:prstGeom prst="rect">
            <a:avLst/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4754880" y="36576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competing for attention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457200" y="406908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594360" y="4151376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967" y="4255983"/>
            <a:ext cx="193121" cy="193121"/>
          </a:xfrm>
          <a:prstGeom prst="rect">
            <a:avLst/>
          </a:prstGeom>
        </p:spPr>
      </p:pic>
      <p:sp>
        <p:nvSpPr>
          <p:cNvPr id="59" name="Text 55"/>
          <p:cNvSpPr txBox="1"/>
          <p:nvPr/>
        </p:nvSpPr>
        <p:spPr>
          <a:xfrm>
            <a:off x="1143000" y="406908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bigger window is capacity, not a strategy. Curate what goes in.</a:t>
            </a:r>
            <a:endParaRPr lang="en-US" sz="1500" dirty="0"/>
          </a:p>
        </p:txBody>
      </p:sp>
      <p:sp>
        <p:nvSpPr>
          <p:cNvPr id="60" name="Text 56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drift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97280" y="1481328"/>
            <a:ext cx="7498080" cy="0"/>
          </a:xfrm>
          <a:prstGeom prst="line">
            <a:avLst/>
          </a:prstGeom>
          <a:noFill/>
          <a:ln w="25400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1005840" y="1389888"/>
            <a:ext cx="182880" cy="182880"/>
          </a:xfrm>
          <a:prstGeom prst="ellipse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9105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0058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+ facts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389888"/>
            <a:ext cx="182880" cy="182880"/>
          </a:xfrm>
          <a:prstGeom prst="ellipse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3200" y="159105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10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0" y="1005840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94960" y="1389888"/>
            <a:ext cx="182880" cy="182880"/>
          </a:xfrm>
          <a:prstGeom prst="ellipse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37760" y="159105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25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1005840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89520" y="1389888"/>
            <a:ext cx="182880" cy="182880"/>
          </a:xfrm>
          <a:prstGeom prst="ellipse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0" y="159105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50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32320" y="1005840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5875">
            <a:solidFill>
              <a:srgbClr val="C9D5EA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7132320" y="10058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01168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2121408"/>
            <a:ext cx="384048" cy="384048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212" y="2221260"/>
            <a:ext cx="184343" cy="184343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051560" y="210312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facts forgotten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94360" y="257860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ID from turn 2 is gone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2560320" y="201168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697480" y="2121408"/>
            <a:ext cx="384048" cy="384048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7332" y="2221260"/>
            <a:ext cx="184343" cy="184343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3154680" y="210312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rules ignored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2697480" y="257860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"reply in Hindi" fades after many turns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4663440" y="201168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800600" y="2121408"/>
            <a:ext cx="384048" cy="384048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0452" y="2221260"/>
            <a:ext cx="184343" cy="184343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5257800" y="210312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a summary</a:t>
            </a:r>
            <a:endParaRPr lang="en-US" sz="1300" dirty="0"/>
          </a:p>
        </p:txBody>
      </p:sp>
      <p:sp>
        <p:nvSpPr>
          <p:cNvPr id="32" name="Text 27"/>
          <p:cNvSpPr txBox="1"/>
          <p:nvPr/>
        </p:nvSpPr>
        <p:spPr>
          <a:xfrm>
            <a:off x="4800600" y="257860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pass loses a little detail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6766560" y="201168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6903720" y="2121408"/>
            <a:ext cx="384048" cy="384048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3572" y="2221260"/>
            <a:ext cx="184343" cy="184343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7360920" y="210312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facts</a:t>
            </a:r>
            <a:endParaRPr lang="en-US" sz="1300" dirty="0"/>
          </a:p>
        </p:txBody>
      </p:sp>
      <p:sp>
        <p:nvSpPr>
          <p:cNvPr id="37" name="Text 31"/>
          <p:cNvSpPr txBox="1"/>
          <p:nvPr/>
        </p:nvSpPr>
        <p:spPr>
          <a:xfrm>
            <a:off x="6903720" y="257860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values contradict new ones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57200" y="3383280"/>
            <a:ext cx="822960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22225">
            <a:solidFill>
              <a:srgbClr val="E07A5F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640080" y="3429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685800" y="3767328"/>
            <a:ext cx="274320" cy="27432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150" y="3827678"/>
            <a:ext cx="153619" cy="153619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1069848" y="37307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goal + key facts (system prompt, summary)</a:t>
            </a:r>
            <a:endParaRPr lang="en-US" sz="1300" dirty="0"/>
          </a:p>
        </p:txBody>
      </p:sp>
      <p:sp>
        <p:nvSpPr>
          <p:cNvPr id="43" name="Shape 36"/>
          <p:cNvSpPr/>
          <p:nvPr/>
        </p:nvSpPr>
        <p:spPr>
          <a:xfrm>
            <a:off x="4709160" y="3767328"/>
            <a:ext cx="274320" cy="27432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9510" y="3827678"/>
            <a:ext cx="153619" cy="153619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5093208" y="37307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structured notes outside the window</a:t>
            </a:r>
            <a:endParaRPr lang="en-US" sz="1300" dirty="0"/>
          </a:p>
        </p:txBody>
      </p:sp>
      <p:sp>
        <p:nvSpPr>
          <p:cNvPr id="46" name="Shape 38"/>
          <p:cNvSpPr/>
          <p:nvPr/>
        </p:nvSpPr>
        <p:spPr>
          <a:xfrm>
            <a:off x="685800" y="4169664"/>
            <a:ext cx="274320" cy="27432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150" y="4230014"/>
            <a:ext cx="153619" cy="153619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1069848" y="41330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Re-state the goal when the task changes</a:t>
            </a:r>
            <a:endParaRPr lang="en-US" sz="1300" dirty="0"/>
          </a:p>
        </p:txBody>
      </p:sp>
      <p:sp>
        <p:nvSpPr>
          <p:cNvPr id="49" name="Shape 40"/>
          <p:cNvSpPr/>
          <p:nvPr/>
        </p:nvSpPr>
        <p:spPr>
          <a:xfrm>
            <a:off x="4709160" y="4169664"/>
            <a:ext cx="274320" cy="27432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9510" y="4230014"/>
            <a:ext cx="153619" cy="153619"/>
          </a:xfrm>
          <a:prstGeom prst="rect">
            <a:avLst/>
          </a:prstGeom>
        </p:spPr>
      </p:pic>
      <p:sp>
        <p:nvSpPr>
          <p:cNvPr id="51" name="Text 41"/>
          <p:cNvSpPr txBox="1"/>
          <p:nvPr/>
        </p:nvSpPr>
        <p:spPr>
          <a:xfrm>
            <a:off x="5093208" y="41330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fresh session for a new task</a:t>
            </a:r>
            <a:endParaRPr lang="en-US" sz="1300" dirty="0"/>
          </a:p>
        </p:txBody>
      </p:sp>
      <p:sp>
        <p:nvSpPr>
          <p:cNvPr id="52" name="Text 42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01_long_chat_simulator.py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863840" y="210312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2103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8229600" cy="2468880"/>
          </a:xfrm>
          <a:prstGeom prst="roundRect">
            <a:avLst>
              <a:gd name="adj" fmla="val 2963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2163249"/>
            <a:ext cx="8101584" cy="135128"/>
          </a:xfrm>
          <a:prstGeom prst="roundRect">
            <a:avLst>
              <a:gd name="adj" fmla="val 27068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685800"/>
            <a:ext cx="8229600" cy="246888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064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context_tokens(msgs):</a:t>
            </a:r>
            <a:endParaRPr lang="en-US" sz="950" dirty="0"/>
          </a:p>
          <a:p>
            <a:pPr indent="0" marL="0">
              <a:lnSpc>
                <a:spcPts val="1064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est_tokens(SYSTEM) + est_tokens(TOOLS) + est_tokens(msgs)</a:t>
            </a:r>
            <a:endParaRPr lang="en-US" sz="950" dirty="0"/>
          </a:p>
          <a:p>
            <a:pPr indent="0" marL="0">
              <a:lnSpc>
                <a:spcPts val="1064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64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__name__ == "__main__":</a:t>
            </a:r>
            <a:endParaRPr lang="en-US" sz="950" dirty="0"/>
          </a:p>
          <a:p>
            <a:pPr indent="0" marL="0">
              <a:lnSpc>
                <a:spcPts val="1064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msgs = build_chat()</a:t>
            </a:r>
            <a:endParaRPr lang="en-US" sz="950" dirty="0"/>
          </a:p>
          <a:p>
            <a:pPr indent="0" marL="0">
              <a:lnSpc>
                <a:spcPts val="1064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ends = [i for i, m in enumerate(msgs)</a:t>
            </a:r>
            <a:endParaRPr lang="en-US" sz="950" dirty="0"/>
          </a:p>
          <a:p>
            <a:pPr indent="0" marL="0">
              <a:lnSpc>
                <a:spcPts val="1064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m["role"] == "assistant" and isinstance(m["content"], str)]</a:t>
            </a:r>
            <a:endParaRPr lang="en-US" sz="950" dirty="0"/>
          </a:p>
          <a:p>
            <a:pPr indent="0" marL="0">
              <a:lnSpc>
                <a:spcPts val="1064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sent = 0</a:t>
            </a:r>
            <a:endParaRPr lang="en-US" sz="950" dirty="0"/>
          </a:p>
          <a:p>
            <a:pPr indent="0" marL="0">
              <a:lnSpc>
                <a:spcPts val="1064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t, end in enumerate(ends, start=1):</a:t>
            </a:r>
            <a:endParaRPr lang="en-US" sz="950" dirty="0"/>
          </a:p>
          <a:p>
            <a:pPr indent="0" marL="0">
              <a:lnSpc>
                <a:spcPts val="1064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 = context_tokens(msgs[: end + 1])</a:t>
            </a:r>
            <a:endParaRPr lang="en-US" sz="950" dirty="0"/>
          </a:p>
          <a:p>
            <a:pPr indent="0" marL="0">
              <a:lnSpc>
                <a:spcPts val="1064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sent += n                      </a:t>
            </a:r>
            <a:pPr indent="0" marL="0">
              <a:lnSpc>
                <a:spcPts val="1064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every turn re-sends the whole history</a:t>
            </a:r>
            <a:endParaRPr lang="en-US" sz="950" dirty="0"/>
          </a:p>
          <a:p>
            <a:pPr indent="0" marL="0">
              <a:lnSpc>
                <a:spcPts val="1064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t in (1, 10, 20, 30, 40, 50):</a:t>
            </a:r>
            <a:endParaRPr lang="en-US" sz="950" dirty="0"/>
          </a:p>
          <a:p>
            <a:pPr indent="0" marL="0">
              <a:lnSpc>
                <a:spcPts val="1064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print(f"turn {t:&gt;2}: ~{n:&gt;6,} tokens " + "#" * (n // 2500))</a:t>
            </a:r>
            <a:endParaRPr lang="en-US" sz="950" dirty="0"/>
          </a:p>
          <a:p>
            <a:pPr indent="0" marL="0">
              <a:lnSpc>
                <a:spcPts val="1064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 = sum(est_tokens(m) for m in msgs if isinstance(m["content"], list))</a:t>
            </a:r>
            <a:endParaRPr lang="en-US" sz="950" dirty="0"/>
          </a:p>
          <a:p>
            <a:pPr indent="0" marL="0">
              <a:lnSpc>
                <a:spcPts val="1064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print(f"input tokens sent over {len(ends)} turns: ~{sent:,}")</a:t>
            </a:r>
            <a:endParaRPr lang="en-US" sz="950" dirty="0"/>
          </a:p>
          <a:p>
            <a:pPr indent="0" marL="0">
              <a:lnSpc>
                <a:spcPts val="1064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print(f"share of history that is tool traffic: {tool / est_tokens(msgs):.0%}")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743700" y="210312"/>
            <a:ext cx="1028700" cy="329184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43700" y="210312"/>
            <a:ext cx="10287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29–44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3291840"/>
            <a:ext cx="4846320" cy="1417320"/>
          </a:xfrm>
          <a:prstGeom prst="roundRect">
            <a:avLst>
              <a:gd name="adj" fmla="val 5161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4360" y="33467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(EXCERPT)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511296"/>
            <a:ext cx="4846320" cy="1197864"/>
          </a:xfrm>
          <a:prstGeom prst="rect">
            <a:avLst/>
          </a:prstGeom>
          <a:noFill/>
          <a:ln/>
        </p:spPr>
        <p:txBody>
          <a:bodyPr wrap="square" lIns="164592" tIns="54864" rIns="164592" bIns="54864" rtlCol="0" anchor="t"/>
          <a:lstStyle/>
          <a:p>
            <a:pPr indent="0" marL="0">
              <a:lnSpc>
                <a:spcPts val="132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  1: ~   604 tokens</a:t>
            </a:r>
            <a:endParaRPr lang="en-US" sz="12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 30: ~17,042 tokens ######</a:t>
            </a:r>
            <a:endParaRPr lang="en-US" sz="12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 50: ~27,422 tokens ##########</a:t>
            </a:r>
            <a:endParaRPr lang="en-US" sz="12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tokens sent over 50 turns: ~708,808</a:t>
            </a:r>
            <a:endParaRPr lang="en-US" sz="12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 of history that is tool traffic: 64%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0" y="3291840"/>
            <a:ext cx="3200400" cy="1417320"/>
          </a:xfrm>
          <a:prstGeom prst="roundRect">
            <a:avLst>
              <a:gd name="adj" fmla="val 645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23560" y="3429000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3412" y="3528852"/>
            <a:ext cx="184343" cy="184343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126480" y="3337560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turn re-sends the </a:t>
            </a:r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</a:t>
            </a:r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history, so total input grows roughly with the </a:t>
            </a:r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</a:t>
            </a:r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turns.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Bloat and pruning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bloat comes from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475488" cy="47548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403787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28016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Verbose tool output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API responses, every field, pretty-printed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46120" y="109728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29000" y="1280160"/>
            <a:ext cx="475488" cy="47548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2627" y="1403787"/>
            <a:ext cx="228234" cy="22823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23360" y="128016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Whole documents</a:t>
            </a:r>
            <a:endParaRPr lang="en-US" sz="155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1874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pasted in "just in case"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035040" y="109728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17920" y="1280160"/>
            <a:ext cx="475488" cy="47548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1547" y="1403787"/>
            <a:ext cx="228234" cy="22823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12280" y="128016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Stale tool results</a:t>
            </a:r>
            <a:endParaRPr lang="en-US" sz="155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1874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lookups from 30 turns ago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457200" y="283464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3017520"/>
            <a:ext cx="475488" cy="475488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07" y="3141147"/>
            <a:ext cx="228234" cy="22823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34440" y="301752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many tools</a:t>
            </a:r>
            <a:endParaRPr lang="en-US" sz="155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6118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tool definitions on every call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3246120" y="283464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29000" y="3017520"/>
            <a:ext cx="475488" cy="475488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2627" y="3141147"/>
            <a:ext cx="228234" cy="22823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23360" y="301752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Repeated boilerplate</a:t>
            </a:r>
            <a:endParaRPr lang="en-US" sz="1550" dirty="0"/>
          </a:p>
        </p:txBody>
      </p:sp>
      <p:sp>
        <p:nvSpPr>
          <p:cNvPr id="27" name="Text 20"/>
          <p:cNvSpPr txBox="1"/>
          <p:nvPr/>
        </p:nvSpPr>
        <p:spPr>
          <a:xfrm>
            <a:off x="3429000" y="36118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instructions in every user turn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6035040" y="283464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217920" y="3017520"/>
            <a:ext cx="475488" cy="475488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1547" y="3141147"/>
            <a:ext cx="228234" cy="22823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12280" y="301752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Old thinking</a:t>
            </a:r>
            <a:endParaRPr lang="en-US" sz="1550" dirty="0"/>
          </a:p>
        </p:txBody>
      </p:sp>
      <p:sp>
        <p:nvSpPr>
          <p:cNvPr id="32" name="Text 24"/>
          <p:cNvSpPr txBox="1"/>
          <p:nvPr/>
        </p:nvSpPr>
        <p:spPr>
          <a:xfrm>
            <a:off x="6217920" y="36118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as input on Opus and Sonnet 5.5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only what Claude needs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875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</a:t>
            </a:r>
            <a:pPr indent="0" marL="0">
              <a:buNone/>
            </a:pPr>
            <a:r>
              <a:rPr lang="en-US" sz="12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API response · ~2,273 tokens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3566160" cy="233172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"api_version": "2026-07-01",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"request_id": "req_7f3a9c2e1b",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"order": {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"id": "ORD-48213",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"status": "shipped",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"created_at": "2026-09-30T10:14…",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"customer": { … 5 fields },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"items": [ … 10 items × 12 fields ],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"audit": [ … ]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…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206240" y="2148840"/>
            <a:ext cx="548640" cy="54864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8886" y="2291486"/>
            <a:ext cx="263347" cy="26334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041648" y="2423160"/>
            <a:ext cx="146304" cy="0"/>
          </a:xfrm>
          <a:prstGeom prst="line">
            <a:avLst/>
          </a:prstGeom>
          <a:noFill/>
          <a:ln w="25400">
            <a:solidFill>
              <a:srgbClr val="E07A5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73168" y="2423160"/>
            <a:ext cx="210312" cy="0"/>
          </a:xfrm>
          <a:prstGeom prst="line">
            <a:avLst/>
          </a:prstGeom>
          <a:noFill/>
          <a:ln w="2540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10" name="Text 7"/>
          <p:cNvSpPr txBox="1"/>
          <p:nvPr/>
        </p:nvSpPr>
        <p:spPr>
          <a:xfrm>
            <a:off x="4023360" y="27249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prune()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029200" y="987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</a:t>
            </a:r>
            <a:pPr indent="0" marL="0">
              <a:buNone/>
            </a:pPr>
            <a:r>
              <a:rPr lang="en-US" sz="12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~64 tokens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0" y="1280160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0" y="1280160"/>
            <a:ext cx="3657600" cy="233172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{"order": {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"id": "ORD-48213",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"status": "shipped",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"shipping": {"eta": "2026-10-04",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"tracking_id": "AL99…"},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"items": [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{"name": "Front-load washer", "qty": 1},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{"name": "Split AC 1.5 ton", "qty": 2},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{"name": "Mixer grinder", "qty": 1},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{"_omitted": 7}]}}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57200" y="3840480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38404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Whitelist fields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1943100" y="3840480"/>
            <a:ext cx="2240280" cy="420624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943100" y="3840480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lists + say how many omitted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297680" y="3840480"/>
            <a:ext cx="1463040" cy="420624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297680" y="384048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 long text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875020" y="3840480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875020" y="384048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JSON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223760" y="3840480"/>
            <a:ext cx="1463040" cy="420624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223760" y="384048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IDs to fetch more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Pretty-printed for the slide; the real result is compact JSON.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02_tool_output_pruner.py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863840" y="4297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429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3108960"/>
          </a:xfrm>
          <a:prstGeom prst="roundRect">
            <a:avLst>
              <a:gd name="adj" fmla="val 2353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1438415"/>
            <a:ext cx="8101584" cy="287020"/>
          </a:xfrm>
          <a:prstGeom prst="roundRect">
            <a:avLst>
              <a:gd name="adj" fmla="val 12743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2155965"/>
            <a:ext cx="8101584" cy="287020"/>
          </a:xfrm>
          <a:prstGeom prst="roundRect">
            <a:avLst>
              <a:gd name="adj" fmla="val 12743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24128"/>
            <a:ext cx="8229600" cy="310896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13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prune(value, fields=None, max_items=5, max_chars=200):</a:t>
            </a:r>
            <a:endParaRPr lang="en-US" sz="1000" dirty="0"/>
          </a:p>
          <a:p>
            <a:pPr indent="0" marL="0">
              <a:lnSpc>
                <a:spcPts val="113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"""Keep whitelisted keys (at every level), the first few list items, short text."""</a:t>
            </a:r>
            <a:endParaRPr lang="en-US" sz="1000" dirty="0"/>
          </a:p>
          <a:p>
            <a:pPr indent="0" marL="0">
              <a:lnSpc>
                <a:spcPts val="113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isinstance(value, dict):</a:t>
            </a:r>
            <a:endParaRPr lang="en-US" sz="1000" dirty="0"/>
          </a:p>
          <a:p>
            <a:pPr indent="0" marL="0">
              <a:lnSpc>
                <a:spcPts val="113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{k: prune(v, fields, max_items, max_chars) for k, v in value.items()</a:t>
            </a:r>
            <a:endParaRPr lang="en-US" sz="1000" dirty="0"/>
          </a:p>
          <a:p>
            <a:pPr indent="0" marL="0">
              <a:lnSpc>
                <a:spcPts val="113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fields is None or k in fields}</a:t>
            </a:r>
            <a:endParaRPr lang="en-US" sz="1000" dirty="0"/>
          </a:p>
          <a:p>
            <a:pPr indent="0" marL="0">
              <a:lnSpc>
                <a:spcPts val="113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isinstance(value, list):</a:t>
            </a:r>
            <a:endParaRPr lang="en-US" sz="1000" dirty="0"/>
          </a:p>
          <a:p>
            <a:pPr indent="0" marL="0">
              <a:lnSpc>
                <a:spcPts val="113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kept = [prune(v, fields, max_items, max_chars) for v in value[:max_items]]</a:t>
            </a:r>
            <a:endParaRPr lang="en-US" sz="1000" dirty="0"/>
          </a:p>
          <a:p>
            <a:pPr indent="0" marL="0">
              <a:lnSpc>
                <a:spcPts val="113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len(value) &gt; max_items:</a:t>
            </a:r>
            <a:endParaRPr lang="en-US" sz="1000" dirty="0"/>
          </a:p>
          <a:p>
            <a:pPr indent="0" marL="0">
              <a:lnSpc>
                <a:spcPts val="113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kept.append({"_omitted": len(value) - max_items})  </a:t>
            </a:r>
            <a:pPr indent="0" marL="0">
              <a:lnSpc>
                <a:spcPts val="1130"/>
              </a:lnSpc>
              <a:buNone/>
            </a:pPr>
            <a:r>
              <a:rPr lang="en-US" sz="10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tell Claude</a:t>
            </a:r>
            <a:endParaRPr lang="en-US" sz="1000" dirty="0"/>
          </a:p>
          <a:p>
            <a:pPr indent="0" marL="0">
              <a:lnSpc>
                <a:spcPts val="113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kept</a:t>
            </a:r>
            <a:endParaRPr lang="en-US" sz="1000" dirty="0"/>
          </a:p>
          <a:p>
            <a:pPr indent="0" marL="0">
              <a:lnSpc>
                <a:spcPts val="113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isinstance(value, str) and len(value) &gt; max_chars:</a:t>
            </a:r>
            <a:endParaRPr lang="en-US" sz="1000" dirty="0"/>
          </a:p>
          <a:p>
            <a:pPr indent="0" marL="0">
              <a:lnSpc>
                <a:spcPts val="113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value[:max_chars] + f"...[+{len(value) - max_chars} chars]"</a:t>
            </a:r>
            <a:endParaRPr lang="en-US" sz="1000" dirty="0"/>
          </a:p>
          <a:p>
            <a:pPr indent="0" marL="0">
              <a:lnSpc>
                <a:spcPts val="113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value</a:t>
            </a:r>
            <a:endParaRPr lang="en-US" sz="1000" dirty="0"/>
          </a:p>
          <a:p>
            <a:pPr indent="0" marL="0">
              <a:lnSpc>
                <a:spcPts val="113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13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to_tool_result(tool_use_id, data, **kw):</a:t>
            </a:r>
            <a:endParaRPr lang="en-US" sz="1000" dirty="0"/>
          </a:p>
          <a:p>
            <a:pPr indent="0" marL="0">
              <a:lnSpc>
                <a:spcPts val="113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"""Compact JSON (no spaces) inside a tool_result block."""</a:t>
            </a:r>
            <a:endParaRPr lang="en-US" sz="1000" dirty="0"/>
          </a:p>
          <a:p>
            <a:pPr indent="0" marL="0">
              <a:lnSpc>
                <a:spcPts val="113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 = json.dumps(prune(data, **kw), separators=(",", ":"))</a:t>
            </a:r>
            <a:endParaRPr lang="en-US" sz="1000" dirty="0"/>
          </a:p>
          <a:p>
            <a:pPr indent="0" marL="0">
              <a:lnSpc>
                <a:spcPts val="113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{"type": "tool_result", "tool_use_id": tool_use_id, "content": text}</a:t>
            </a:r>
            <a:endParaRPr lang="en-US" sz="1000" dirty="0"/>
          </a:p>
          <a:p>
            <a:pPr indent="0" marL="0">
              <a:lnSpc>
                <a:spcPts val="113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12280" y="42976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12280" y="42976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5–23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4224528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85216" y="4311396"/>
            <a:ext cx="329184" cy="32918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804" y="4396984"/>
            <a:ext cx="158008" cy="15800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51560" y="42245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 in </a:t>
            </a:r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tool code</a:t>
            </a:r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before the result ever reaches Claude. Demo: ~2,273 → ~64 tokens.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03_clear_old_results.py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863840" y="210312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2103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8229600" cy="3493008"/>
          </a:xfrm>
          <a:prstGeom prst="roundRect">
            <a:avLst>
              <a:gd name="adj" fmla="val 2094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2660776"/>
            <a:ext cx="8101584" cy="246888"/>
          </a:xfrm>
          <a:prstGeom prst="roundRect">
            <a:avLst>
              <a:gd name="adj" fmla="val 14815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685800"/>
            <a:ext cx="8229600" cy="3493008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"""Client-side tool-result clearing: keep only the newest results. No API key."""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copy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importlib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PLACEHOLDER = "[cleared to save context - call the tool again if you need this]"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clear_old_tool_results(messages, keep=3, exclude_tools=()):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"""Return a copy where all but the newest `keep` tool results are replaced."""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msgs = copy.deepcopy(messages)                   </a:t>
            </a:r>
            <a:pPr indent="0" marL="0">
              <a:lnSpc>
                <a:spcPts val="972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never edit the caller's list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names = {b["id"]: b["name"] for m in msgs if isinstance(m["content"], list)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for b in m["content"] if b.get("type") == "tool_use"}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results = [b for m in msgs if isinstance(m["content"], list)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for b in m["content"] if b.get("type") == "tool_result"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and names.get(b["tool_use_id"]) not in exclude_tools]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old = results[:-keep] if keep else results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block in old: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block["content"] = PLACEHOLDER               </a:t>
            </a:r>
            <a:pPr indent="0" marL="0">
              <a:lnSpc>
                <a:spcPts val="972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the tool_use_id stays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msgs, len(old)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__name__ == "__main__":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sim = importlib.import_module("01_long_chat_simulator")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chat = sim.build_chat(turns=50)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trimmed, cleared = clear_old_tool_results(chat, keep=3)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print(f"cleared {cleared} old tool results")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print(f"context: ~{sim.context_tokens(chat):,} -&gt; "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f"~{sim.context_tokens(trimmed):,} tokens")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4279392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5216" y="4343400"/>
            <a:ext cx="329184" cy="32918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804" y="4428988"/>
            <a:ext cx="158008" cy="1580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51560" y="427939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results become a placeholder; the </a:t>
            </a:r>
            <a:pPr indent="0" marL="0">
              <a:buNone/>
            </a:pPr>
            <a:r>
              <a:rPr lang="en-US" sz="13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tool_use_id</a:t>
            </a:r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stays valid. Demo: 27,422 → 14,262 tokens.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many tools? Load them on demand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10312" cy="210312"/>
          </a:xfrm>
          <a:prstGeom prst="roundRect">
            <a:avLst>
              <a:gd name="adj" fmla="val 1739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" y="1143000"/>
            <a:ext cx="210312" cy="210312"/>
          </a:xfrm>
          <a:prstGeom prst="roundRect">
            <a:avLst>
              <a:gd name="adj" fmla="val 1739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1143000"/>
            <a:ext cx="210312" cy="210312"/>
          </a:xfrm>
          <a:prstGeom prst="roundRect">
            <a:avLst>
              <a:gd name="adj" fmla="val 1739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52728" y="1143000"/>
            <a:ext cx="210312" cy="210312"/>
          </a:xfrm>
          <a:prstGeom prst="roundRect">
            <a:avLst>
              <a:gd name="adj" fmla="val 1739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17904" y="1143000"/>
            <a:ext cx="210312" cy="210312"/>
          </a:xfrm>
          <a:prstGeom prst="roundRect">
            <a:avLst>
              <a:gd name="adj" fmla="val 1739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83080" y="1143000"/>
            <a:ext cx="210312" cy="210312"/>
          </a:xfrm>
          <a:prstGeom prst="roundRect">
            <a:avLst>
              <a:gd name="adj" fmla="val 1739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48256" y="1143000"/>
            <a:ext cx="210312" cy="210312"/>
          </a:xfrm>
          <a:prstGeom prst="roundRect">
            <a:avLst>
              <a:gd name="adj" fmla="val 1739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13432" y="1143000"/>
            <a:ext cx="210312" cy="210312"/>
          </a:xfrm>
          <a:prstGeom prst="roundRect">
            <a:avLst>
              <a:gd name="adj" fmla="val 1739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78608" y="1143000"/>
            <a:ext cx="210312" cy="210312"/>
          </a:xfrm>
          <a:prstGeom prst="roundRect">
            <a:avLst>
              <a:gd name="adj" fmla="val 1739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43784" y="1143000"/>
            <a:ext cx="210312" cy="210312"/>
          </a:xfrm>
          <a:prstGeom prst="roundRect">
            <a:avLst>
              <a:gd name="adj" fmla="val 1739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408176"/>
            <a:ext cx="210312" cy="210312"/>
          </a:xfrm>
          <a:prstGeom prst="roundRect">
            <a:avLst>
              <a:gd name="adj" fmla="val 1739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2376" y="1408176"/>
            <a:ext cx="210312" cy="210312"/>
          </a:xfrm>
          <a:prstGeom prst="roundRect">
            <a:avLst>
              <a:gd name="adj" fmla="val 1739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" y="1408176"/>
            <a:ext cx="210312" cy="210312"/>
          </a:xfrm>
          <a:prstGeom prst="roundRect">
            <a:avLst>
              <a:gd name="adj" fmla="val 1739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2728" y="1408176"/>
            <a:ext cx="210312" cy="210312"/>
          </a:xfrm>
          <a:prstGeom prst="roundRect">
            <a:avLst>
              <a:gd name="adj" fmla="val 1739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17904" y="1408176"/>
            <a:ext cx="210312" cy="210312"/>
          </a:xfrm>
          <a:prstGeom prst="roundRect">
            <a:avLst>
              <a:gd name="adj" fmla="val 1739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83080" y="1408176"/>
            <a:ext cx="210312" cy="210312"/>
          </a:xfrm>
          <a:prstGeom prst="roundRect">
            <a:avLst>
              <a:gd name="adj" fmla="val 1739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48256" y="1408176"/>
            <a:ext cx="210312" cy="210312"/>
          </a:xfrm>
          <a:prstGeom prst="roundRect">
            <a:avLst>
              <a:gd name="adj" fmla="val 1739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13432" y="1408176"/>
            <a:ext cx="210312" cy="210312"/>
          </a:xfrm>
          <a:prstGeom prst="roundRect">
            <a:avLst>
              <a:gd name="adj" fmla="val 1739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78608" y="1408176"/>
            <a:ext cx="210312" cy="210312"/>
          </a:xfrm>
          <a:prstGeom prst="roundRect">
            <a:avLst>
              <a:gd name="adj" fmla="val 1739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43784" y="1408176"/>
            <a:ext cx="210312" cy="210312"/>
          </a:xfrm>
          <a:prstGeom prst="roundRect">
            <a:avLst>
              <a:gd name="adj" fmla="val 1739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1673352"/>
            <a:ext cx="210312" cy="210312"/>
          </a:xfrm>
          <a:prstGeom prst="roundRect">
            <a:avLst>
              <a:gd name="adj" fmla="val 1739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2376" y="1673352"/>
            <a:ext cx="210312" cy="210312"/>
          </a:xfrm>
          <a:prstGeom prst="roundRect">
            <a:avLst>
              <a:gd name="adj" fmla="val 1739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7552" y="1673352"/>
            <a:ext cx="210312" cy="210312"/>
          </a:xfrm>
          <a:prstGeom prst="roundRect">
            <a:avLst>
              <a:gd name="adj" fmla="val 1739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52728" y="1673352"/>
            <a:ext cx="210312" cy="210312"/>
          </a:xfrm>
          <a:prstGeom prst="roundRect">
            <a:avLst>
              <a:gd name="adj" fmla="val 1739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17904" y="1673352"/>
            <a:ext cx="210312" cy="210312"/>
          </a:xfrm>
          <a:prstGeom prst="roundRect">
            <a:avLst>
              <a:gd name="adj" fmla="val 1739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83080" y="1673352"/>
            <a:ext cx="210312" cy="210312"/>
          </a:xfrm>
          <a:prstGeom prst="roundRect">
            <a:avLst>
              <a:gd name="adj" fmla="val 1739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48256" y="1673352"/>
            <a:ext cx="210312" cy="210312"/>
          </a:xfrm>
          <a:prstGeom prst="roundRect">
            <a:avLst>
              <a:gd name="adj" fmla="val 1739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13432" y="1673352"/>
            <a:ext cx="210312" cy="210312"/>
          </a:xfrm>
          <a:prstGeom prst="roundRect">
            <a:avLst>
              <a:gd name="adj" fmla="val 1739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78608" y="1673352"/>
            <a:ext cx="210312" cy="210312"/>
          </a:xfrm>
          <a:prstGeom prst="roundRect">
            <a:avLst>
              <a:gd name="adj" fmla="val 1739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43784" y="1673352"/>
            <a:ext cx="210312" cy="210312"/>
          </a:xfrm>
          <a:prstGeom prst="roundRect">
            <a:avLst>
              <a:gd name="adj" fmla="val 1739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1938528"/>
            <a:ext cx="210312" cy="210312"/>
          </a:xfrm>
          <a:prstGeom prst="roundRect">
            <a:avLst>
              <a:gd name="adj" fmla="val 1739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2376" y="1938528"/>
            <a:ext cx="210312" cy="210312"/>
          </a:xfrm>
          <a:prstGeom prst="roundRect">
            <a:avLst>
              <a:gd name="adj" fmla="val 1739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7552" y="1938528"/>
            <a:ext cx="210312" cy="210312"/>
          </a:xfrm>
          <a:prstGeom prst="roundRect">
            <a:avLst>
              <a:gd name="adj" fmla="val 1739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52728" y="1938528"/>
            <a:ext cx="210312" cy="210312"/>
          </a:xfrm>
          <a:prstGeom prst="roundRect">
            <a:avLst>
              <a:gd name="adj" fmla="val 1739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517904" y="1938528"/>
            <a:ext cx="210312" cy="210312"/>
          </a:xfrm>
          <a:prstGeom prst="roundRect">
            <a:avLst>
              <a:gd name="adj" fmla="val 1739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783080" y="1938528"/>
            <a:ext cx="210312" cy="210312"/>
          </a:xfrm>
          <a:prstGeom prst="roundRect">
            <a:avLst>
              <a:gd name="adj" fmla="val 1739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48256" y="1938528"/>
            <a:ext cx="210312" cy="210312"/>
          </a:xfrm>
          <a:prstGeom prst="roundRect">
            <a:avLst>
              <a:gd name="adj" fmla="val 1739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13432" y="1938528"/>
            <a:ext cx="210312" cy="210312"/>
          </a:xfrm>
          <a:prstGeom prst="roundRect">
            <a:avLst>
              <a:gd name="adj" fmla="val 1739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78608" y="1938528"/>
            <a:ext cx="210312" cy="210312"/>
          </a:xfrm>
          <a:prstGeom prst="roundRect">
            <a:avLst>
              <a:gd name="adj" fmla="val 1739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843784" y="1938528"/>
            <a:ext cx="210312" cy="210312"/>
          </a:xfrm>
          <a:prstGeom prst="roundRect">
            <a:avLst>
              <a:gd name="adj" fmla="val 1739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2203704"/>
            <a:ext cx="210312" cy="210312"/>
          </a:xfrm>
          <a:prstGeom prst="roundRect">
            <a:avLst>
              <a:gd name="adj" fmla="val 1739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22376" y="2203704"/>
            <a:ext cx="210312" cy="210312"/>
          </a:xfrm>
          <a:prstGeom prst="roundRect">
            <a:avLst>
              <a:gd name="adj" fmla="val 1739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87552" y="2203704"/>
            <a:ext cx="210312" cy="210312"/>
          </a:xfrm>
          <a:prstGeom prst="roundRect">
            <a:avLst>
              <a:gd name="adj" fmla="val 1739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252728" y="2203704"/>
            <a:ext cx="210312" cy="210312"/>
          </a:xfrm>
          <a:prstGeom prst="roundRect">
            <a:avLst>
              <a:gd name="adj" fmla="val 1739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517904" y="2203704"/>
            <a:ext cx="210312" cy="210312"/>
          </a:xfrm>
          <a:prstGeom prst="roundRect">
            <a:avLst>
              <a:gd name="adj" fmla="val 1739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83080" y="2203704"/>
            <a:ext cx="210312" cy="210312"/>
          </a:xfrm>
          <a:prstGeom prst="roundRect">
            <a:avLst>
              <a:gd name="adj" fmla="val 1739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048256" y="2203704"/>
            <a:ext cx="210312" cy="210312"/>
          </a:xfrm>
          <a:prstGeom prst="roundRect">
            <a:avLst>
              <a:gd name="adj" fmla="val 1739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313432" y="2203704"/>
            <a:ext cx="210312" cy="210312"/>
          </a:xfrm>
          <a:prstGeom prst="roundRect">
            <a:avLst>
              <a:gd name="adj" fmla="val 1739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578608" y="2203704"/>
            <a:ext cx="210312" cy="210312"/>
          </a:xfrm>
          <a:prstGeom prst="roundRect">
            <a:avLst>
              <a:gd name="adj" fmla="val 1739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843784" y="2203704"/>
            <a:ext cx="210312" cy="210312"/>
          </a:xfrm>
          <a:prstGeom prst="roundRect">
            <a:avLst>
              <a:gd name="adj" fmla="val 1739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57200" y="2514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tool definitions, deferred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200400" y="1783080"/>
            <a:ext cx="731520" cy="0"/>
          </a:xfrm>
          <a:prstGeom prst="line">
            <a:avLst/>
          </a:prstGeom>
          <a:noFill/>
          <a:ln w="25400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4023360" y="1463040"/>
            <a:ext cx="640080" cy="6400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9781" y="1629461"/>
            <a:ext cx="307238" cy="307238"/>
          </a:xfrm>
          <a:prstGeom prst="rect">
            <a:avLst/>
          </a:prstGeom>
        </p:spPr>
      </p:pic>
      <p:sp>
        <p:nvSpPr>
          <p:cNvPr id="57" name="Text 54"/>
          <p:cNvSpPr txBox="1"/>
          <p:nvPr/>
        </p:nvSpPr>
        <p:spPr>
          <a:xfrm>
            <a:off x="3703320" y="2148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search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4754880" y="1783080"/>
            <a:ext cx="731520" cy="0"/>
          </a:xfrm>
          <a:prstGeom prst="line">
            <a:avLst/>
          </a:prstGeom>
          <a:noFill/>
          <a:ln w="25400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59" name="Shape 56"/>
          <p:cNvSpPr/>
          <p:nvPr/>
        </p:nvSpPr>
        <p:spPr>
          <a:xfrm>
            <a:off x="5669280" y="160020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6053328" y="160020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6437376" y="160020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6821424" y="160020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548640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loaded for this request</a:t>
            </a:r>
            <a:endParaRPr lang="en-US" sz="1200" dirty="0"/>
          </a:p>
        </p:txBody>
      </p:sp>
      <p:sp>
        <p:nvSpPr>
          <p:cNvPr id="64" name="Shape 61"/>
          <p:cNvSpPr/>
          <p:nvPr/>
        </p:nvSpPr>
        <p:spPr>
          <a:xfrm>
            <a:off x="457200" y="288036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640080" y="2926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~55K</a:t>
            </a:r>
            <a:endParaRPr lang="en-US" sz="2800" dirty="0"/>
          </a:p>
        </p:txBody>
      </p:sp>
      <p:sp>
        <p:nvSpPr>
          <p:cNvPr id="66" name="Text 63"/>
          <p:cNvSpPr txBox="1"/>
          <p:nvPr/>
        </p:nvSpPr>
        <p:spPr>
          <a:xfrm>
            <a:off x="640080" y="34107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of tool definitions in a 5-server setup</a:t>
            </a:r>
            <a:endParaRPr lang="en-US" sz="1250" dirty="0"/>
          </a:p>
        </p:txBody>
      </p:sp>
      <p:sp>
        <p:nvSpPr>
          <p:cNvPr id="67" name="Shape 64"/>
          <p:cNvSpPr/>
          <p:nvPr/>
        </p:nvSpPr>
        <p:spPr>
          <a:xfrm>
            <a:off x="3246120" y="288036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3429000" y="2926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&gt;85%</a:t>
            </a:r>
            <a:endParaRPr lang="en-US" sz="2800" dirty="0"/>
          </a:p>
        </p:txBody>
      </p:sp>
      <p:sp>
        <p:nvSpPr>
          <p:cNvPr id="69" name="Text 66"/>
          <p:cNvSpPr txBox="1"/>
          <p:nvPr/>
        </p:nvSpPr>
        <p:spPr>
          <a:xfrm>
            <a:off x="3429000" y="34107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reduction with tool search</a:t>
            </a:r>
            <a:endParaRPr lang="en-US" sz="1250" dirty="0"/>
          </a:p>
        </p:txBody>
      </p:sp>
      <p:sp>
        <p:nvSpPr>
          <p:cNvPr id="70" name="Shape 67"/>
          <p:cNvSpPr/>
          <p:nvPr/>
        </p:nvSpPr>
        <p:spPr>
          <a:xfrm>
            <a:off x="6035040" y="288036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6217920" y="2926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30–50</a:t>
            </a:r>
            <a:endParaRPr lang="en-US" sz="2800" dirty="0"/>
          </a:p>
        </p:txBody>
      </p:sp>
      <p:sp>
        <p:nvSpPr>
          <p:cNvPr id="72" name="Text 69"/>
          <p:cNvSpPr txBox="1"/>
          <p:nvPr/>
        </p:nvSpPr>
        <p:spPr>
          <a:xfrm>
            <a:off x="6217920" y="34107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beyond this, selection accuracy drops</a:t>
            </a:r>
            <a:endParaRPr lang="en-US" sz="1250" dirty="0"/>
          </a:p>
        </p:txBody>
      </p:sp>
      <p:sp>
        <p:nvSpPr>
          <p:cNvPr id="73" name="Shape 70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tool_search_tool_bm25_20251119</a:t>
            </a:r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or  </a:t>
            </a:r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tool_search_tool_regex_20251119</a:t>
            </a:r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+   </a:t>
            </a:r>
            <a:pPr indent="0" marL="0">
              <a:buNone/>
            </a:pPr>
            <a:r>
              <a:rPr lang="en-US" sz="110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"defer_loading": true</a:t>
            </a:r>
            <a:endParaRPr lang="en-US" sz="1100" dirty="0"/>
          </a:p>
        </p:txBody>
      </p:sp>
      <p:sp>
        <p:nvSpPr>
          <p:cNvPr id="75" name="Text 72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Compaction and context editing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shrink history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07008"/>
            <a:ext cx="502920" cy="50292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337767"/>
            <a:ext cx="241402" cy="2414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61872" y="1161288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Truncate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last N turns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94360" y="2487168"/>
            <a:ext cx="2331720" cy="548640"/>
          </a:xfrm>
          <a:prstGeom prst="roundRect">
            <a:avLst>
              <a:gd name="adj" fmla="val 10000"/>
            </a:avLst>
          </a:prstGeom>
          <a:solidFill>
            <a:srgbClr val="E6F4EC"/>
          </a:solidFill>
          <a:ln w="6350">
            <a:solidFill>
              <a:srgbClr val="E6F4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4871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cheap and simple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94360" y="3127248"/>
            <a:ext cx="2331720" cy="548640"/>
          </a:xfrm>
          <a:prstGeom prst="roundRect">
            <a:avLst>
              <a:gd name="adj" fmla="val 10000"/>
            </a:avLst>
          </a:prstGeom>
          <a:solidFill>
            <a:srgbClr val="FBE9E7"/>
          </a:solidFill>
          <a:ln w="6350">
            <a:solidFill>
              <a:srgbClr val="FBE9E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31272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forgets early facts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246120" y="105156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29000" y="1207008"/>
            <a:ext cx="502920" cy="50292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9759" y="1337767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050792" y="1161288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compaction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3429000" y="18745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turns → one summary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3383280" y="2487168"/>
            <a:ext cx="2331720" cy="548640"/>
          </a:xfrm>
          <a:prstGeom prst="roundRect">
            <a:avLst>
              <a:gd name="adj" fmla="val 10000"/>
            </a:avLst>
          </a:prstGeom>
          <a:solidFill>
            <a:srgbClr val="E6F4EC"/>
          </a:solidFill>
          <a:ln w="6350">
            <a:solidFill>
              <a:srgbClr val="E6F4EC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474720" y="24871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keeps the meaning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3383280" y="3127248"/>
            <a:ext cx="2331720" cy="548640"/>
          </a:xfrm>
          <a:prstGeom prst="roundRect">
            <a:avLst>
              <a:gd name="adj" fmla="val 10000"/>
            </a:avLst>
          </a:prstGeom>
          <a:solidFill>
            <a:srgbClr val="FBE9E7"/>
          </a:solidFill>
          <a:ln w="6350">
            <a:solidFill>
              <a:srgbClr val="FBE9E7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3474720" y="31272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costs a call; loses detail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035040" y="105156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217920" y="1207008"/>
            <a:ext cx="502920" cy="50292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679" y="1337767"/>
            <a:ext cx="241402" cy="241402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839712" y="1161288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editing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6217920" y="18745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old tool results / thinking by rule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6172200" y="2487168"/>
            <a:ext cx="2331720" cy="548640"/>
          </a:xfrm>
          <a:prstGeom prst="roundRect">
            <a:avLst>
              <a:gd name="adj" fmla="val 10000"/>
            </a:avLst>
          </a:prstGeom>
          <a:solidFill>
            <a:srgbClr val="E6F4EC"/>
          </a:solidFill>
          <a:ln w="6350">
            <a:solidFill>
              <a:srgbClr val="E6F4EC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6263640" y="24871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 summary needed; re-fetchable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6172200" y="3127248"/>
            <a:ext cx="2331720" cy="548640"/>
          </a:xfrm>
          <a:prstGeom prst="roundRect">
            <a:avLst>
              <a:gd name="adj" fmla="val 10000"/>
            </a:avLst>
          </a:prstGeom>
          <a:solidFill>
            <a:srgbClr val="FBE9E7"/>
          </a:solidFill>
          <a:ln w="6350">
            <a:solidFill>
              <a:srgbClr val="FBE9E7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6263640" y="31272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cached prefix is invalidated</a:t>
            </a:r>
            <a:endParaRPr lang="en-US" sz="1250" dirty="0"/>
          </a:p>
        </p:txBody>
      </p:sp>
      <p:sp>
        <p:nvSpPr>
          <p:cNvPr id="30" name="Shape 25"/>
          <p:cNvSpPr/>
          <p:nvPr/>
        </p:nvSpPr>
        <p:spPr>
          <a:xfrm>
            <a:off x="457200" y="3977640"/>
            <a:ext cx="8229600" cy="621792"/>
          </a:xfrm>
          <a:prstGeom prst="roundRect">
            <a:avLst>
              <a:gd name="adj" fmla="val 14706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594360" y="4087368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967" y="4191975"/>
            <a:ext cx="193121" cy="193121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1143000" y="3977640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"One of the safest lightest touch forms of compaction is tool result clearing." </a:t>
            </a:r>
            <a:pPr indent="0" marL="0">
              <a:buNone/>
            </a:pPr>
            <a:r>
              <a:rPr lang="en-US" sz="140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Anthropic engineering blog</a:t>
            </a:r>
            <a:endParaRPr lang="en-US" sz="1400" dirty="0"/>
          </a:p>
        </p:txBody>
      </p:sp>
      <p:sp>
        <p:nvSpPr>
          <p:cNvPr id="34" name="Text 28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04_summarise_helpers.py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863840" y="210312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2103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8229600" cy="3520440"/>
          </a:xfrm>
          <a:prstGeom prst="roundRect">
            <a:avLst>
              <a:gd name="adj" fmla="val 2078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1208789"/>
            <a:ext cx="8101584" cy="530860"/>
          </a:xfrm>
          <a:prstGeom prst="roundRect">
            <a:avLst>
              <a:gd name="adj" fmla="val 6890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3066799"/>
            <a:ext cx="8101584" cy="132715"/>
          </a:xfrm>
          <a:prstGeom prst="roundRect">
            <a:avLst>
              <a:gd name="adj" fmla="val 27560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685800"/>
            <a:ext cx="8229600" cy="352044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split_point(messages, keep_last=6):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"""Index where the kept tail starts: a plain user turn, so that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tool_use / tool_result pairs are never split."""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= max(0, len(messages) - keep_last)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i &gt; 0 and not is_plain_user(messages[i]):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 -= 1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extract_summary(text):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 = re.search(r"&lt;summary&gt;(.*?)&lt;/summary&gt;", text, re.S)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(m.group(1) if m else text).strip()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compact(messages, summarise, keep_last=6):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"""Replace old turns with one summary; return a new message list."""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cut = split_point(messages, keep_last)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cut == 0: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list(messages)                     </a:t>
            </a:r>
            <a:pPr indent="0" marL="0">
              <a:lnSpc>
                <a:spcPts val="1045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nothing old enough to fold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summary = extract_summary(summarise(render(messages[:cut])))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first = messages[cut]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body = first["content"] if isinstance(first["content"], list) else [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{"type": "text", "text": first["content"]}]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note = {"type": "text", "text": f"&lt;earlier_conversation_summary&gt;\n{summary}\n"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"&lt;/earlier_conversation_summary&gt;"}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[{"role": "user", "content": [note, *body]}, *messages[cut + 1:]]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743700" y="210312"/>
            <a:ext cx="1028700" cy="329184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43700" y="210312"/>
            <a:ext cx="10287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24–47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4297680"/>
            <a:ext cx="8229600" cy="438912"/>
          </a:xfrm>
          <a:prstGeom prst="roundRect">
            <a:avLst>
              <a:gd name="adj" fmla="val 2083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85216" y="4352544"/>
            <a:ext cx="329184" cy="32918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804" y="4438132"/>
            <a:ext cx="158008" cy="15800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51560" y="429768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summariser: </a:t>
            </a:r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choose the model (e.g. Haiku 4.5), the prompt, and when it runs.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Server-side compaction: pick a mode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24128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514600"/>
                <a:gridCol w="2514600"/>
                <a:gridCol w="1645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demand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a token threshold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own summariser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decides when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send a request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API, at your trigger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send back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block FIRST, summarised turns removed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response, appended as usual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summary message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 header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compact-2026-09-04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compact-2026-01-12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compaction={"type": "summarize"}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context_management edit compact_20260112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Choose it when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control timing; keep recent turns; run in background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want it automatic inside normal requests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already run your own summariser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096512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>
            <a:solidFill>
              <a:srgbClr val="E07A5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" y="4169664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967" y="4274271"/>
            <a:ext cx="193121" cy="19312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4096512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Docs: </a:t>
            </a:r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on-demand compaction wherever it is available. Both modes are beta.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 compaction: the parameters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4206240" cy="2148840"/>
          </a:xfrm>
          <a:prstGeom prst="roundRect">
            <a:avLst>
              <a:gd name="adj" fmla="val 3404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24128"/>
            <a:ext cx="4206240" cy="214884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betas=["compact-2026-01-12"],</a:t>
            </a:r>
            <a:endParaRPr lang="en-US" sz="1200" dirty="0"/>
          </a:p>
          <a:p>
            <a:pPr indent="0" marL="0">
              <a:lnSpc>
                <a:spcPts val="1344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context_management={"edits": [{</a:t>
            </a:r>
            <a:endParaRPr lang="en-US" sz="1200" dirty="0"/>
          </a:p>
          <a:p>
            <a:pPr indent="0" marL="0">
              <a:lnSpc>
                <a:spcPts val="1344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"type": "compact_20260112",</a:t>
            </a:r>
            <a:endParaRPr lang="en-US" sz="1200" dirty="0"/>
          </a:p>
          <a:p>
            <a:pPr indent="0" marL="0">
              <a:lnSpc>
                <a:spcPts val="1344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"trigger": {"type": "input_tokens",</a:t>
            </a:r>
            <a:endParaRPr lang="en-US" sz="1200" dirty="0"/>
          </a:p>
          <a:p>
            <a:pPr indent="0" marL="0">
              <a:lnSpc>
                <a:spcPts val="1344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"value": 150_000},</a:t>
            </a:r>
            <a:endParaRPr lang="en-US" sz="1200" dirty="0"/>
          </a:p>
          <a:p>
            <a:pPr indent="0" marL="0">
              <a:lnSpc>
                <a:spcPts val="1344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"pause_after_compaction": False,</a:t>
            </a:r>
            <a:endParaRPr lang="en-US" sz="1200" dirty="0"/>
          </a:p>
          <a:p>
            <a:pPr indent="0" marL="0">
              <a:lnSpc>
                <a:spcPts val="1344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"instructions": None,</a:t>
            </a:r>
            <a:endParaRPr lang="en-US" sz="1200" dirty="0"/>
          </a:p>
          <a:p>
            <a:pPr indent="0" marL="0">
              <a:lnSpc>
                <a:spcPts val="1344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}]}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846320" y="1024128"/>
            <a:ext cx="3840480" cy="640080"/>
          </a:xfrm>
          <a:prstGeom prst="roundRect">
            <a:avLst>
              <a:gd name="adj" fmla="val 1428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983480" y="1024128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150,000 input tokens; minimum 50,000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755648"/>
            <a:ext cx="3840480" cy="640080"/>
          </a:xfrm>
          <a:prstGeom prst="roundRect">
            <a:avLst>
              <a:gd name="adj" fmla="val 1428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83480" y="1755648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pause_after_compaction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with stop_reason "compaction" so you can re-insert recent turns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2487168"/>
            <a:ext cx="3840480" cy="640080"/>
          </a:xfrm>
          <a:prstGeom prst="roundRect">
            <a:avLst>
              <a:gd name="adj" fmla="val 1428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83480" y="2487168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instructions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summary prompt — it REPLACES the default one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310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2606040" cy="1024128"/>
          </a:xfrm>
          <a:prstGeom prst="roundRect">
            <a:avLst>
              <a:gd name="adj" fmla="val 8929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3730752"/>
            <a:ext cx="365760" cy="36576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8" y="3825850"/>
            <a:ext cx="175565" cy="175565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051560" y="3639312"/>
            <a:ext cx="193852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starts with a compaction block → append response.content as usual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3246120" y="3611880"/>
            <a:ext cx="2606040" cy="1024128"/>
          </a:xfrm>
          <a:prstGeom prst="roundRect">
            <a:avLst>
              <a:gd name="adj" fmla="val 8929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383280" y="3730752"/>
            <a:ext cx="365760" cy="36576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8378" y="3825850"/>
            <a:ext cx="175565" cy="17556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3840480" y="3639312"/>
            <a:ext cx="193852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usage.iterations lists compaction + message: sum them for the real bill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035040" y="3611880"/>
            <a:ext cx="2606040" cy="1024128"/>
          </a:xfrm>
          <a:prstGeom prst="roundRect">
            <a:avLst>
              <a:gd name="adj" fmla="val 8929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172200" y="3730752"/>
            <a:ext cx="365760" cy="36576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298" y="3825850"/>
            <a:ext cx="175565" cy="175565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629400" y="3639312"/>
            <a:ext cx="193852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request's own model writes the summary: no cheaper-model option</a:t>
            </a:r>
            <a:endParaRPr lang="en-US" sz="1250" dirty="0"/>
          </a:p>
        </p:txBody>
      </p:sp>
      <p:sp>
        <p:nvSpPr>
          <p:cNvPr id="24" name="Text 19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05_compaction_threshold.py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863840" y="210312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2103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6446520" cy="4069080"/>
          </a:xfrm>
          <a:prstGeom prst="roundRect">
            <a:avLst>
              <a:gd name="adj" fmla="val 1798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1673224"/>
            <a:ext cx="6318504" cy="123444"/>
          </a:xfrm>
          <a:prstGeom prst="roundRect">
            <a:avLst>
              <a:gd name="adj" fmla="val 29630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2660776"/>
            <a:ext cx="6318504" cy="123444"/>
          </a:xfrm>
          <a:prstGeom prst="roundRect">
            <a:avLst>
              <a:gd name="adj" fmla="val 29630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" y="3401440"/>
            <a:ext cx="6318504" cy="123444"/>
          </a:xfrm>
          <a:prstGeom prst="roundRect">
            <a:avLst>
              <a:gd name="adj" fmla="val 29630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" y="3771772"/>
            <a:ext cx="6318504" cy="123444"/>
          </a:xfrm>
          <a:prstGeom prst="roundRect">
            <a:avLst>
              <a:gd name="adj" fmla="val 29630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685800"/>
            <a:ext cx="6446520" cy="406908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anthropic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anthropic.Anthropic()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 = []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COMPACT = {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"type": "compact_20260112",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"trigger": {"type": "input_tokens", "value": 100_000},  </a:t>
            </a:r>
            <a:pPr indent="0" marL="0">
              <a:lnSpc>
                <a:spcPts val="972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default 150k, min 50k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"instructions": "Summarise the transcript inside &lt;summary&gt;&lt;/summary&gt; tags. "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"Keep order IDs, decisions and open tasks. Do not call tools.",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chat(user_msg):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messages.append({"role": "user", "content": user_msg})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client.beta.messages.create(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betas=["compact-2026-01-12"],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model="claude-opus-5-5",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max_tokens=4096,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messages=messages,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context_management={"edits": [COMPACT]},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messages.append({"role": "assistant", "content": r.content}) </a:t>
            </a:r>
            <a:pPr indent="0" marL="0">
              <a:lnSpc>
                <a:spcPts val="972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keep the block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any(b.type == "compaction" for b in r.content):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print("[compaction ran: earlier turns are now a summary]")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billed = sum(i.input_tokens for i in (r.usage.iterations or []))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print(f"[input billed this call, incl. compaction: {billed:,}]")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"".join(b.text for b in r.content if b.type == "text")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print(chat("Help me plan a Python service that syncs Acme orders to a CRM."))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print(chat("Add retry logic and a dead-letter queue."))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086600" y="1097280"/>
            <a:ext cx="1600200" cy="566928"/>
          </a:xfrm>
          <a:prstGeom prst="roundRect">
            <a:avLst>
              <a:gd name="adj" fmla="val 1612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flipV="1">
            <a:off x="6903720" y="1380744"/>
            <a:ext cx="182880" cy="363346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5" name="Text 12"/>
          <p:cNvSpPr txBox="1"/>
          <p:nvPr/>
        </p:nvSpPr>
        <p:spPr>
          <a:xfrm>
            <a:off x="7196328" y="10972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50,000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086600" y="2011680"/>
            <a:ext cx="1600200" cy="566928"/>
          </a:xfrm>
          <a:prstGeom prst="roundRect">
            <a:avLst>
              <a:gd name="adj" fmla="val 1612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flipV="1">
            <a:off x="6903720" y="2295144"/>
            <a:ext cx="182880" cy="436498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8" name="Text 15"/>
          <p:cNvSpPr txBox="1"/>
          <p:nvPr/>
        </p:nvSpPr>
        <p:spPr>
          <a:xfrm>
            <a:off x="7196328" y="20116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betas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header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086600" y="2926080"/>
            <a:ext cx="1600200" cy="566928"/>
          </a:xfrm>
          <a:prstGeom prst="roundRect">
            <a:avLst>
              <a:gd name="adj" fmla="val 1612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flipV="1">
            <a:off x="6903720" y="3209544"/>
            <a:ext cx="182880" cy="262762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21" name="Text 18"/>
          <p:cNvSpPr txBox="1"/>
          <p:nvPr/>
        </p:nvSpPr>
        <p:spPr>
          <a:xfrm>
            <a:off x="7196328" y="2926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block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as usual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086600" y="3840480"/>
            <a:ext cx="1600200" cy="566928"/>
          </a:xfrm>
          <a:prstGeom prst="roundRect">
            <a:avLst>
              <a:gd name="adj" fmla="val 1612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903720" y="3842638"/>
            <a:ext cx="182880" cy="281306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24" name="Text 21"/>
          <p:cNvSpPr txBox="1"/>
          <p:nvPr/>
        </p:nvSpPr>
        <p:spPr>
          <a:xfrm>
            <a:off x="7196328" y="38404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iterations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= real bill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06_compaction_on_demand.py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863840" y="210312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2103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6446520" cy="4069080"/>
          </a:xfrm>
          <a:prstGeom prst="roundRect">
            <a:avLst>
              <a:gd name="adj" fmla="val 1798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2907664"/>
            <a:ext cx="6318504" cy="123444"/>
          </a:xfrm>
          <a:prstGeom prst="roundRect">
            <a:avLst>
              <a:gd name="adj" fmla="val 29630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3154552"/>
            <a:ext cx="6318504" cy="123444"/>
          </a:xfrm>
          <a:prstGeom prst="roundRect">
            <a:avLst>
              <a:gd name="adj" fmla="val 29630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" y="3648328"/>
            <a:ext cx="6318504" cy="123444"/>
          </a:xfrm>
          <a:prstGeom prst="roundRect">
            <a:avLst>
              <a:gd name="adj" fmla="val 29630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" y="4265548"/>
            <a:ext cx="6318504" cy="123444"/>
          </a:xfrm>
          <a:prstGeom prst="roundRect">
            <a:avLst>
              <a:gd name="adj" fmla="val 29630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685800"/>
            <a:ext cx="6446520" cy="406908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anthropic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anthropic.Anthropic()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BETA = ["compact-2026-09-04"]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"claude-opus-5-5"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 = [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{"role": "user", "content": "I'm building a recipe app. Name the main entities."},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{"role": "assistant", "content": "Recipe, Ingredient, Step, RecipeIngredient."},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{"role": "user", "content": "Good. Now suggest field names for Recipe."},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compact_now(history):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"""Ask for a signed summary block, then use it IN PLACE of the history."""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client.beta.messages.create(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model=MODEL, max_tokens=4096, betas=BETA,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messages=history,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compaction={"type": "summarize"},         </a:t>
            </a:r>
            <a:pPr indent="0" marL="0">
              <a:lnSpc>
                <a:spcPts val="972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no reply, just the summary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r.stop_reason != "compaction":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RuntimeError(f"no summary produced (stop_reason={r.stop_reason})")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block = next(b for b in r.content if b.type == "compaction")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print("summary:", block.content[:200])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[{"role": "assistant", "content": [block]}]  </a:t>
            </a:r>
            <a:pPr indent="0" marL="0">
              <a:lnSpc>
                <a:spcPts val="972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one block, placed first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 = compact_now(history)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history.append({"role": "user", "content": "Now suggest field names for Step."})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client.beta.messages.create(model=MODEL, max_tokens=2048, betas=BETA,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messages=history)         </a:t>
            </a:r>
            <a:pPr indent="0" marL="0">
              <a:lnSpc>
                <a:spcPts val="972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header still required</a:t>
            </a:r>
            <a:endParaRPr lang="en-US" sz="900" dirty="0"/>
          </a:p>
          <a:p>
            <a:pPr indent="0" marL="0">
              <a:lnSpc>
                <a:spcPts val="97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print("".join(b.text for b in r.content if b.type == "text"))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086600" y="1097280"/>
            <a:ext cx="1600200" cy="566928"/>
          </a:xfrm>
          <a:prstGeom prst="roundRect">
            <a:avLst>
              <a:gd name="adj" fmla="val 1612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flipV="1">
            <a:off x="6903720" y="1380744"/>
            <a:ext cx="182880" cy="1597786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5" name="Text 12"/>
          <p:cNvSpPr txBox="1"/>
          <p:nvPr/>
        </p:nvSpPr>
        <p:spPr>
          <a:xfrm>
            <a:off x="7196328" y="10972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compaction=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only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086600" y="2011680"/>
            <a:ext cx="1600200" cy="566928"/>
          </a:xfrm>
          <a:prstGeom prst="roundRect">
            <a:avLst>
              <a:gd name="adj" fmla="val 1612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flipV="1">
            <a:off x="6903720" y="2295144"/>
            <a:ext cx="182880" cy="930274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8" name="Text 15"/>
          <p:cNvSpPr txBox="1"/>
          <p:nvPr/>
        </p:nvSpPr>
        <p:spPr>
          <a:xfrm>
            <a:off x="7196328" y="20116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"compaction"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stop_reason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086600" y="2926080"/>
            <a:ext cx="1600200" cy="566928"/>
          </a:xfrm>
          <a:prstGeom prst="roundRect">
            <a:avLst>
              <a:gd name="adj" fmla="val 1612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flipV="1">
            <a:off x="6903720" y="3209544"/>
            <a:ext cx="182880" cy="509650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21" name="Text 18"/>
          <p:cNvSpPr txBox="1"/>
          <p:nvPr/>
        </p:nvSpPr>
        <p:spPr>
          <a:xfrm>
            <a:off x="7196328" y="2926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FIRST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old turns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086600" y="3840480"/>
            <a:ext cx="1600200" cy="566928"/>
          </a:xfrm>
          <a:prstGeom prst="roundRect">
            <a:avLst>
              <a:gd name="adj" fmla="val 1612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flipV="1">
            <a:off x="6903720" y="4123944"/>
            <a:ext cx="182880" cy="212470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24" name="Text 21"/>
          <p:cNvSpPr txBox="1"/>
          <p:nvPr/>
        </p:nvSpPr>
        <p:spPr>
          <a:xfrm>
            <a:off x="7196328" y="38404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betas again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with block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editing: clear by rule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709160" cy="2743200"/>
          </a:xfrm>
          <a:prstGeom prst="roundRect">
            <a:avLst>
              <a:gd name="adj" fmla="val 333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15568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clear_tool_uses_20250919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4475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old tool results with a placeholder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</a:t>
            </a:r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default 100,000 input tokens (or tool_uses)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762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keep</a:t>
            </a:r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default 3 most recent tool uses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6946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clear_at_least</a:t>
            </a:r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minimum tokens per clear (cache!)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96265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exclude_tools</a:t>
            </a:r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never clear these tools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3558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clear_tool_inputs</a:t>
            </a:r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also clear the call inputs (default false)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349240" y="1051560"/>
            <a:ext cx="3337560" cy="2743200"/>
          </a:xfrm>
          <a:prstGeom prst="roundRect">
            <a:avLst>
              <a:gd name="adj" fmla="val 333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32120" y="111556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clear_thinking_20251015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532120" y="14447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old thinking blocks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532120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keep</a:t>
            </a:r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last N turns with thinking,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21762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or "all" to keep every block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532120" y="2743200"/>
            <a:ext cx="2971800" cy="868680"/>
          </a:xfrm>
          <a:prstGeom prst="roundRect">
            <a:avLst>
              <a:gd name="adj" fmla="val 6316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0" y="27432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it FIRST when you combine both strategies.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409651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967" y="4201119"/>
            <a:ext cx="193121" cy="193121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143000" y="397764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betas=["context-management-2025-06-27"]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server-side: your own history stays complete  ·  response: applied_edits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07_context_editing.py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863840" y="4297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429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3246120"/>
          </a:xfrm>
          <a:prstGeom prst="roundRect">
            <a:avLst>
              <a:gd name="adj" fmla="val 2254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1292921"/>
            <a:ext cx="8101584" cy="284480"/>
          </a:xfrm>
          <a:prstGeom prst="roundRect">
            <a:avLst>
              <a:gd name="adj" fmla="val 12857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2004121"/>
            <a:ext cx="8101584" cy="284480"/>
          </a:xfrm>
          <a:prstGeom prst="roundRect">
            <a:avLst>
              <a:gd name="adj" fmla="val 12857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24128"/>
            <a:ext cx="8229600" cy="324612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12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CONTEXT_MANAGEMENT = {"edits": [</a:t>
            </a:r>
            <a:endParaRPr lang="en-US" sz="10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{"type": "clear_thinking_20251015",                </a:t>
            </a:r>
            <a:pPr indent="0" marL="0">
              <a:lnSpc>
                <a:spcPts val="1120"/>
              </a:lnSpc>
              <a:buNone/>
            </a:pPr>
            <a:r>
              <a:rPr lang="en-US" sz="10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must be listed first</a:t>
            </a:r>
            <a:endParaRPr lang="en-US" sz="10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"keep": {"type": "thinking_turns", "value": 2}},</a:t>
            </a:r>
            <a:endParaRPr lang="en-US" sz="10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{"type": "clear_tool_uses_20250919",</a:t>
            </a:r>
            <a:endParaRPr lang="en-US" sz="10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"trigger": {"type": "input_tokens", "value": 30_000},</a:t>
            </a:r>
            <a:endParaRPr lang="en-US" sz="10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"keep": {"type": "tool_uses", "value": 3},</a:t>
            </a:r>
            <a:endParaRPr lang="en-US" sz="10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"clear_at_least": {"type": "input_tokens", "value": 5_000},</a:t>
            </a:r>
            <a:endParaRPr lang="en-US" sz="10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"exclude_tools": ["get_customer_profile"]},       </a:t>
            </a:r>
            <a:pPr indent="0" marL="0">
              <a:lnSpc>
                <a:spcPts val="1120"/>
              </a:lnSpc>
              <a:buNone/>
            </a:pPr>
            <a:r>
              <a:rPr lang="en-US" sz="10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never cleared</a:t>
            </a:r>
            <a:endParaRPr lang="en-US" sz="10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]}</a:t>
            </a:r>
            <a:endParaRPr lang="en-US" sz="10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step(messages):</a:t>
            </a:r>
            <a:endParaRPr lang="en-US" sz="10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client.beta.messages.create(</a:t>
            </a:r>
            <a:endParaRPr lang="en-US" sz="10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model="claude-opus-5-5", max_tokens=4096,</a:t>
            </a:r>
            <a:endParaRPr lang="en-US" sz="10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betas=["context-management-2025-06-27"],</a:t>
            </a:r>
            <a:endParaRPr lang="en-US" sz="10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tools=TOOLS, messages=messages,</a:t>
            </a:r>
            <a:endParaRPr lang="en-US" sz="10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context_management=CONTEXT_MANAGEMENT,</a:t>
            </a:r>
            <a:endParaRPr lang="en-US" sz="10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0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applied = r.context_management.applied_edits if r.context_management else []</a:t>
            </a:r>
            <a:endParaRPr lang="en-US" sz="10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edit in applied:</a:t>
            </a:r>
            <a:endParaRPr lang="en-US" sz="10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print(f"[{edit.type}: cleared {edit.cleared_input_tokens:,} tokens]")</a:t>
            </a:r>
            <a:endParaRPr lang="en-US" sz="10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           </a:t>
            </a:r>
            <a:pPr indent="0" marL="0">
              <a:lnSpc>
                <a:spcPts val="1120"/>
              </a:lnSpc>
              <a:buNone/>
            </a:pPr>
            <a:r>
              <a:rPr lang="en-US" sz="10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your full history is unchanged; the API edited its copy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743700" y="429768"/>
            <a:ext cx="1028700" cy="329184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43700" y="429768"/>
            <a:ext cx="10287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15–35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4343400"/>
            <a:ext cx="8229600" cy="411480"/>
          </a:xfrm>
          <a:prstGeom prst="roundRect">
            <a:avLst>
              <a:gd name="adj" fmla="val 2222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85216" y="4384548"/>
            <a:ext cx="329184" cy="32918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804" y="4470136"/>
            <a:ext cx="158008" cy="15800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51560" y="43434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edits </a:t>
            </a:r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copy</a:t>
            </a:r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Claude reads it. Your </a:t>
            </a:r>
            <a:pPr indent="0" marL="0">
              <a:buNone/>
            </a:pPr>
            <a:r>
              <a:rPr lang="en-US" sz="14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list is unchanged.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Gotchas: cache, cost, models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512064"/>
          </a:xfrm>
          <a:prstGeom prst="roundRect">
            <a:avLst>
              <a:gd name="adj" fmla="val 1785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088136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212" y="1187988"/>
            <a:ext cx="184343" cy="18434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024128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Clearing tool results invalidates the cached prefix → set </a:t>
            </a:r>
            <a:pPr indent="0" marL="0">
              <a:buNone/>
            </a:pPr>
            <a:r>
              <a:rPr lang="en-US" sz="14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clear_at_least</a:t>
            </a:r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don't clear every turn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618488"/>
            <a:ext cx="8229600" cy="512064"/>
          </a:xfrm>
          <a:prstGeom prst="roundRect">
            <a:avLst>
              <a:gd name="adj" fmla="val 1785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682496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212" y="1782348"/>
            <a:ext cx="184343" cy="18434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1618488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tokens still fill the window: caching cuts price, not size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57200" y="2212848"/>
            <a:ext cx="8229600" cy="512064"/>
          </a:xfrm>
          <a:prstGeom prst="roundRect">
            <a:avLst>
              <a:gd name="adj" fmla="val 1785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94360" y="2276856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12" y="2376708"/>
            <a:ext cx="184343" cy="18434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43000" y="2212848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Compaction is billed: sum </a:t>
            </a:r>
            <a:pPr indent="0" marL="0">
              <a:buNone/>
            </a:pPr>
            <a:r>
              <a:rPr lang="en-US" sz="14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usage.iterations</a:t>
            </a:r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the same model writes the summary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57200" y="2807208"/>
            <a:ext cx="8229600" cy="512064"/>
          </a:xfrm>
          <a:prstGeom prst="roundRect">
            <a:avLst>
              <a:gd name="adj" fmla="val 1785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94360" y="2871216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212" y="2971068"/>
            <a:ext cx="184343" cy="18434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43000" y="2807208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tools defined, tell the summariser: "Do not call any tools"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457200" y="3401568"/>
            <a:ext cx="8229600" cy="512064"/>
          </a:xfrm>
          <a:prstGeom prst="roundRect">
            <a:avLst>
              <a:gd name="adj" fmla="val 1785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94360" y="3465576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212" y="3565428"/>
            <a:ext cx="184343" cy="184343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43000" y="3401568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4.5 has no server-side compaction → summarise client-side (or use a supported model)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457200" y="3995928"/>
            <a:ext cx="8229600" cy="512064"/>
          </a:xfrm>
          <a:prstGeom prst="roundRect">
            <a:avLst>
              <a:gd name="adj" fmla="val 1785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594360" y="4059936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212" y="4159788"/>
            <a:ext cx="184343" cy="184343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143000" y="3995928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On-demand: images and documents in summarised turns are lost; restate what you still need</a:t>
            </a:r>
            <a:endParaRPr lang="en-US" sz="1400" dirty="0"/>
          </a:p>
        </p:txBody>
      </p:sp>
      <p:sp>
        <p:nvSpPr>
          <p:cNvPr id="27" name="Text 19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Short-term vs long-term memory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31920" cy="2743200"/>
          </a:xfrm>
          <a:prstGeom prst="roundRect">
            <a:avLst>
              <a:gd name="adj" fmla="val 3333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Short-term = the context window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3474720" cy="411480"/>
          </a:xfrm>
          <a:prstGeom prst="roundRect">
            <a:avLst>
              <a:gd name="adj" fmla="val 17778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91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+ pinned facts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2194560"/>
            <a:ext cx="3474720" cy="411480"/>
          </a:xfrm>
          <a:prstGeom prst="roundRect">
            <a:avLst>
              <a:gd name="adj" fmla="val 17778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194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summary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" y="2697480"/>
            <a:ext cx="3474720" cy="411480"/>
          </a:xfrm>
          <a:prstGeom prst="roundRect">
            <a:avLst>
              <a:gd name="adj" fmla="val 17778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6974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turns, verbatim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" y="3200400"/>
            <a:ext cx="3474720" cy="411480"/>
          </a:xfrm>
          <a:prstGeom prst="roundRect">
            <a:avLst>
              <a:gd name="adj" fmla="val 17778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200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chunks for this question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 flipH="1">
            <a:off x="4480560" y="2011680"/>
            <a:ext cx="1005840" cy="0"/>
          </a:xfrm>
          <a:prstGeom prst="line">
            <a:avLst/>
          </a:prstGeom>
          <a:noFill/>
          <a:ln w="28575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4434840" y="1691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just in time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2926080"/>
            <a:ext cx="1005840" cy="0"/>
          </a:xfrm>
          <a:prstGeom prst="line">
            <a:avLst/>
          </a:prstGeom>
          <a:noFill/>
          <a:ln w="28575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4434840" y="2971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notes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577840" y="1005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Long-term = outside the window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577840" y="1417320"/>
            <a:ext cx="3108960" cy="512064"/>
          </a:xfrm>
          <a:prstGeom prst="roundRect">
            <a:avLst>
              <a:gd name="adj" fmla="val 1785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0" y="1490472"/>
            <a:ext cx="365760" cy="365760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4378" y="1585570"/>
            <a:ext cx="175565" cy="175565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6126480" y="1417320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tool / files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577840" y="2020824"/>
            <a:ext cx="3108960" cy="512064"/>
          </a:xfrm>
          <a:prstGeom prst="roundRect">
            <a:avLst>
              <a:gd name="adj" fmla="val 1785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69280" y="2093976"/>
            <a:ext cx="365760" cy="365760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4378" y="2189074"/>
            <a:ext cx="175565" cy="175565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6126480" y="2020824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(user profile, orders)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5577840" y="2624328"/>
            <a:ext cx="3108960" cy="512064"/>
          </a:xfrm>
          <a:prstGeom prst="roundRect">
            <a:avLst>
              <a:gd name="adj" fmla="val 1785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69280" y="2697480"/>
            <a:ext cx="365760" cy="365760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4378" y="2792578"/>
            <a:ext cx="175565" cy="175565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6126480" y="2624328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(RAG)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5577840" y="3227832"/>
            <a:ext cx="3108960" cy="512064"/>
          </a:xfrm>
          <a:prstGeom prst="roundRect">
            <a:avLst>
              <a:gd name="adj" fmla="val 1785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5669280" y="3300984"/>
            <a:ext cx="365760" cy="365760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4378" y="3396082"/>
            <a:ext cx="175565" cy="175565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6126480" y="3227832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notes / to-do files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457200" y="402336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2225">
            <a:solidFill>
              <a:srgbClr val="E07A5F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594360" y="4105656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967" y="4210263"/>
            <a:ext cx="193121" cy="193121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1143000" y="402336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you don't load is free. Memory you load must earn its tokens.</a:t>
            </a:r>
            <a:endParaRPr lang="en-US" sz="1500" dirty="0"/>
          </a:p>
        </p:txBody>
      </p:sp>
      <p:sp>
        <p:nvSpPr>
          <p:cNvPr id="38" name="Text 31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Sliding window + running summary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CLAUDE SEES ON EACH CALL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instructions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&lt;conversation_summary&gt;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86200" y="1325880"/>
            <a:ext cx="1097280" cy="1143000"/>
          </a:xfrm>
          <a:prstGeom prst="roundRect">
            <a:avLst>
              <a:gd name="adj" fmla="val 8333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886200" y="1325880"/>
            <a:ext cx="1097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9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93208" y="1325880"/>
            <a:ext cx="1097280" cy="1143000"/>
          </a:xfrm>
          <a:prstGeom prst="roundRect">
            <a:avLst>
              <a:gd name="adj" fmla="val 833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93208" y="1325880"/>
            <a:ext cx="1097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9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0216" y="1325880"/>
            <a:ext cx="1097280" cy="1143000"/>
          </a:xfrm>
          <a:prstGeom prst="roundRect">
            <a:avLst>
              <a:gd name="adj" fmla="val 8333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0216" y="1325880"/>
            <a:ext cx="1097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10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507224" y="1325880"/>
            <a:ext cx="1097280" cy="1143000"/>
          </a:xfrm>
          <a:prstGeom prst="roundRect">
            <a:avLst>
              <a:gd name="adj" fmla="val 833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07224" y="1325880"/>
            <a:ext cx="1097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10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886200" y="25146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N messages, word for word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329184" cy="457200"/>
          </a:xfrm>
          <a:prstGeom prst="roundRect">
            <a:avLst>
              <a:gd name="adj" fmla="val 13889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9536" y="3154680"/>
            <a:ext cx="329184" cy="457200"/>
          </a:xfrm>
          <a:prstGeom prst="roundRect">
            <a:avLst>
              <a:gd name="adj" fmla="val 13889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61872" y="3154680"/>
            <a:ext cx="329184" cy="457200"/>
          </a:xfrm>
          <a:prstGeom prst="roundRect">
            <a:avLst>
              <a:gd name="adj" fmla="val 13889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64208" y="3154680"/>
            <a:ext cx="329184" cy="457200"/>
          </a:xfrm>
          <a:prstGeom prst="roundRect">
            <a:avLst>
              <a:gd name="adj" fmla="val 13889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66544" y="3154680"/>
            <a:ext cx="329184" cy="457200"/>
          </a:xfrm>
          <a:prstGeom prst="roundRect">
            <a:avLst>
              <a:gd name="adj" fmla="val 13889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68880" y="3154680"/>
            <a:ext cx="329184" cy="457200"/>
          </a:xfrm>
          <a:prstGeom prst="roundRect">
            <a:avLst>
              <a:gd name="adj" fmla="val 13889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1216" y="3154680"/>
            <a:ext cx="329184" cy="457200"/>
          </a:xfrm>
          <a:prstGeom prst="roundRect">
            <a:avLst>
              <a:gd name="adj" fmla="val 13889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73552" y="3154680"/>
            <a:ext cx="329184" cy="457200"/>
          </a:xfrm>
          <a:prstGeom prst="roundRect">
            <a:avLst>
              <a:gd name="adj" fmla="val 13889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36393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turns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 flipV="1">
            <a:off x="2057400" y="2542032"/>
            <a:ext cx="0" cy="566928"/>
          </a:xfrm>
          <a:prstGeom prst="line">
            <a:avLst/>
          </a:prstGeom>
          <a:noFill/>
          <a:ln w="28575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219456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summarise(old_summary, folded)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0" y="3063240"/>
            <a:ext cx="3657600" cy="457200"/>
          </a:xfrm>
          <a:prstGeom prst="roundRect">
            <a:avLst>
              <a:gd name="adj" fmla="val 2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20640" y="3118104"/>
            <a:ext cx="347472" cy="347472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0983" y="3208447"/>
            <a:ext cx="166787" cy="166787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5577840" y="3063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in batches → fewer cache misses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5029200" y="3611880"/>
            <a:ext cx="3657600" cy="457200"/>
          </a:xfrm>
          <a:prstGeom prst="roundRect">
            <a:avLst>
              <a:gd name="adj" fmla="val 2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120640" y="3666744"/>
            <a:ext cx="347472" cy="347472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0983" y="3757087"/>
            <a:ext cx="166787" cy="166787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5577840" y="3611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split a tool_use / tool_result pair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5029200" y="4160520"/>
            <a:ext cx="3657600" cy="457200"/>
          </a:xfrm>
          <a:prstGeom prst="roundRect">
            <a:avLst>
              <a:gd name="adj" fmla="val 2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120640" y="4215384"/>
            <a:ext cx="347472" cy="347472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0983" y="4305727"/>
            <a:ext cx="166787" cy="166787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5577840" y="4160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lives in the system prompt</a:t>
            </a:r>
            <a:endParaRPr lang="en-US" sz="1300" dirty="0"/>
          </a:p>
        </p:txBody>
      </p:sp>
      <p:sp>
        <p:nvSpPr>
          <p:cNvPr id="38" name="Text 33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08_window_memory.py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863840" y="210312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2103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8229600" cy="3520440"/>
          </a:xfrm>
          <a:prstGeom prst="roundRect">
            <a:avLst>
              <a:gd name="adj" fmla="val 2078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2372987"/>
            <a:ext cx="8101584" cy="390906"/>
          </a:xfrm>
          <a:prstGeom prst="roundRect">
            <a:avLst>
              <a:gd name="adj" fmla="val 9357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3415403"/>
            <a:ext cx="8101584" cy="260604"/>
          </a:xfrm>
          <a:prstGeom prst="roundRect">
            <a:avLst>
              <a:gd name="adj" fmla="val 14035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685800"/>
            <a:ext cx="8229600" cy="352044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add(self, role, content):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self.recent.append({"role": role, "content": content})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len(self.recent) &gt; self.window: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self._fold()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_fold(self):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"""Fold the older half into the summary in one go (fewer cache misses)."""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target = len(self.recent) - self.window // 2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starts = [i for i, m in enumerate(self.recent) if i &gt; 0 and plain_user(m)]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not starts: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                    </a:t>
            </a:r>
            <a:pPr indent="0" marL="0">
              <a:lnSpc>
                <a:spcPts val="1026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no safe place to cut yet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kept part must start with a real user turn: first one at/after target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cut = next((i for i in starts if i &gt;= target), starts[-1])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folded, self.recent = self.recent[:cut], self.recent[cut:]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self.summary = self.summarise(self.summary, folded)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system(self, base):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"""The summary rides in the system prompt; recent turns stay verbatim."""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not self.summary: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base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(f"{base}\n\n&lt;conversation_summary&gt;\n{self.summary}\n"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"&lt;/conversation_summary&gt;")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messages(self):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list(self.recent)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743700" y="210312"/>
            <a:ext cx="1028700" cy="329184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43700" y="210312"/>
            <a:ext cx="10287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16–40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4297680"/>
            <a:ext cx="8229600" cy="438912"/>
          </a:xfrm>
          <a:prstGeom prst="roundRect">
            <a:avLst>
              <a:gd name="adj" fmla="val 2083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85216" y="4352544"/>
            <a:ext cx="329184" cy="32918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804" y="4438132"/>
            <a:ext cx="158008" cy="15800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51560" y="429768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keeps detail for recent turns; the summary keeps facts from old ones. Swap </a:t>
            </a:r>
            <a:pPr indent="0" marL="0">
              <a:buNone/>
            </a:pPr>
            <a:r>
              <a:rPr lang="en-US" sz="13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fact_keeper</a:t>
            </a:r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a Claude summariser.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memory tool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1115568"/>
            <a:ext cx="457200" cy="457200"/>
          </a:xfrm>
          <a:prstGeom prst="ellipse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1234440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1600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874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asks: tool_use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029968" y="1645920"/>
            <a:ext cx="237744" cy="0"/>
          </a:xfrm>
          <a:prstGeom prst="line">
            <a:avLst/>
          </a:prstGeom>
          <a:noFill/>
          <a:ln w="25400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286000" y="1051560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834640" y="1115568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512" y="123444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286000" y="1600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handler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2331720" y="1874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path, runs it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858768" y="1645920"/>
            <a:ext cx="237744" cy="0"/>
          </a:xfrm>
          <a:prstGeom prst="line">
            <a:avLst/>
          </a:prstGeom>
          <a:noFill/>
          <a:ln w="25400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4114800" y="1051560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663440" y="1115568"/>
            <a:ext cx="457200" cy="457200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312" y="1234440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114800" y="1600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storage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4160520" y="1874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files, DB, per user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23317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memory_20250818 · GA, no beta header · Claude 4+ models · API adds a memory protocol to the system prompt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760720" y="1051560"/>
            <a:ext cx="2926080" cy="1783080"/>
          </a:xfrm>
          <a:prstGeom prst="roundRect">
            <a:avLst>
              <a:gd name="adj" fmla="val 5128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89788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on /memories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897880" y="1417320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5897880" y="1417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7269480" y="1417320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7269480" y="1417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5897880" y="1874520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5897880" y="1874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str_replace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7269480" y="1874520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7269480" y="1874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5897880" y="2331720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5897880" y="2331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7269480" y="2331720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7269480" y="2331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rename</a:t>
            </a:r>
            <a:endParaRPr lang="en-US" sz="1200" dirty="0"/>
          </a:p>
        </p:txBody>
      </p:sp>
      <p:sp>
        <p:nvSpPr>
          <p:cNvPr id="35" name="Text 30"/>
          <p:cNvSpPr txBox="1"/>
          <p:nvPr/>
        </p:nvSpPr>
        <p:spPr>
          <a:xfrm>
            <a:off x="457200" y="2898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</a:t>
            </a:r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path traversal — 09_memory_tool.py lines 8–17</a:t>
            </a:r>
            <a:endParaRPr lang="en-US" sz="1250" dirty="0"/>
          </a:p>
        </p:txBody>
      </p:sp>
      <p:sp>
        <p:nvSpPr>
          <p:cNvPr id="36" name="Shape 31"/>
          <p:cNvSpPr/>
          <p:nvPr/>
        </p:nvSpPr>
        <p:spPr>
          <a:xfrm>
            <a:off x="457200" y="3200400"/>
            <a:ext cx="8229600" cy="1508760"/>
          </a:xfrm>
          <a:prstGeom prst="roundRect">
            <a:avLst>
              <a:gd name="adj" fmla="val 4848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457200" y="3200400"/>
            <a:ext cx="8229600" cy="1508760"/>
          </a:xfrm>
          <a:prstGeom prst="rect">
            <a:avLst/>
          </a:prstGeom>
          <a:noFill/>
          <a:ln/>
        </p:spPr>
        <p:txBody>
          <a:bodyPr wrap="square" lIns="164592" tIns="91440" rIns="164592" bIns="91440" rtlCol="0" anchor="t"/>
          <a:lstStyle/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safe_path(virtual):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"""Map /memories/... onto ROOT and refuse anything that escapes it."""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virtual != "/memories" and not virtual.startswith("/memories/"):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ValueError("path must be inside /memories")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"%2e" in virtual.lower() or "\\" in virtual: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ValueError("suspicious path")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real = (ROOT / virtual.removeprefix("/memories").lstrip("/")).resolve()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real != ROOT and ROOT not in real.parents: </a:t>
            </a:r>
            <a:pPr indent="0" marL="0">
              <a:lnSpc>
                <a:spcPts val="1026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resolved path left ROOT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ValueError("path escapes /memories")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real</a:t>
            </a:r>
            <a:endParaRPr lang="en-US" sz="950" dirty="0"/>
          </a:p>
        </p:txBody>
      </p:sp>
      <p:sp>
        <p:nvSpPr>
          <p:cNvPr id="38" name="Text 33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09_memory_tool.py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863840" y="4297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429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3154680"/>
          </a:xfrm>
          <a:prstGeom prst="roundRect">
            <a:avLst>
              <a:gd name="adj" fmla="val 2319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1435161"/>
            <a:ext cx="8101584" cy="142240"/>
          </a:xfrm>
          <a:prstGeom prst="roundRect">
            <a:avLst>
              <a:gd name="adj" fmla="val 25714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3284281"/>
            <a:ext cx="8101584" cy="426720"/>
          </a:xfrm>
          <a:prstGeom prst="roundRect">
            <a:avLst>
              <a:gd name="adj" fmla="val 8571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24128"/>
            <a:ext cx="8229600" cy="315468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12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run_agent(task, model="claude-sonnet-5-5"):</a:t>
            </a:r>
            <a:endParaRPr lang="en-US" sz="10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client = anthropic.Anthropic()</a:t>
            </a:r>
            <a:endParaRPr lang="en-US" sz="10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tools = [{"type": "memory_20250818", "name": "memory"}]    </a:t>
            </a:r>
            <a:pPr indent="0" marL="0">
              <a:lnSpc>
                <a:spcPts val="1120"/>
              </a:lnSpc>
              <a:buNone/>
            </a:pPr>
            <a:r>
              <a:rPr lang="en-US" sz="10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no beta header</a:t>
            </a:r>
            <a:endParaRPr lang="en-US" sz="10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 = [{"role": "user", "content": task}]</a:t>
            </a:r>
            <a:endParaRPr lang="en-US" sz="10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True:</a:t>
            </a:r>
            <a:endParaRPr lang="en-US" sz="10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 = client.messages.create(model=model, max_tokens=2048,</a:t>
            </a:r>
            <a:endParaRPr lang="en-US" sz="10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tools=tools, messages=messages)</a:t>
            </a:r>
            <a:endParaRPr lang="en-US" sz="10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messages.append({"role": "assistant", "content": r.content})</a:t>
            </a:r>
            <a:endParaRPr lang="en-US" sz="10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r.stop_reason != "tool_use":</a:t>
            </a:r>
            <a:endParaRPr lang="en-US" sz="10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"".join(b.text for b in r.content if b.type == "text")</a:t>
            </a:r>
            <a:endParaRPr lang="en-US" sz="10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results = []</a:t>
            </a:r>
            <a:endParaRPr lang="en-US" sz="10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b in r.content:</a:t>
            </a:r>
            <a:endParaRPr lang="en-US" sz="10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b.type != "tool_use":</a:t>
            </a:r>
            <a:endParaRPr lang="en-US" sz="10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continue</a:t>
            </a:r>
            <a:endParaRPr lang="en-US" sz="10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try:</a:t>
            </a:r>
            <a:endParaRPr lang="en-US" sz="10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out = {"content": run_memory(b.input)}</a:t>
            </a:r>
            <a:endParaRPr lang="en-US" sz="10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except (ValueError, OSError) as e:</a:t>
            </a:r>
            <a:endParaRPr lang="en-US" sz="10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out = {"content": f"Error: {e}", "is_error": True}</a:t>
            </a:r>
            <a:endParaRPr lang="en-US" sz="10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results.append({"type": "tool_result", "tool_use_id": b.id, **out})</a:t>
            </a:r>
            <a:endParaRPr lang="en-US" sz="10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messages.append({"role": "user", "content": results})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743700" y="429768"/>
            <a:ext cx="1028700" cy="329184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43700" y="429768"/>
            <a:ext cx="10287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57–76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4270248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85216" y="4334256"/>
            <a:ext cx="329184" cy="32918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804" y="4419844"/>
            <a:ext cx="158008" cy="15800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51560" y="427024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go back as </a:t>
            </a:r>
            <a:pPr indent="0" marL="0">
              <a:buNone/>
            </a:pPr>
            <a:r>
              <a:rPr lang="en-US" sz="13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is_error</a:t>
            </a:r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results so Claude can recover. SDK shortcut: </a:t>
            </a:r>
            <a:pPr indent="0" marL="0">
              <a:buNone/>
            </a:pPr>
            <a:r>
              <a:rPr lang="en-US" sz="13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BetaLocalFilesystemMemoryTool</a:t>
            </a:r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pPr indent="0" marL="0">
              <a:buNone/>
            </a:pPr>
            <a:r>
              <a:rPr lang="en-US" sz="13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tool_runner</a:t>
            </a:r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basics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RAG pipeline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325880" cy="1234440"/>
          </a:xfrm>
          <a:prstGeom prst="roundRect">
            <a:avLst>
              <a:gd name="adj" fmla="val 740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1188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once, offline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965960" y="1161288"/>
            <a:ext cx="1216152" cy="1005840"/>
          </a:xfrm>
          <a:prstGeom prst="roundRect">
            <a:avLst>
              <a:gd name="adj" fmla="val 909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2868" y="1234440"/>
            <a:ext cx="402336" cy="402336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7475" y="1339047"/>
            <a:ext cx="193121" cy="19312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011680" y="1655064"/>
            <a:ext cx="1124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191256" y="1664208"/>
            <a:ext cx="137160" cy="0"/>
          </a:xfrm>
          <a:prstGeom prst="line">
            <a:avLst/>
          </a:prstGeom>
          <a:noFill/>
          <a:ln w="22225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337560" y="1161288"/>
            <a:ext cx="1216152" cy="1005840"/>
          </a:xfrm>
          <a:prstGeom prst="roundRect">
            <a:avLst>
              <a:gd name="adj" fmla="val 909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744468" y="1234440"/>
            <a:ext cx="402336" cy="402336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075" y="1339047"/>
            <a:ext cx="193121" cy="19312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383280" y="1655064"/>
            <a:ext cx="1124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+ metadata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62856" y="1664208"/>
            <a:ext cx="137160" cy="0"/>
          </a:xfrm>
          <a:prstGeom prst="line">
            <a:avLst/>
          </a:prstGeom>
          <a:noFill/>
          <a:ln w="22225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4709160" y="1161288"/>
            <a:ext cx="1216152" cy="1005840"/>
          </a:xfrm>
          <a:prstGeom prst="roundRect">
            <a:avLst>
              <a:gd name="adj" fmla="val 909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116068" y="1234440"/>
            <a:ext cx="402336" cy="402336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675" y="1339047"/>
            <a:ext cx="193121" cy="19312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754880" y="1655064"/>
            <a:ext cx="1124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(document)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934456" y="1664208"/>
            <a:ext cx="137160" cy="0"/>
          </a:xfrm>
          <a:prstGeom prst="line">
            <a:avLst/>
          </a:prstGeom>
          <a:noFill/>
          <a:ln w="22225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6080760" y="1161288"/>
            <a:ext cx="1216152" cy="1005840"/>
          </a:xfrm>
          <a:prstGeom prst="roundRect">
            <a:avLst>
              <a:gd name="adj" fmla="val 909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87668" y="1234440"/>
            <a:ext cx="402336" cy="402336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275" y="1339047"/>
            <a:ext cx="193121" cy="193121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126480" y="1655064"/>
            <a:ext cx="1124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57200" y="2606040"/>
            <a:ext cx="1325880" cy="1234440"/>
          </a:xfrm>
          <a:prstGeom prst="roundRect">
            <a:avLst>
              <a:gd name="adj" fmla="val 7407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548640" y="2606040"/>
            <a:ext cx="1188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1965960" y="2715768"/>
            <a:ext cx="1216152" cy="1005840"/>
          </a:xfrm>
          <a:prstGeom prst="roundRect">
            <a:avLst>
              <a:gd name="adj" fmla="val 909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2372868" y="2788920"/>
            <a:ext cx="402336" cy="402336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7475" y="2893527"/>
            <a:ext cx="193121" cy="193121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2011680" y="3209544"/>
            <a:ext cx="1124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3191256" y="3218688"/>
            <a:ext cx="137160" cy="0"/>
          </a:xfrm>
          <a:prstGeom prst="line">
            <a:avLst/>
          </a:prstGeom>
          <a:noFill/>
          <a:ln w="22225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31" name="Shape 24"/>
          <p:cNvSpPr/>
          <p:nvPr/>
        </p:nvSpPr>
        <p:spPr>
          <a:xfrm>
            <a:off x="3337560" y="2715768"/>
            <a:ext cx="1216152" cy="1005840"/>
          </a:xfrm>
          <a:prstGeom prst="roundRect">
            <a:avLst>
              <a:gd name="adj" fmla="val 909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3744468" y="2788920"/>
            <a:ext cx="402336" cy="402336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9075" y="2893527"/>
            <a:ext cx="193121" cy="193121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3383280" y="3209544"/>
            <a:ext cx="1124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(query)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4562856" y="3218688"/>
            <a:ext cx="137160" cy="0"/>
          </a:xfrm>
          <a:prstGeom prst="line">
            <a:avLst/>
          </a:prstGeom>
          <a:noFill/>
          <a:ln w="22225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36" name="Shape 28"/>
          <p:cNvSpPr/>
          <p:nvPr/>
        </p:nvSpPr>
        <p:spPr>
          <a:xfrm>
            <a:off x="4709160" y="2715768"/>
            <a:ext cx="1216152" cy="1005840"/>
          </a:xfrm>
          <a:prstGeom prst="roundRect">
            <a:avLst>
              <a:gd name="adj" fmla="val 9091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5116068" y="2788920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20675" y="2893527"/>
            <a:ext cx="193121" cy="193121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4754880" y="3209544"/>
            <a:ext cx="1124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search</a:t>
            </a:r>
            <a:endParaRPr lang="en-US" sz="1200" dirty="0"/>
          </a:p>
        </p:txBody>
      </p:sp>
      <p:sp>
        <p:nvSpPr>
          <p:cNvPr id="40" name="Shape 31"/>
          <p:cNvSpPr/>
          <p:nvPr/>
        </p:nvSpPr>
        <p:spPr>
          <a:xfrm>
            <a:off x="5934456" y="3218688"/>
            <a:ext cx="137160" cy="0"/>
          </a:xfrm>
          <a:prstGeom prst="line">
            <a:avLst/>
          </a:prstGeom>
          <a:noFill/>
          <a:ln w="22225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41" name="Shape 32"/>
          <p:cNvSpPr/>
          <p:nvPr/>
        </p:nvSpPr>
        <p:spPr>
          <a:xfrm>
            <a:off x="6080760" y="2715768"/>
            <a:ext cx="1216152" cy="1005840"/>
          </a:xfrm>
          <a:prstGeom prst="roundRect">
            <a:avLst>
              <a:gd name="adj" fmla="val 9091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6487668" y="2788920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2275" y="2893527"/>
            <a:ext cx="193121" cy="193121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6126480" y="3209544"/>
            <a:ext cx="1124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chunks + question</a:t>
            </a:r>
            <a:endParaRPr lang="en-US" sz="1200" dirty="0"/>
          </a:p>
        </p:txBody>
      </p:sp>
      <p:sp>
        <p:nvSpPr>
          <p:cNvPr id="45" name="Shape 35"/>
          <p:cNvSpPr/>
          <p:nvPr/>
        </p:nvSpPr>
        <p:spPr>
          <a:xfrm>
            <a:off x="7306056" y="3218688"/>
            <a:ext cx="137160" cy="0"/>
          </a:xfrm>
          <a:prstGeom prst="line">
            <a:avLst/>
          </a:prstGeom>
          <a:noFill/>
          <a:ln w="22225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46" name="Shape 36"/>
          <p:cNvSpPr/>
          <p:nvPr/>
        </p:nvSpPr>
        <p:spPr>
          <a:xfrm>
            <a:off x="7452360" y="2715768"/>
            <a:ext cx="1216152" cy="1005840"/>
          </a:xfrm>
          <a:prstGeom prst="roundRect">
            <a:avLst>
              <a:gd name="adj" fmla="val 909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7" name="Shape 37"/>
          <p:cNvSpPr/>
          <p:nvPr/>
        </p:nvSpPr>
        <p:spPr>
          <a:xfrm>
            <a:off x="7859268" y="2788920"/>
            <a:ext cx="402336" cy="402336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63875" y="2893527"/>
            <a:ext cx="193121" cy="193121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7498080" y="3209544"/>
            <a:ext cx="1124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answers + cites</a:t>
            </a:r>
            <a:endParaRPr lang="en-US" sz="1200" dirty="0"/>
          </a:p>
        </p:txBody>
      </p:sp>
      <p:sp>
        <p:nvSpPr>
          <p:cNvPr id="50" name="Shape 39"/>
          <p:cNvSpPr/>
          <p:nvPr/>
        </p:nvSpPr>
        <p:spPr>
          <a:xfrm flipH="1">
            <a:off x="5486400" y="2194560"/>
            <a:ext cx="1188720" cy="484632"/>
          </a:xfrm>
          <a:prstGeom prst="line">
            <a:avLst/>
          </a:prstGeom>
          <a:noFill/>
          <a:ln w="22225">
            <a:solidFill>
              <a:srgbClr val="E07A5F"/>
            </a:solidFill>
            <a:prstDash val="dash"/>
            <a:tailEnd type="triangle"/>
          </a:ln>
        </p:spPr>
      </p:sp>
      <p:sp>
        <p:nvSpPr>
          <p:cNvPr id="51" name="Shape 40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52" name="Shape 41"/>
          <p:cNvSpPr/>
          <p:nvPr/>
        </p:nvSpPr>
        <p:spPr>
          <a:xfrm>
            <a:off x="594360" y="414223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8967" y="4246839"/>
            <a:ext cx="193121" cy="193121"/>
          </a:xfrm>
          <a:prstGeom prst="rect">
            <a:avLst/>
          </a:prstGeom>
        </p:spPr>
      </p:pic>
      <p:sp>
        <p:nvSpPr>
          <p:cNvPr id="54" name="Text 42"/>
          <p:cNvSpPr txBox="1"/>
          <p:nvPr/>
        </p:nvSpPr>
        <p:spPr>
          <a:xfrm>
            <a:off x="1143000" y="40690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relevant chunks go into the context — not the whole library.</a:t>
            </a:r>
            <a:endParaRPr lang="en-US" sz="1400" dirty="0"/>
          </a:p>
        </p:txBody>
      </p:sp>
      <p:sp>
        <p:nvSpPr>
          <p:cNvPr id="55" name="Text 43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 and embeddings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77640" cy="2834640"/>
          </a:xfrm>
          <a:prstGeom prst="roundRect">
            <a:avLst>
              <a:gd name="adj" fmla="val 322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18872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30759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188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783080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on structure (headings, paragraphs)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 a few hundred tokens is a common start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so answers aren't cut in half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metadata: source, section, date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with real questions (Lab 2)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709160" y="1051560"/>
            <a:ext cx="3977640" cy="2834640"/>
          </a:xfrm>
          <a:prstGeom prst="roundRect">
            <a:avLst>
              <a:gd name="adj" fmla="val 3226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92040" y="118872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30759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0" y="1188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1783080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has no embedding model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feature Voyage AI: voyage-4 family, 1024 dims, 32K context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input_type: "document" vs "query"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Unit-length vectors: dot product = cosine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offline: TF-IDF as a stand-in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>
            <a:solidFill>
              <a:srgbClr val="E07A5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94360" y="414223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67" y="4246839"/>
            <a:ext cx="193121" cy="19312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43000" y="40690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demo: </a:t>
            </a:r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11_voyage_embeddings.py (needs VOYAGE_API_KEY)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10_local_rag.py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863840" y="4297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429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63640" y="429768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63640" y="42976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14–25, 66–69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8229600" cy="2148840"/>
          </a:xfrm>
          <a:prstGeom prst="roundRect">
            <a:avLst>
              <a:gd name="adj" fmla="val 3404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" y="2246697"/>
            <a:ext cx="8101584" cy="625856"/>
          </a:xfrm>
          <a:prstGeom prst="roundRect">
            <a:avLst>
              <a:gd name="adj" fmla="val 5844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024128"/>
            <a:ext cx="8229600" cy="214884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232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chunk_markdown(text, source, max_words=60, overlap=15):</a:t>
            </a:r>
            <a:endParaRPr lang="en-US" sz="1100" dirty="0"/>
          </a:p>
          <a:p>
            <a:pPr indent="0" marL="0">
              <a:lnSpc>
                <a:spcPts val="1232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"""Split by '## ' headings, then into overlapping word windows.</a:t>
            </a:r>
            <a:endParaRPr lang="en-US" sz="1100" dirty="0"/>
          </a:p>
          <a:p>
            <a:pPr indent="0" marL="0">
              <a:lnSpc>
                <a:spcPts val="1232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Each chunk keeps its source and heading as metadata."""</a:t>
            </a:r>
            <a:endParaRPr lang="en-US" sz="1100" dirty="0"/>
          </a:p>
          <a:p>
            <a:pPr indent="0" marL="0">
              <a:lnSpc>
                <a:spcPts val="1232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chunks = []</a:t>
            </a:r>
            <a:endParaRPr lang="en-US" sz="1100" dirty="0"/>
          </a:p>
          <a:p>
            <a:pPr indent="0" marL="0">
              <a:lnSpc>
                <a:spcPts val="1232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section in re.split(r"\n(?=## )", text):</a:t>
            </a:r>
            <a:endParaRPr lang="en-US" sz="1100" dirty="0"/>
          </a:p>
          <a:p>
            <a:pPr indent="0" marL="0">
              <a:lnSpc>
                <a:spcPts val="1232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heading = section.splitlines()[0].lstrip("# ").strip()</a:t>
            </a:r>
            <a:endParaRPr lang="en-US" sz="1100" dirty="0"/>
          </a:p>
          <a:p>
            <a:pPr indent="0" marL="0">
              <a:lnSpc>
                <a:spcPts val="1232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words = section.split()</a:t>
            </a:r>
            <a:endParaRPr lang="en-US" sz="1100" dirty="0"/>
          </a:p>
          <a:p>
            <a:pPr indent="0" marL="0">
              <a:lnSpc>
                <a:spcPts val="1232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step = max_words - overlap</a:t>
            </a:r>
            <a:endParaRPr lang="en-US" sz="1100" dirty="0"/>
          </a:p>
          <a:p>
            <a:pPr indent="0" marL="0">
              <a:lnSpc>
                <a:spcPts val="1232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start in range(0, max(1, len(words) - overlap), step):</a:t>
            </a:r>
            <a:endParaRPr lang="en-US" sz="1100" dirty="0"/>
          </a:p>
          <a:p>
            <a:pPr indent="0" marL="0">
              <a:lnSpc>
                <a:spcPts val="1232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chunks.append({"id": len(chunks), "source": source, "heading": heading,</a:t>
            </a:r>
            <a:endParaRPr lang="en-US" sz="1100" dirty="0"/>
          </a:p>
          <a:p>
            <a:pPr indent="0" marL="0">
              <a:lnSpc>
                <a:spcPts val="1232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"text": " ".join(words[start:start + max_words])})</a:t>
            </a:r>
            <a:endParaRPr lang="en-US" sz="1100" dirty="0"/>
          </a:p>
          <a:p>
            <a:pPr indent="0" marL="0">
              <a:lnSpc>
                <a:spcPts val="1232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chunks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" y="3568129"/>
            <a:ext cx="8101584" cy="149352"/>
          </a:xfrm>
          <a:prstGeom prst="roundRect">
            <a:avLst>
              <a:gd name="adj" fmla="val 24490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291840"/>
            <a:ext cx="8229600" cy="86868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176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top_k(self, query, k=3):</a:t>
            </a:r>
            <a:endParaRPr lang="en-US" sz="1050" dirty="0"/>
          </a:p>
          <a:p>
            <a:pPr indent="0" marL="0">
              <a:lnSpc>
                <a:spcPts val="1176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scores = self.matrix @ self.embed_query(query)      </a:t>
            </a:r>
            <a:pPr indent="0" marL="0">
              <a:lnSpc>
                <a:spcPts val="1176"/>
              </a:lnSpc>
              <a:buNone/>
            </a:pPr>
            <a:r>
              <a:rPr lang="en-US" sz="10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cosine similarity</a:t>
            </a:r>
            <a:endParaRPr lang="en-US" sz="1050" dirty="0"/>
          </a:p>
          <a:p>
            <a:pPr indent="0" marL="0">
              <a:lnSpc>
                <a:spcPts val="1176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best = np.argsort(scores)[::-1][:k]</a:t>
            </a:r>
            <a:endParaRPr lang="en-US" sz="1050" dirty="0"/>
          </a:p>
          <a:p>
            <a:pPr indent="0" marL="0">
              <a:lnSpc>
                <a:spcPts val="1176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[(float(scores[i]), self.chunks[i]) for i in best]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4279392"/>
            <a:ext cx="8229600" cy="438912"/>
          </a:xfrm>
          <a:prstGeom prst="roundRect">
            <a:avLst>
              <a:gd name="adj" fmla="val 2083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" y="4334256"/>
            <a:ext cx="329184" cy="32918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804" y="4419844"/>
            <a:ext cx="158008" cy="158008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051560" y="4279392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are unit length, so a matrix product gives cosine similarity for every chunk at once.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12_rag_prompt.py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863840" y="4297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429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3017520"/>
          </a:xfrm>
          <a:prstGeom prst="roundRect">
            <a:avLst>
              <a:gd name="adj" fmla="val 2424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1933769"/>
            <a:ext cx="8101584" cy="782320"/>
          </a:xfrm>
          <a:prstGeom prst="roundRect">
            <a:avLst>
              <a:gd name="adj" fmla="val 4675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3185481"/>
            <a:ext cx="8101584" cy="312928"/>
          </a:xfrm>
          <a:prstGeom prst="roundRect">
            <a:avLst>
              <a:gd name="adj" fmla="val 11688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24128"/>
            <a:ext cx="8229600" cy="301752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232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build_prompt(question, hits):</a:t>
            </a:r>
            <a:endParaRPr lang="en-US" sz="1100" dirty="0"/>
          </a:p>
          <a:p>
            <a:pPr indent="0" marL="0">
              <a:lnSpc>
                <a:spcPts val="1232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"""Documents first, question last; each chunk tagged with its source."""</a:t>
            </a:r>
            <a:endParaRPr lang="en-US" sz="1100" dirty="0"/>
          </a:p>
          <a:p>
            <a:pPr indent="0" marL="0">
              <a:lnSpc>
                <a:spcPts val="1232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docs = "\n".join(</a:t>
            </a:r>
            <a:endParaRPr lang="en-US" sz="1100" dirty="0"/>
          </a:p>
          <a:p>
            <a:pPr indent="0" marL="0">
              <a:lnSpc>
                <a:spcPts val="1232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f'&lt;document index="{i}" source="{c["source"]}" section="{c["heading"]}"&gt;\n'</a:t>
            </a:r>
            <a:endParaRPr lang="en-US" sz="1100" dirty="0"/>
          </a:p>
          <a:p>
            <a:pPr indent="0" marL="0">
              <a:lnSpc>
                <a:spcPts val="1232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f"{c['text']}\n&lt;/document&gt;" for i, (_, c) in enumerate(hits, 1))</a:t>
            </a:r>
            <a:endParaRPr lang="en-US" sz="1100" dirty="0"/>
          </a:p>
          <a:p>
            <a:pPr indent="0" marL="0">
              <a:lnSpc>
                <a:spcPts val="1232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(f"&lt;documents&gt;\n{docs}\n&lt;/documents&gt;\n\n"</a:t>
            </a:r>
            <a:endParaRPr lang="en-US" sz="1100" dirty="0"/>
          </a:p>
          <a:p>
            <a:pPr indent="0" marL="0">
              <a:lnSpc>
                <a:spcPts val="1232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"Answer using only the documents above and cite the section. "</a:t>
            </a:r>
            <a:endParaRPr lang="en-US" sz="1100" dirty="0"/>
          </a:p>
          <a:p>
            <a:pPr indent="0" marL="0">
              <a:lnSpc>
                <a:spcPts val="1232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"If the answer is not in them, say you don't know.\n\n"</a:t>
            </a:r>
            <a:endParaRPr lang="en-US" sz="1100" dirty="0"/>
          </a:p>
          <a:p>
            <a:pPr indent="0" marL="0">
              <a:lnSpc>
                <a:spcPts val="1232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f"&lt;question&gt;{question}&lt;/question&gt;")</a:t>
            </a:r>
            <a:endParaRPr lang="en-US" sz="1100" dirty="0"/>
          </a:p>
          <a:p>
            <a:pPr indent="0" marL="0">
              <a:lnSpc>
                <a:spcPts val="1232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232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 = "How long does a refund take for a UPI payment?"</a:t>
            </a:r>
            <a:endParaRPr lang="en-US" sz="1100" dirty="0"/>
          </a:p>
          <a:p>
            <a:pPr indent="0" marL="0">
              <a:lnSpc>
                <a:spcPts val="1232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handbook = Path("data/acme_handbook.md").read_text()</a:t>
            </a:r>
            <a:endParaRPr lang="en-US" sz="1100" dirty="0"/>
          </a:p>
          <a:p>
            <a:pPr indent="0" marL="0">
              <a:lnSpc>
                <a:spcPts val="1232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chunks = rag.chunk_markdown(handbook, source="acme_handbook.md")</a:t>
            </a:r>
            <a:endParaRPr lang="en-US" sz="1100" dirty="0"/>
          </a:p>
          <a:p>
            <a:pPr indent="0" marL="0">
              <a:lnSpc>
                <a:spcPts val="1232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hits = rag.Retriever(chunks).top_k(question, k=3)</a:t>
            </a:r>
            <a:endParaRPr lang="en-US" sz="1100" dirty="0"/>
          </a:p>
          <a:p>
            <a:pPr indent="0" marL="0">
              <a:lnSpc>
                <a:spcPts val="1232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= build_prompt(question, hits)</a:t>
            </a:r>
            <a:endParaRPr lang="en-US" sz="1100" dirty="0"/>
          </a:p>
          <a:p>
            <a:pPr indent="0" marL="0">
              <a:lnSpc>
                <a:spcPts val="1232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print(f"~{len(prompt) // 4} tokens in the prompt; "</a:t>
            </a:r>
            <a:endParaRPr lang="en-US" sz="1100" dirty="0"/>
          </a:p>
          <a:p>
            <a:pPr indent="0" marL="0">
              <a:lnSpc>
                <a:spcPts val="1232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f"whole handbook ~{len(handbook) // 4}\n")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12280" y="42976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12280" y="42976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8–24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4187952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85216" y="4274820"/>
            <a:ext cx="329184" cy="32918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804" y="4360408"/>
            <a:ext cx="158008" cy="15800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51560" y="418795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~360 tokens instead of ~1,078: relevant chunks only, </a:t>
            </a:r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first, question last</a:t>
            </a:r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context, RAG or just-in-time?</a:t>
            </a:r>
            <a:endParaRPr lang="en-US" sz="30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  <a:gridCol w="25603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when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out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 it all in context (+ caching)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Small, stable corpus that fits easily; many questions on the same docs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rot; cost per call (cache it)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RAG: chunk, embed, top-k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or changing corpus; answers sit in a few passages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 chunks = missed answers; needs evals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Just-in-time / agentic search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can explore with tools: file paths, grep, stored queries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turns and latency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context up front, explore the rest on demand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Decide what is "key"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005072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" y="4101084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967" y="4205691"/>
            <a:ext cx="193121" cy="19312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4005072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decides WHAT goes in; the window decides HOW MUCH can.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isolation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Subagents: a clean context per task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417320" y="1024128"/>
            <a:ext cx="3566160" cy="777240"/>
          </a:xfrm>
          <a:prstGeom prst="roundRect">
            <a:avLst>
              <a:gd name="adj" fmla="val 11765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54480" y="1143000"/>
            <a:ext cx="512064" cy="51206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7617" y="1276137"/>
            <a:ext cx="245791" cy="2457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194560" y="102412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agent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+ short reports only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514600"/>
            <a:ext cx="1691640" cy="2103120"/>
          </a:xfrm>
          <a:prstGeom prst="roundRect">
            <a:avLst>
              <a:gd name="adj" fmla="val 540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5603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</a:t>
            </a:r>
            <a:endParaRPr lang="en-US" sz="13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127248"/>
            <a:ext cx="1325880" cy="128016"/>
          </a:xfrm>
          <a:prstGeom prst="roundRect">
            <a:avLst>
              <a:gd name="adj" fmla="val 21429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3310128"/>
            <a:ext cx="1325880" cy="128016"/>
          </a:xfrm>
          <a:prstGeom prst="roundRect">
            <a:avLst>
              <a:gd name="adj" fmla="val 21429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3493008"/>
            <a:ext cx="1325880" cy="128016"/>
          </a:xfrm>
          <a:prstGeom prst="roundRect">
            <a:avLst>
              <a:gd name="adj" fmla="val 21429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3675888"/>
            <a:ext cx="1325880" cy="128016"/>
          </a:xfrm>
          <a:prstGeom prst="roundRect">
            <a:avLst>
              <a:gd name="adj" fmla="val 21429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" y="3858768"/>
            <a:ext cx="1325880" cy="128016"/>
          </a:xfrm>
          <a:prstGeom prst="roundRect">
            <a:avLst>
              <a:gd name="adj" fmla="val 21429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080" y="4041648"/>
            <a:ext cx="1325880" cy="128016"/>
          </a:xfrm>
          <a:prstGeom prst="roundRect">
            <a:avLst>
              <a:gd name="adj" fmla="val 21429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02920" y="4251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context: raw pages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 flipV="1">
            <a:off x="1307592" y="1828800"/>
            <a:ext cx="1069848" cy="658368"/>
          </a:xfrm>
          <a:prstGeom prst="line">
            <a:avLst/>
          </a:prstGeom>
          <a:noFill/>
          <a:ln w="22225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2331720" y="2514600"/>
            <a:ext cx="1691640" cy="2103120"/>
          </a:xfrm>
          <a:prstGeom prst="roundRect">
            <a:avLst>
              <a:gd name="adj" fmla="val 540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423160" y="25603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</a:t>
            </a:r>
            <a:endParaRPr lang="en-US" sz="13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2514600" y="3127248"/>
            <a:ext cx="1325880" cy="128016"/>
          </a:xfrm>
          <a:prstGeom prst="roundRect">
            <a:avLst>
              <a:gd name="adj" fmla="val 21429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514600" y="3310128"/>
            <a:ext cx="1325880" cy="128016"/>
          </a:xfrm>
          <a:prstGeom prst="roundRect">
            <a:avLst>
              <a:gd name="adj" fmla="val 21429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514600" y="3493008"/>
            <a:ext cx="1325880" cy="128016"/>
          </a:xfrm>
          <a:prstGeom prst="roundRect">
            <a:avLst>
              <a:gd name="adj" fmla="val 21429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514600" y="3675888"/>
            <a:ext cx="1325880" cy="128016"/>
          </a:xfrm>
          <a:prstGeom prst="roundRect">
            <a:avLst>
              <a:gd name="adj" fmla="val 21429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14600" y="3858768"/>
            <a:ext cx="1325880" cy="128016"/>
          </a:xfrm>
          <a:prstGeom prst="roundRect">
            <a:avLst>
              <a:gd name="adj" fmla="val 21429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514600" y="4041648"/>
            <a:ext cx="1325880" cy="128016"/>
          </a:xfrm>
          <a:prstGeom prst="roundRect">
            <a:avLst>
              <a:gd name="adj" fmla="val 21429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377440" y="4251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context: raw pages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 flipV="1">
            <a:off x="3182112" y="1828800"/>
            <a:ext cx="18288" cy="658368"/>
          </a:xfrm>
          <a:prstGeom prst="line">
            <a:avLst/>
          </a:prstGeom>
          <a:noFill/>
          <a:ln w="22225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4206240" y="2514600"/>
            <a:ext cx="1691640" cy="2103120"/>
          </a:xfrm>
          <a:prstGeom prst="roundRect">
            <a:avLst>
              <a:gd name="adj" fmla="val 540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297680" y="25603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</a:t>
            </a:r>
            <a:endParaRPr lang="en-US" sz="13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log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4389120" y="3127248"/>
            <a:ext cx="1325880" cy="128016"/>
          </a:xfrm>
          <a:prstGeom prst="roundRect">
            <a:avLst>
              <a:gd name="adj" fmla="val 21429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389120" y="3310128"/>
            <a:ext cx="1325880" cy="128016"/>
          </a:xfrm>
          <a:prstGeom prst="roundRect">
            <a:avLst>
              <a:gd name="adj" fmla="val 21429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89120" y="3493008"/>
            <a:ext cx="1325880" cy="128016"/>
          </a:xfrm>
          <a:prstGeom prst="roundRect">
            <a:avLst>
              <a:gd name="adj" fmla="val 21429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389120" y="3675888"/>
            <a:ext cx="1325880" cy="128016"/>
          </a:xfrm>
          <a:prstGeom prst="roundRect">
            <a:avLst>
              <a:gd name="adj" fmla="val 21429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389120" y="3858768"/>
            <a:ext cx="1325880" cy="128016"/>
          </a:xfrm>
          <a:prstGeom prst="roundRect">
            <a:avLst>
              <a:gd name="adj" fmla="val 21429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389120" y="4041648"/>
            <a:ext cx="1325880" cy="128016"/>
          </a:xfrm>
          <a:prstGeom prst="roundRect">
            <a:avLst>
              <a:gd name="adj" fmla="val 21429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251960" y="4251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context: raw pages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 flipH="1" flipV="1">
            <a:off x="4023360" y="1828800"/>
            <a:ext cx="1033272" cy="658368"/>
          </a:xfrm>
          <a:prstGeom prst="line">
            <a:avLst/>
          </a:prstGeom>
          <a:noFill/>
          <a:ln w="22225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37" name="Text 34"/>
          <p:cNvSpPr txBox="1"/>
          <p:nvPr/>
        </p:nvSpPr>
        <p:spPr>
          <a:xfrm>
            <a:off x="5074920" y="18745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~1–2K-token summary each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6172200" y="1024128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E6F4EC"/>
          </a:solidFill>
          <a:ln w="6350">
            <a:solidFill>
              <a:srgbClr val="E6F4EC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309360" y="10789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6309360" y="1371600"/>
            <a:ext cx="22860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context stays small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Subtasks run in parallel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prompt per subagent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tools per subagent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6172200" y="297180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FBE9E7"/>
          </a:solidFill>
          <a:ln w="6350">
            <a:solidFill>
              <a:srgbClr val="FBE9E7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309360" y="302666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</a:t>
            </a:r>
            <a:endParaRPr lang="en-US" sz="1300" dirty="0"/>
          </a:p>
        </p:txBody>
      </p:sp>
      <p:sp>
        <p:nvSpPr>
          <p:cNvPr id="43" name="Text 40"/>
          <p:cNvSpPr txBox="1"/>
          <p:nvPr/>
        </p:nvSpPr>
        <p:spPr>
          <a:xfrm>
            <a:off x="6309360" y="3319272"/>
            <a:ext cx="22860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tokens in total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and coordination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lost in the summary: pass exact IDs and paths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13_subagent_isolation.py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863840" y="210312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2103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8229600" cy="3520440"/>
          </a:xfrm>
          <a:prstGeom prst="roundRect">
            <a:avLst>
              <a:gd name="adj" fmla="val 2078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1509459"/>
            <a:ext cx="8101584" cy="419100"/>
          </a:xfrm>
          <a:prstGeom prst="roundRect">
            <a:avLst>
              <a:gd name="adj" fmla="val 8727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3325559"/>
            <a:ext cx="8101584" cy="698500"/>
          </a:xfrm>
          <a:prstGeom prst="roundRect">
            <a:avLst>
              <a:gd name="adj" fmla="val 5236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685800"/>
            <a:ext cx="8229600" cy="352044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run_subagent(task, material):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"""Fresh message list: no parent history, only what this task needs."""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client.messages.create(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model=MODEL, max_tokens=1500,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system="You are a research subagent. Return only findings relevant to "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"the task, max 250 words, with source names. No raw excerpts.",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messages=[{"role": "user", "content":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f"&lt;task&gt;{task}&lt;/task&gt;\n&lt;material&gt;\n{material}\n&lt;/material&gt;"}])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text(r)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lead_agent(question, sources):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ThreadPoolExecutor(max_workers=4) as pool:       </a:t>
            </a:r>
            <a:pPr indent="0" marL="0">
              <a:lnSpc>
                <a:spcPts val="1100"/>
              </a:lnSpc>
              <a:buNone/>
            </a:pPr>
            <a:r>
              <a:rPr lang="en-US" sz="10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subagents in parallel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reports = list(pool.map(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lambda kv: run_subagent(f"{question} Focus on: {kv[0]}", kv[1]),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sources.items()))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joined = "\n\n".join(f'&lt;report from="{n}"&gt;\n{r}\n&lt;/report&gt;'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for n, r in zip(sources, reports))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client.messages.create(                           </a:t>
            </a:r>
            <a:pPr indent="0" marL="0">
              <a:lnSpc>
                <a:spcPts val="1100"/>
              </a:lnSpc>
              <a:buNone/>
            </a:pPr>
            <a:r>
              <a:rPr lang="en-US" sz="10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small, clean context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model=MODEL, max_tokens=2048,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messages=[{"role": "user", "content":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f"{joined}\n\nUsing these reports, answer: {question}"}])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text(r)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743700" y="210312"/>
            <a:ext cx="1028700" cy="329184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43700" y="210312"/>
            <a:ext cx="10287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12–34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4297680"/>
            <a:ext cx="8229600" cy="438912"/>
          </a:xfrm>
          <a:prstGeom prst="roundRect">
            <a:avLst>
              <a:gd name="adj" fmla="val 2083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85216" y="4352544"/>
            <a:ext cx="329184" cy="32918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804" y="4438132"/>
            <a:ext cx="158008" cy="15800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51560" y="429768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 never reaches the lead agent. Demo estimate: ~153,750 → ~1,200 tokens.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Wrap-up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traps</a:t>
            </a:r>
            <a:endParaRPr lang="en-US" sz="34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4434840"/>
                <a:gridCol w="379476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Wrong instinct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292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Better answer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292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"The window is 1M tokens — send the whole history"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curate: context rot; compact, clear, retrieve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"Agent hits the limit after many tool calls — bigger model"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old tool results / compaction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"Tool returns 5,000 lines of JSON — let Claude sift it"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prune in the tool: needed fields, capped lists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"Clear tool results every turn to save tokens"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clearing breaks the cache: trigger + clear_at_least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"Generate embeddings with Claude"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Anthropic embedding model; use e.g. Voyage AI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"Research agent fills up with raw pages"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subagents that return condensed summaries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"Preferences must survive sessions — keep one long chat"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long-term memory: memory tool / DB, load on demand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152144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2" y="1152144"/>
            <a:ext cx="219456" cy="219456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39903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4708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the request counts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560320" y="109728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0" y="128016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072" y="139903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74904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2743200" y="184708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window ≠ better answers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663440" y="109728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846320" y="128016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192" y="139903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85216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846320" y="184708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 tool output at the source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6766560" y="109728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949440" y="128016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312" y="1399032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95528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6949440" y="184708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old results first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457200" y="283464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3136392"/>
            <a:ext cx="219456" cy="21945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645920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640080" y="358444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long conversations</a:t>
            </a:r>
            <a:endParaRPr lang="en-US" sz="1500" dirty="0"/>
          </a:p>
        </p:txBody>
      </p:sp>
      <p:sp>
        <p:nvSpPr>
          <p:cNvPr id="28" name="Shape 21"/>
          <p:cNvSpPr/>
          <p:nvPr/>
        </p:nvSpPr>
        <p:spPr>
          <a:xfrm>
            <a:off x="2560320" y="283464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2743200" y="301752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2072" y="3136392"/>
            <a:ext cx="219456" cy="21945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3749040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2743200" y="358444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load just in time</a:t>
            </a:r>
            <a:endParaRPr lang="en-US" sz="1500" dirty="0"/>
          </a:p>
        </p:txBody>
      </p:sp>
      <p:sp>
        <p:nvSpPr>
          <p:cNvPr id="33" name="Shape 25"/>
          <p:cNvSpPr/>
          <p:nvPr/>
        </p:nvSpPr>
        <p:spPr>
          <a:xfrm>
            <a:off x="4663440" y="283464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4846320" y="301752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5192" y="3136392"/>
            <a:ext cx="219456" cy="219456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5852160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700" dirty="0"/>
          </a:p>
        </p:txBody>
      </p:sp>
      <p:sp>
        <p:nvSpPr>
          <p:cNvPr id="37" name="Text 28"/>
          <p:cNvSpPr txBox="1"/>
          <p:nvPr/>
        </p:nvSpPr>
        <p:spPr>
          <a:xfrm>
            <a:off x="4846320" y="358444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only relevant chunks</a:t>
            </a:r>
            <a:endParaRPr lang="en-US" sz="1500" dirty="0"/>
          </a:p>
        </p:txBody>
      </p:sp>
      <p:sp>
        <p:nvSpPr>
          <p:cNvPr id="38" name="Shape 29"/>
          <p:cNvSpPr/>
          <p:nvPr/>
        </p:nvSpPr>
        <p:spPr>
          <a:xfrm>
            <a:off x="6766560" y="283464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6949440" y="301752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8312" y="3136392"/>
            <a:ext cx="219456" cy="219456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7955280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700" dirty="0"/>
          </a:p>
        </p:txBody>
      </p:sp>
      <p:sp>
        <p:nvSpPr>
          <p:cNvPr id="42" name="Text 32"/>
          <p:cNvSpPr txBox="1"/>
          <p:nvPr/>
        </p:nvSpPr>
        <p:spPr>
          <a:xfrm>
            <a:off x="6949440" y="358444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work in subagents</a:t>
            </a:r>
            <a:endParaRPr lang="en-US" sz="1500" dirty="0"/>
          </a:p>
        </p:txBody>
      </p:sp>
      <p:sp>
        <p:nvSpPr>
          <p:cNvPr id="43" name="Text 33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120640" cy="3566160"/>
          </a:xfrm>
          <a:prstGeom prst="roundRect">
            <a:avLst>
              <a:gd name="adj" fmla="val 256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234440"/>
            <a:ext cx="512064" cy="51206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188720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50-turn chat that degrades — then fix it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984248"/>
            <a:ext cx="292608" cy="292608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984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93852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it: compare keep-all, truncate, managed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" y="2441448"/>
            <a:ext cx="292608" cy="292608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441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39572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table: peak, total sent, facts recalled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31520" y="2898648"/>
            <a:ext cx="292608" cy="292608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2898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285292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prune tool output + clear old results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31520" y="3355848"/>
            <a:ext cx="292608" cy="292608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355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31012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window memory with a running summary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31520" y="3813048"/>
            <a:ext cx="292608" cy="292608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3813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376732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Stretch: --live, ask Claude the recall question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85800" y="4206240"/>
            <a:ext cx="2240280" cy="310896"/>
          </a:xfrm>
          <a:prstGeom prst="roundRect">
            <a:avLst>
              <a:gd name="adj" fmla="val 17647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20624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lab1_degrading_chat.py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063240" y="42062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 in class + 25m home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06440" y="1051560"/>
            <a:ext cx="2880360" cy="3566160"/>
          </a:xfrm>
          <a:prstGeom prst="roundRect">
            <a:avLst>
              <a:gd name="adj" fmla="val 317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07608" y="1234440"/>
            <a:ext cx="512064" cy="51206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007608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629400" y="1188720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chunk-size evaluation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035040" y="1938528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answer@1, answer@3 and prompt tokens for 5 chunk settings; pick one and justify it.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035040" y="3749040"/>
            <a:ext cx="2423160" cy="310896"/>
          </a:xfrm>
          <a:prstGeom prst="roundRect">
            <a:avLst>
              <a:gd name="adj" fmla="val 17647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035040" y="374904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lab2_rag_eval.py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035040" y="420624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25m homework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078992"/>
            <a:ext cx="365760" cy="36576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078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024128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these count toward the context window?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27101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user messages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+ messages + tool definitions + output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uncached tokens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last turn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691640"/>
            <a:ext cx="365760" cy="36576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636776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agent's context is mostly old search results. Lightest fix?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88366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bigger model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max_tokens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result clearing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system prompt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212848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304288"/>
            <a:ext cx="365760" cy="36576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2304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2249424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compaction ran. What do you send on the next turn?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49631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response, appended as usual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summary text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original history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(server keeps it)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2825496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2916936"/>
            <a:ext cx="365760" cy="36576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2916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2862072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embedding model does Anthropic provide?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10896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claude-embed-1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5.5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4.5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none; use a provider such as Voyage AI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3438144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3529584"/>
            <a:ext cx="365760" cy="36576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474720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editing clears results every turn and costs went UP. Why?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372160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clearing is billed per call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clear invalidates the cached prefix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got longer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changed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4050792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" y="4142232"/>
            <a:ext cx="365760" cy="36576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6928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051560" y="4087368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 agent must use 40 long reports without bloating its context. Best?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433425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all 40 in one prompt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effort to max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 that return short summaries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each to 100 words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94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8: Agent architecture and patterns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7863840" cy="2011680"/>
          </a:xfrm>
          <a:prstGeom prst="roundRect">
            <a:avLst>
              <a:gd name="adj" fmla="val 4545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578608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697480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25786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Lab 1, do Lab 2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3154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143000" y="3611880"/>
            <a:ext cx="1353312" cy="402336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43000" y="3611880"/>
            <a:ext cx="1353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587752" y="3611880"/>
            <a:ext cx="987552" cy="402336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587752" y="3611880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666744" y="3611880"/>
            <a:ext cx="1353312" cy="402336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66744" y="3611880"/>
            <a:ext cx="1353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editing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111496" y="3611880"/>
            <a:ext cx="1060704" cy="402336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111496" y="3611880"/>
            <a:ext cx="1060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tool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63640" y="3611880"/>
            <a:ext cx="987552" cy="402336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63640" y="3611880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342632" y="3611880"/>
            <a:ext cx="914400" cy="402336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42632" y="361188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blog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 Engineering</dc:title>
  <dc:subject>PptxGenJS Presentation</dc:subject>
  <dc:creator>Claude Certified Developer – Foundations</dc:creator>
  <cp:lastModifiedBy>Claude Certified Developer – Foundations</cp:lastModifiedBy>
  <cp:revision>1</cp:revision>
  <dcterms:created xsi:type="dcterms:W3CDTF">2026-10-08T19:52:14Z</dcterms:created>
  <dcterms:modified xsi:type="dcterms:W3CDTF">2026-10-08T19:52:14Z</dcterms:modified>
</cp:coreProperties>
</file>